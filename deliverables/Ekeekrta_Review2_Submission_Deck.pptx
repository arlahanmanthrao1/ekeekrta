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6d082d31d34d22" /><Relationship Type="http://schemas.openxmlformats.org/officeDocument/2006/relationships/extended-properties" Target="/docProps/app.xml" Id="Ra8c0cbc2ccc541a2" /><Relationship Type="http://schemas.openxmlformats.org/officeDocument/2006/relationships/officeDocument" Target="/ppt/presentation.xml" Id="R5e69b96a000242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dda5e5db6c4c81"/>
  </p:sldMasterIdLst>
  <p:notesMasterIdLst>
    <p:notesMasterId xmlns:r="http://schemas.openxmlformats.org/officeDocument/2006/relationships" r:id="R2e87fa47ca4c4447"/>
  </p:notesMasterIdLst>
  <p:sldIdLst>
    <p:sldId xmlns:r="http://schemas.openxmlformats.org/officeDocument/2006/relationships" id="256" r:id="Rea97a69045774324"/>
    <p:sldId xmlns:r="http://schemas.openxmlformats.org/officeDocument/2006/relationships" id="257" r:id="R359fd0fa63394e1d"/>
    <p:sldId xmlns:r="http://schemas.openxmlformats.org/officeDocument/2006/relationships" id="258" r:id="Rccc1847f78ac49f6"/>
    <p:sldId xmlns:r="http://schemas.openxmlformats.org/officeDocument/2006/relationships" id="259" r:id="Rb9331aea27a04378"/>
    <p:sldId xmlns:r="http://schemas.openxmlformats.org/officeDocument/2006/relationships" id="260" r:id="Rd970c88972584481"/>
    <p:sldId xmlns:r="http://schemas.openxmlformats.org/officeDocument/2006/relationships" id="261" r:id="R0d2675513c49443e"/>
    <p:sldId xmlns:r="http://schemas.openxmlformats.org/officeDocument/2006/relationships" id="262" r:id="Ra5826428392e4e39"/>
    <p:sldId xmlns:r="http://schemas.openxmlformats.org/officeDocument/2006/relationships" id="263" r:id="R6a9b3f98207e43db"/>
    <p:sldId xmlns:r="http://schemas.openxmlformats.org/officeDocument/2006/relationships" id="264" r:id="R2c94e1c3a1464b8d"/>
    <p:sldId xmlns:r="http://schemas.openxmlformats.org/officeDocument/2006/relationships" id="265" r:id="Re95cead6f1db45a7"/>
    <p:sldId xmlns:r="http://schemas.openxmlformats.org/officeDocument/2006/relationships" id="266" r:id="Rc62fc69390a9438e"/>
    <p:sldId xmlns:r="http://schemas.openxmlformats.org/officeDocument/2006/relationships" id="267" r:id="R2223db73094e4032"/>
    <p:sldId xmlns:r="http://schemas.openxmlformats.org/officeDocument/2006/relationships" id="268" r:id="Rd77d0d465ed744a1"/>
    <p:sldId xmlns:r="http://schemas.openxmlformats.org/officeDocument/2006/relationships" id="269" r:id="R32c9c1aaa0754154"/>
  </p:sldIdLst>
  <p:sldSz cx="9144000" cy="6858000"/>
  <p:notesSz cx="6858000" cy="9144000"/>
  <p:defaultTextStyle>
    <a:defPPr xmlns:a="http://schemas.openxmlformats.org/drawingml/2006/main">
      <a:buNone/>
    </a:defPPr>
    <a:lvl1pPr xmlns:a="http://schemas.openxmlformats.org/drawingml/2006/main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/>
        <a:ea typeface="Arial"/>
        <a:cs typeface="Arial"/>
      </a:defRPr>
    </a:lvl1pPr>
    <a:lvl2pPr xmlns:a="http://schemas.openxmlformats.org/drawingml/2006/main" marL="457200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/>
        <a:ea typeface="Arial"/>
        <a:cs typeface="Arial"/>
      </a:defRPr>
    </a:lvl2pPr>
    <a:lvl3pPr xmlns:a="http://schemas.openxmlformats.org/drawingml/2006/main" marL="914400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/>
        <a:ea typeface="Arial"/>
        <a:cs typeface="Arial"/>
      </a:defRPr>
    </a:lvl3pPr>
    <a:lvl4pPr xmlns:a="http://schemas.openxmlformats.org/drawingml/2006/main" marL="1371600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/>
        <a:ea typeface="Arial"/>
        <a:cs typeface="Arial"/>
      </a:defRPr>
    </a:lvl4pPr>
    <a:lvl5pPr xmlns:a="http://schemas.openxmlformats.org/drawingml/2006/main" marL="1828800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/>
        <a:ea typeface="Arial"/>
        <a:cs typeface="Arial"/>
      </a:defRPr>
    </a:lvl5pPr>
    <a:lvl6pPr xmlns:a="http://schemas.openxmlformats.org/drawingml/2006/main" marL="2286000" algn="l" defTabSz="914400">
      <a:buNone/>
      <a:defRPr kern="1200">
        <a:solidFill>
          <a:schemeClr val="tx1"/>
        </a:solidFill>
        <a:latin typeface="Arial"/>
        <a:ea typeface="Arial"/>
        <a:cs typeface="Arial"/>
      </a:defRPr>
    </a:lvl6pPr>
    <a:lvl7pPr xmlns:a="http://schemas.openxmlformats.org/drawingml/2006/main" marL="2743200" algn="l" defTabSz="914400">
      <a:buNone/>
      <a:defRPr kern="1200">
        <a:solidFill>
          <a:schemeClr val="tx1"/>
        </a:solidFill>
        <a:latin typeface="Arial"/>
        <a:ea typeface="Arial"/>
        <a:cs typeface="Arial"/>
      </a:defRPr>
    </a:lvl7pPr>
    <a:lvl8pPr xmlns:a="http://schemas.openxmlformats.org/drawingml/2006/main" marL="3200400" algn="l" defTabSz="914400">
      <a:buNone/>
      <a:defRPr kern="1200">
        <a:solidFill>
          <a:schemeClr val="tx1"/>
        </a:solidFill>
        <a:latin typeface="Arial"/>
        <a:ea typeface="Arial"/>
        <a:cs typeface="Arial"/>
      </a:defRPr>
    </a:lvl8pPr>
    <a:lvl9pPr xmlns:a="http://schemas.openxmlformats.org/drawingml/2006/main" marL="3657600" algn="l" defTabSz="914400">
      <a:buNone/>
      <a:defRPr kern="120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86710337874cb0" /><Relationship Type="http://schemas.openxmlformats.org/officeDocument/2006/relationships/slideMaster" Target="/ppt/slideMasters/slideMaster1.xml" Id="R63dda5e5db6c4c81" /><Relationship Type="http://schemas.openxmlformats.org/officeDocument/2006/relationships/notesMaster" Target="/ppt/notesMasters/notesMaster1.xml" Id="R2e87fa47ca4c4447" /><Relationship Type="http://schemas.openxmlformats.org/officeDocument/2006/relationships/presProps" Target="/ppt/presProps.xml" Id="Rf358f6af84f64ee1" /><Relationship Type="http://schemas.openxmlformats.org/officeDocument/2006/relationships/viewProps" Target="/ppt/viewProps.xml" Id="R6597ca2c9a664556" /><Relationship Type="http://schemas.openxmlformats.org/officeDocument/2006/relationships/tableStyles" Target="/ppt/tableStyles.xml" Id="R34e25029e9be4f71" /><Relationship Type="http://schemas.openxmlformats.org/officeDocument/2006/relationships/slide" Target="/ppt/slides/slide1.xml" Id="Rea97a69045774324" /><Relationship Type="http://schemas.openxmlformats.org/officeDocument/2006/relationships/slide" Target="/ppt/slides/slide2.xml" Id="R359fd0fa63394e1d" /><Relationship Type="http://schemas.openxmlformats.org/officeDocument/2006/relationships/slide" Target="/ppt/slides/slide3.xml" Id="Rccc1847f78ac49f6" /><Relationship Type="http://schemas.openxmlformats.org/officeDocument/2006/relationships/slide" Target="/ppt/slides/slide4.xml" Id="Rb9331aea27a04378" /><Relationship Type="http://schemas.openxmlformats.org/officeDocument/2006/relationships/slide" Target="/ppt/slides/slide5.xml" Id="Rd970c88972584481" /><Relationship Type="http://schemas.openxmlformats.org/officeDocument/2006/relationships/slide" Target="/ppt/slides/slide6.xml" Id="R0d2675513c49443e" /><Relationship Type="http://schemas.openxmlformats.org/officeDocument/2006/relationships/slide" Target="/ppt/slides/slide7.xml" Id="Ra5826428392e4e39" /><Relationship Type="http://schemas.openxmlformats.org/officeDocument/2006/relationships/slide" Target="/ppt/slides/slide8.xml" Id="R6a9b3f98207e43db" /><Relationship Type="http://schemas.openxmlformats.org/officeDocument/2006/relationships/slide" Target="/ppt/slides/slide9.xml" Id="R2c94e1c3a1464b8d" /><Relationship Type="http://schemas.openxmlformats.org/officeDocument/2006/relationships/slide" Target="/ppt/slides/slide10.xml" Id="Re95cead6f1db45a7" /><Relationship Type="http://schemas.openxmlformats.org/officeDocument/2006/relationships/slide" Target="/ppt/slides/slide11.xml" Id="Rc62fc69390a9438e" /><Relationship Type="http://schemas.openxmlformats.org/officeDocument/2006/relationships/slide" Target="/ppt/slides/slide12.xml" Id="R2223db73094e4032" /><Relationship Type="http://schemas.openxmlformats.org/officeDocument/2006/relationships/slide" Target="/ppt/slides/slide13.xml" Id="Rd77d0d465ed744a1" /><Relationship Type="http://schemas.openxmlformats.org/officeDocument/2006/relationships/slide" Target="/ppt/slides/slide14.xml" Id="R32c9c1aaa07541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509675573748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2cca1c87124205" /><Relationship Type="http://schemas.openxmlformats.org/officeDocument/2006/relationships/notesMaster" Target="/ppt/notesMasters/notesMaster1.xml" Id="R73957e5ad09740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72ee205aa84a6f" /><Relationship Type="http://schemas.openxmlformats.org/officeDocument/2006/relationships/notesMaster" Target="/ppt/notesMasters/notesMaster1.xml" Id="Rd3341467f2cf4b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4d8e8922b446d3" /><Relationship Type="http://schemas.openxmlformats.org/officeDocument/2006/relationships/notesMaster" Target="/ppt/notesMasters/notesMaster1.xml" Id="Rdd1b3198a7694b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6d73e63bca4cf9" /><Relationship Type="http://schemas.openxmlformats.org/officeDocument/2006/relationships/notesMaster" Target="/ppt/notesMasters/notesMaster1.xml" Id="Rc80720b1523f46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0e7cefa5104e3e" /><Relationship Type="http://schemas.openxmlformats.org/officeDocument/2006/relationships/notesMaster" Target="/ppt/notesMasters/notesMaster1.xml" Id="R4df988088c474a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08c4620a504454" /><Relationship Type="http://schemas.openxmlformats.org/officeDocument/2006/relationships/notesMaster" Target="/ppt/notesMasters/notesMaster1.xml" Id="R570dc0e5a64f4f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6e464c4df4459c" /><Relationship Type="http://schemas.openxmlformats.org/officeDocument/2006/relationships/notesMaster" Target="/ppt/notesMasters/notesMaster1.xml" Id="R666930878a5f4b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1baa156461462d" /><Relationship Type="http://schemas.openxmlformats.org/officeDocument/2006/relationships/notesMaster" Target="/ppt/notesMasters/notesMaster1.xml" Id="Rfc2871a3ea974f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31bd8b56ef4f6c" /><Relationship Type="http://schemas.openxmlformats.org/officeDocument/2006/relationships/notesMaster" Target="/ppt/notesMasters/notesMaster1.xml" Id="Rb24e9951a2ff4b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28d8c9c0e240ff" /><Relationship Type="http://schemas.openxmlformats.org/officeDocument/2006/relationships/notesMaster" Target="/ppt/notesMasters/notesMaster1.xml" Id="R724ea5d25e4a4d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70788c23d241ef" /><Relationship Type="http://schemas.openxmlformats.org/officeDocument/2006/relationships/notesMaster" Target="/ppt/notesMasters/notesMaster1.xml" Id="R60a969ba1a9441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951111fdae443a" /><Relationship Type="http://schemas.openxmlformats.org/officeDocument/2006/relationships/notesMaster" Target="/ppt/notesMasters/notesMaster1.xml" Id="Rbd59868474dc4e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f4a6dda70f4e68" /><Relationship Type="http://schemas.openxmlformats.org/officeDocument/2006/relationships/notesMaster" Target="/ppt/notesMasters/notesMaster1.xml" Id="Rcb0de474a5ac40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786953edce4003" /><Relationship Type="http://schemas.openxmlformats.org/officeDocument/2006/relationships/notesMaster" Target="/ppt/notesMasters/notesMaster1.xml" Id="Rf4611121b71b4c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1 Review 2 presentation. Replace only the guide name and batch number placeholders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sequence follows all ten criteria in the Stage 1 Review 2 rubric (40 marks total).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scope is limited to university/college workflows. The project is evaluated as a multi-tenant higher-education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https://doi.org/10.1186/s41239-021-00307-5</a:t>
            </a:r>
          </a:p>
          <a:p xmlns:a="http://schemas.openxmlformats.org/drawingml/2006/main">
            <a:r>
              <a:t>The paper reports n=367 undergraduate students, Moodle log data, and structural equation models. Its limitations include convenience sampling and a single course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the project-context analysis: learning, conferencing and administrative records are commonly managed as separate workflows. No comparative market claim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proposed system is Ekeekrta, implemented as an institution-scoped university platform. The contribution is the integrated, auditable workflow rather than a claim that each individual function is novel by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references:</a:t>
            </a:r>
            <a:endParaRPr/>
          </a:p>
          <a:p xmlns:a="http://schemas.openxmlformats.org/drawingml/2006/main">
            <a:r>
              <a:t>React: https://react.dev/learn</a:t>
            </a:r>
            <a:endParaRPr/>
          </a:p>
          <a:p xmlns:a="http://schemas.openxmlformats.org/drawingml/2006/main">
            <a:r>
              <a:t>FastAPI JWT security: https://fastapi.tiangolo.com/tutorial/security/oauth2-jwt/</a:t>
            </a:r>
            <a:endParaRPr/>
          </a:p>
          <a:p xmlns:a="http://schemas.openxmlformats.org/drawingml/2006/main">
            <a:r>
              <a:t>Jitsi IFrame API: https://jitsi.github.io/handbook/docs/dev-guide/dev-guide-iframe/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diagram is an editable PowerPoint-native representation of the implemented Ekeekrta architecture. Media traffic is handled by the configured Jitsi provider; application records remain in PostgreSQL.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evidence is documented in PROJECT_DETAILS.txt. Current repository milestone: 155 backend tests and 92 subtests passed, plus the production frontend build. No real institution was deleted and no production 150-user class was load-tested.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Jitsi Docker self-hosting reference: https://jitsi.github.io/handbook/docs/devops-guide/devops-guide-docker/</a:t>
            </a:r>
          </a:p>
          <a:p xmlns:a="http://schemas.openxmlformats.org/drawingml/2006/main">
            <a:r>
              <a:t>Production capacity remains an evaluation task, not a current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repository documents include PROJECT_DETAILS.txt, docs/erp-integration.md, backend/JAAS_SETUP.md, environment examples, API documentation and the automated test suites.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Publication status is stated honestly: manuscript in preparation. A venue and submission date should only be added after the project collects approved evaluation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Open-access base paper: https://link.springer.com/article/10.1186/s41239-021-00307-5</a:t>
            </a:r>
          </a:p>
          <a:p xmlns:a="http://schemas.openxmlformats.org/drawingml/2006/main">
            <a:r>
              <a:t>DOI: https://doi.org/10.1186/s41239-021-00307-5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of Stage 1 Review 2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781de003449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9d87e013445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da4b7d1c3347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33fbb0e6cf47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b1187189745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b23190fa24a0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27872f7c7463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63c8f365b49d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d60d95f264b5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9f8cf9e1f496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ee82add9647c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000add7be4c66" /><Relationship Type="http://schemas.openxmlformats.org/officeDocument/2006/relationships/image" Target="/ppt/media/image.jpeg" Id="R7db70abbf520455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abd492aaa4973" /><Relationship Type="http://schemas.openxmlformats.org/officeDocument/2006/relationships/image" Target="/ppt/media/image2.jpeg" Id="Ra8174632b3b043e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af4dd8592413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803265-82B4-43E4-9FE4-C28AA9A1F96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B3739BE-A529-4CF8-94B5-13AAF03EBC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4DD4D7E-66E1-408A-BA8B-253C3687CE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CF0BC6-5B16-4821-BB14-F42934A543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06B2FB-74CB-41A8-9EC7-EA2ADA495E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AB6676-E4A2-4FD3-921C-9F128AE3AA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2A03D96-6CCA-4D2C-B737-CE1E27B84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EF7F45-84E4-44BC-BCCB-4338FE4BD7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CAAD77-397A-436E-81A3-D7CF73EF7D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B4B99D-096D-4595-A068-165172AD61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7C93D8-0DA4-462A-AD95-754E3A1733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B26132-E25E-4AFD-A60D-1FF824D131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4AB488-F053-48C1-8277-1D0B30632E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AAF20A-B69B-47FA-8E05-5849B7C001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708C5B-0D82-47A5-93FE-8440D50544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14D849-CDE1-4B1B-BA08-5AFC5A8DAF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AF0B88-A1F6-4216-8E49-AADE7C2224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9807115-803D-4329-952A-13F4D27C1D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2241DC-0CBF-4954-BE55-83C87B1E40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918C8D-72ED-47A5-A389-332E743DF9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8A4C5C-C8AD-47FC-B300-CEC50CEFE6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B3D1F8-A8B8-4DCE-AC69-C6124AE184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EE07692-63FC-4FC3-82A6-18EB14F0BE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F8967AB-445F-4790-8D7E-44A5BC9F071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DE70D8D-686A-41B7-B4C4-0D7067FC5A6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C20AA51-58EB-48DF-87A0-993F04135B3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1B0A7E-16E7-4E3F-984E-458623A291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5F90EB-541B-4D5F-8CEB-FEE31ADEB7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497E97-93D5-4D47-B7F5-6E336A8E84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5E53DD-9A33-43DE-B781-1F801B35D6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9124AE-567D-4AF7-A7CD-62D5F44029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E85D84-51AE-4D09-97D1-C44C24AC49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BD7A5C-488E-40D6-A87F-541784F7B9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C2FB5D-8B35-472E-8C8B-6270E59A3E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80D840-42D5-49B7-B872-A2599A391E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063E84-246C-4F9E-89CA-9B2C0E42AB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7FEBFF-C3DF-4187-88CE-4780A8318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B28F1C-1666-4671-8AFE-7F28DFA9A2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167CACC-36DF-4EC4-9A1E-5069B7B283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D0E52A-C45B-4881-8F89-221CD8786A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16FFBA-1BBB-4276-9632-061E66A60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56EE41-7FA4-4894-85E9-B5D80A4E7E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FD5C55-29E1-4770-AC60-158D72A789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66627DE-ADD5-4650-8885-432E14A4544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29F3C01-79DE-4FE0-B61F-DA4ADF9E78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F1E979-63E4-4BA1-B1A8-5F9E300779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3AED8A-1705-4ABA-BC01-F465372B7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1A863B-F2C3-485B-8F30-F4A5A54CEA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2AE08B-76A1-47A3-BBE2-4EE2947324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93C073-5D98-47A2-8529-DB74427D90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84CAD8-051E-493E-B206-F6DFADBB9F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7DE159-5357-4C49-85C2-F57A80E289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288FCD-8CD6-4DF4-81D1-62FCACC2E8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CE11824-660A-40B9-BDDC-76E3BE128F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6E9DFAE-3E3E-44D5-B264-9E7D58A323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02C8DB-37F9-411B-B861-6E8322E79C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CF6E3D-7DDD-4B44-A61D-C8E7CDC20E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A2C5BA-8AB2-4AA9-9ACB-7A8B462885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70abbf52045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9924452-D1FB-4E25-B678-D352140F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1450"/>
            <a:ext cx="4572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700"/>
              <a:t>© Copyrights 2018 HITAM. All rights reserved.</a:t>
            </a:r>
            <a:endParaRPr sz="700"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45AF1F7-5046-410A-AC77-329143B5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213" y="6521450"/>
            <a:ext cx="457200" cy="246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endParaRPr sz="1000">
              <a:solidFill>
                <a:srgbClr val="3C3C3C"/>
              </a:solidFill>
            </a:endParaRP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03B3CC-46D2-4411-BEA4-EC1E70F3BB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B8BA83-5FD5-4E0A-A037-7D8402E2F3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0DE339-C651-4BBF-9E21-5EC07DFDEA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74632b3b043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CA9C6AE-B014-471F-A38A-01379148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1450"/>
            <a:ext cx="45720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latin typeface="+mn-lt"/>
                <a:ea typeface="+mn-lt"/>
                <a:cs typeface="+mn-lt"/>
              </a:rPr>
              <a:t>© Copyrights 2018 HITAM. All rights reserved.</a:t>
            </a:r>
            <a:endParaRPr sz="700">
              <a:latin typeface="+mn-lt"/>
              <a:ea typeface="+mn-lt"/>
              <a:cs typeface="+mn-lt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8E2F8A5-5C43-4171-881C-AFD1FD4D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213" y="6521450"/>
            <a:ext cx="457200" cy="246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tx1">
                  <a:lumMod val="90000"/>
                  <a:lumOff val="10000"/>
                </a:schemeClr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9A1E78-EF35-4363-999C-A093C699D7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8D9B49-9E88-4E4D-8882-9AFA60C0CA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43B794-BF00-47AB-BD1B-495E82A84A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5DD73C-8F4B-4F01-9A7D-835D20E16C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C11CBA-37E8-4859-B568-AA7B134902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3d5e631d07d4bf4" /><Relationship Type="http://schemas.openxmlformats.org/officeDocument/2006/relationships/theme" Target="/ppt/slideMasters/theme/theme2.xml" Id="R32b514f604b9478d" /><Relationship Type="http://schemas.openxmlformats.org/officeDocument/2006/relationships/slideLayout" Target="/ppt/slideLayouts/slideLayout1.xml" Id="R610c5a59062a40d8" /><Relationship Type="http://schemas.openxmlformats.org/officeDocument/2006/relationships/slideLayout" Target="/ppt/slideLayouts/slideLayout2.xml" Id="R47ea935fff3f412d" /><Relationship Type="http://schemas.openxmlformats.org/officeDocument/2006/relationships/slideLayout" Target="/ppt/slideLayouts/slideLayout3.xml" Id="Rb49ce884c597457a" /><Relationship Type="http://schemas.openxmlformats.org/officeDocument/2006/relationships/slideLayout" Target="/ppt/slideLayouts/slideLayout4.xml" Id="R919d85bc9d894d72" /><Relationship Type="http://schemas.openxmlformats.org/officeDocument/2006/relationships/slideLayout" Target="/ppt/slideLayouts/slideLayout5.xml" Id="R5314a8a14fb64273" /><Relationship Type="http://schemas.openxmlformats.org/officeDocument/2006/relationships/slideLayout" Target="/ppt/slideLayouts/slideLayout6.xml" Id="R5a69dc4a8daa499a" /><Relationship Type="http://schemas.openxmlformats.org/officeDocument/2006/relationships/slideLayout" Target="/ppt/slideLayouts/slideLayout7.xml" Id="R964e56ceddd64a1d" /><Relationship Type="http://schemas.openxmlformats.org/officeDocument/2006/relationships/slideLayout" Target="/ppt/slideLayouts/slideLayout8.xml" Id="R265ce54c47ae4a12" /><Relationship Type="http://schemas.openxmlformats.org/officeDocument/2006/relationships/slideLayout" Target="/ppt/slideLayouts/slideLayout9.xml" Id="R978ca74debb5496e" /><Relationship Type="http://schemas.openxmlformats.org/officeDocument/2006/relationships/slideLayout" Target="/ppt/slideLayouts/slideLayout10.xml" Id="R967af9844067478b" /><Relationship Type="http://schemas.openxmlformats.org/officeDocument/2006/relationships/slideLayout" Target="/ppt/slideLayouts/slideLayout11.xml" Id="Reb298e8567b34079" /><Relationship Type="http://schemas.openxmlformats.org/officeDocument/2006/relationships/slideLayout" Target="/ppt/slideLayouts/slideLayout12.xml" Id="R917d307a8209468e" /><Relationship Type="http://schemas.openxmlformats.org/officeDocument/2006/relationships/slideLayout" Target="/ppt/slideLayouts/slideLayout13.xml" Id="Red02bb728c0b4746" /><Relationship Type="http://schemas.openxmlformats.org/officeDocument/2006/relationships/slideLayout" Target="/ppt/slideLayouts/slideLayout14.xml" Id="R0eeb77199f7c4e12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73d5e631d07d4bf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AF29D61-AA5E-4F59-B78D-AB65AF266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  <a:endParaRPr/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8F1DFDF-C63F-4A05-AD84-7428F7DBCB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5C2D5F-07B3-429A-B4DF-565A2747011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3DFF06-8CD9-4A8C-A471-50F7344920F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C66C9B-EFA0-4C6B-8AF8-F58CFED6073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0c5a59062a40d8"/>
    <p:sldLayoutId xmlns:r="http://schemas.openxmlformats.org/officeDocument/2006/relationships" id="2147483650" r:id="R47ea935fff3f412d"/>
    <p:sldLayoutId xmlns:r="http://schemas.openxmlformats.org/officeDocument/2006/relationships" id="2147483651" r:id="Rb49ce884c597457a"/>
    <p:sldLayoutId xmlns:r="http://schemas.openxmlformats.org/officeDocument/2006/relationships" id="2147483652" r:id="R919d85bc9d894d72"/>
    <p:sldLayoutId xmlns:r="http://schemas.openxmlformats.org/officeDocument/2006/relationships" id="2147483653" r:id="R5314a8a14fb64273"/>
    <p:sldLayoutId xmlns:r="http://schemas.openxmlformats.org/officeDocument/2006/relationships" id="2147483654" r:id="R5a69dc4a8daa499a"/>
    <p:sldLayoutId xmlns:r="http://schemas.openxmlformats.org/officeDocument/2006/relationships" id="2147483655" r:id="R964e56ceddd64a1d"/>
    <p:sldLayoutId xmlns:r="http://schemas.openxmlformats.org/officeDocument/2006/relationships" id="2147483656" r:id="R265ce54c47ae4a12"/>
    <p:sldLayoutId xmlns:r="http://schemas.openxmlformats.org/officeDocument/2006/relationships" id="2147483657" r:id="R978ca74debb5496e"/>
    <p:sldLayoutId xmlns:r="http://schemas.openxmlformats.org/officeDocument/2006/relationships" id="2147483658" r:id="R967af9844067478b"/>
    <p:sldLayoutId xmlns:r="http://schemas.openxmlformats.org/officeDocument/2006/relationships" id="2147483659" r:id="Reb298e8567b34079"/>
    <p:sldLayoutId xmlns:r="http://schemas.openxmlformats.org/officeDocument/2006/relationships" id="2147483660" r:id="R917d307a8209468e"/>
    <p:sldLayoutId xmlns:r="http://schemas.openxmlformats.org/officeDocument/2006/relationships" id="2147483661" r:id="Red02bb728c0b4746"/>
    <p:sldLayoutId xmlns:r="http://schemas.openxmlformats.org/officeDocument/2006/relationships" id="2147483662" r:id="R0eeb77199f7c4e12"/>
  </p:sldLayoutIdLst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2047ea8839c4c06" /><Relationship Type="http://schemas.openxmlformats.org/officeDocument/2006/relationships/notesSlide" Target="/ppt/notesSlides/notesSlide1.xml" Id="R563eb7886b414e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222e6aab9f4dbc" /><Relationship Type="http://schemas.openxmlformats.org/officeDocument/2006/relationships/notesSlide" Target="/ppt/notesSlides/notesSlide2.xml" Id="R26ed4a27b6e746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9dc6fba08c4ffa" /><Relationship Type="http://schemas.openxmlformats.org/officeDocument/2006/relationships/notesSlide" Target="/ppt/notesSlides/notesSlide3.xml" Id="R1bfe159839b645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55131283c14f9b" /><Relationship Type="http://schemas.openxmlformats.org/officeDocument/2006/relationships/notesSlide" Target="/ppt/notesSlides/notesSlide4.xml" Id="Rb63dafbd348044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a3296bca484342" /><Relationship Type="http://schemas.openxmlformats.org/officeDocument/2006/relationships/notesSlide" Target="/ppt/notesSlides/notesSlide5.xml" Id="Rcb6fe18f45904e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0c051f8b5f4b13" /><Relationship Type="http://schemas.openxmlformats.org/officeDocument/2006/relationships/notesSlide" Target="/ppt/notesSlides/notesSlide6.xml" Id="Rb6d5c6dbf3504f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5382071de34a34" /><Relationship Type="http://schemas.openxmlformats.org/officeDocument/2006/relationships/notesSlide" Target="/ppt/notesSlides/notesSlide7.xml" Id="R2768b39d1b344c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af48df4c2467b" /><Relationship Type="http://schemas.openxmlformats.org/officeDocument/2006/relationships/notesSlide" Target="/ppt/notesSlides/notesSlide8.xml" Id="R6acd437c3d7b45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e1373f2d634147" /><Relationship Type="http://schemas.openxmlformats.org/officeDocument/2006/relationships/notesSlide" Target="/ppt/notesSlides/notesSlide9.xml" Id="R95844c13f4c546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713b1820294935" /><Relationship Type="http://schemas.openxmlformats.org/officeDocument/2006/relationships/notesSlide" Target="/ppt/notesSlides/notesSlide10.xml" Id="Ra20ed6a2b2fb44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55a8ec853e4649" /><Relationship Type="http://schemas.openxmlformats.org/officeDocument/2006/relationships/notesSlide" Target="/ppt/notesSlides/notesSlide11.xml" Id="R594fa5012dbc43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52871bd93245d6" /><Relationship Type="http://schemas.openxmlformats.org/officeDocument/2006/relationships/notesSlide" Target="/ppt/notesSlides/notesSlide12.xml" Id="R8a604a6ce7934a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67822dc7b34d9f" /><Relationship Type="http://schemas.openxmlformats.org/officeDocument/2006/relationships/notesSlide" Target="/ppt/notesSlides/notesSlide13.xml" Id="R63be552b20fb44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ee76ff4f9b4347" /><Relationship Type="http://schemas.openxmlformats.org/officeDocument/2006/relationships/image" Target="/ppt/media/image2.png" Id="R7fafbab7c25a4162" /><Relationship Type="http://schemas.openxmlformats.org/officeDocument/2006/relationships/notesSlide" Target="/ppt/notesSlides/notesSlide14.xml" Id="R560f9810c9a746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TextBox 3">
            <a:extLst xmlns:a="http://schemas.openxmlformats.org/drawingml/2006/main">
              <a:ext uri="{FF2B5EF4-FFF2-40B4-BE49-F238E27FC236}">
                <a16:creationId xmlns:a16="http://schemas.microsoft.com/office/drawing/2014/main" id="{207FE590-D753-451F-9709-D438F59A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469900"/>
            <a:ext cx="6475413" cy="1322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>
              <a:solidFill>
                <a:schemeClr val="bg1"/>
              </a:solidFill>
            </a:endParaRPr>
          </a:p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Times New Roman"/>
                <a:cs typeface="Times New Roman"/>
              </a:rPr>
              <a:t>Hyderabad Institute of Technology and Management</a:t>
            </a:r>
            <a:endParaRPr sz="2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76" name="TextBox 1">
            <a:extLst xmlns:a="http://schemas.openxmlformats.org/drawingml/2006/main">
              <a:ext uri="{FF2B5EF4-FFF2-40B4-BE49-F238E27FC236}">
                <a16:creationId xmlns:a16="http://schemas.microsoft.com/office/drawing/2014/main" id="{C5536459-684F-47AC-A93B-849C46DF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160" y="3509269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Date: 24 September 2026</a:t>
            </a:r>
            <a:endParaRPr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CAB974-6728-45D0-A4D2-3F3546C9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60" y="2148403"/>
            <a:ext cx="8064896" cy="982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EKEEKRTA</a:t>
            </a:r>
            <a:endParaRPr sz="24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An Integrated Smart Virtual Learning Management</a:t>
            </a:r>
            <a:endParaRPr sz="24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and Classroom Platform</a:t>
            </a:r>
            <a:endParaRPr sz="24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1255824-0C0D-4EA0-8740-C6251E6C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160" y="4137759"/>
            <a:ext cx="2520280" cy="3829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Mentor: [Guide Name]</a:t>
            </a:r>
            <a:endParaRPr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extBox 8">
            <a:extLst xmlns:a="http://schemas.openxmlformats.org/drawingml/2006/main">
              <a:ext uri="{FF2B5EF4-FFF2-40B4-BE49-F238E27FC236}">
                <a16:creationId xmlns:a16="http://schemas.microsoft.com/office/drawing/2014/main" id="{011E2108-6148-40B4-BDB4-E3F2EA7D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6" y="3788802"/>
            <a:ext cx="4392816" cy="8629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Student details:</a:t>
            </a:r>
            <a:endParaRPr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Arla Hanmanth Rao (24E55A6601)</a:t>
            </a:r>
            <a:endParaRPr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Batch: [Batch No.]</a:t>
            </a:r>
            <a:endParaRPr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2473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CC0B683-A161-4A7A-A078-4EF6AEB8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675" y="476885"/>
            <a:ext cx="415036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 u="none" strike="noStrike" cap="none" spc="0" baseline="0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Times New Roman"/>
                <a:cs typeface="Times New Roman"/>
              </a:rPr>
              <a:t>Table of Contents</a:t>
            </a:r>
            <a:endParaRPr sz="3600" b="1" i="0" u="none" strike="noStrike" kern="1200" cap="none" spc="0" baseline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D994B-B57B-474B-B465-130AC441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714750" cy="4095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90DD0-3E22-4C58-BCE9-4D768AC2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3714750" cy="4095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8F0EA-F37A-40B4-B60B-098564DC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F922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3F922F"/>
                </a:solidFill>
                <a:latin typeface="Calibri"/>
                <a:ea typeface="Calibri"/>
                <a:cs typeface="Calibri"/>
              </a:rPr>
              <a:t>01 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22446-66C4-4BD7-976A-E662231E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02  Base Paper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A397B-5473-47A5-84A9-7A188D7D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03  Existing Work &amp; Technology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548E7-F810-4364-806C-10E26D46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04  Proposed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30526-DCAE-47E1-844E-97CE8CAC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05  Technologies in Proposed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C0E12-F922-4348-BC08-B64FBCAD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14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06  Block Diagram / Flow Chart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EE894-B5F4-404B-94FE-544239D2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07  Implementation 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E10D1-919C-4E1C-A598-011747E1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86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08  Advantages &amp; Future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EF06B-C26A-4747-9990-B77A764B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719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09  Documentation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A8740-C444-4C6E-B7E5-45F9B8D3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57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3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10  Publication Details &amp; Base Paper Link</a:t>
            </a:r>
          </a:p>
        </p:txBody>
      </p:sp>
    </p:spTree>
    <p:extLst>
      <p:ext uri="{BB962C8B-B14F-4D97-AF65-F5344CB8AC3E}">
        <p14:creationId xmlns:p14="http://schemas.microsoft.com/office/powerpoint/2010/main" val="3224117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9541904-13D5-4EE3-A614-D45CAA64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824" y="476672"/>
            <a:ext cx="2952328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 u="none" strike="noStrike" cap="none" spc="0" baseline="0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Times New Roman"/>
                <a:cs typeface="Times New Roman"/>
              </a:rPr>
              <a:t>Introduction</a:t>
            </a:r>
            <a:endParaRPr sz="3600" b="1" i="0" u="none" strike="noStrike" kern="1200" cap="none" spc="0" baseline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C4913-AED6-4857-89CF-2168F049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2552700" cy="42481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BEA72-6523-44E8-817E-BC0FA393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this project is worth reviewing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3701F-83B8-4C7A-9E33-E559578F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1336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Universities often split courses, live classes, attendance, assessment and ERP work across separate systems.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Fragmentation creates duplicate entry, delayed updates and incomplete evidence for student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5A0E1-9FEB-4432-9596-C13BC59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14450"/>
            <a:ext cx="2552700" cy="42481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8B21C-6B3A-4EA9-AE4A-E74FB655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6685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 &amp; key concepts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0104D-1DF5-45D3-B324-52BBB50B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21336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Problem: build one institution-scoped platform joining learning, live class, verified attendance, ERP exchange and student-support insight.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Key concepts: multi-tenancy, RBAC, duration attendance, learning analytics and auditable AI assistance.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76D78-8A61-42F7-A7AF-AE8832D9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2552700" cy="42481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4656B-C2B7-440C-ABB1-1E396192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Scope of this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5361B-AB75-432F-ABD2-FFF22225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21336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Four university roles: student, faculty, HOD and administrator.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Review covers architecture, working modules, verification evidence and remaining production work.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No claim of 150-user capacity is made without load testing.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5CE18-1B93-4CE0-BD41-26ED2700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7734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Objective: deliver a secure, evidence-driven university learning environment that connects teaching, administration and student progress without fabricating data.</a:t>
            </a:r>
          </a:p>
        </p:txBody>
      </p:sp>
    </p:spTree>
    <p:extLst>
      <p:ext uri="{BB962C8B-B14F-4D97-AF65-F5344CB8AC3E}">
        <p14:creationId xmlns:p14="http://schemas.microsoft.com/office/powerpoint/2010/main" val="4408591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E930037-B69A-4A2C-BC27-8DC6D588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" y="307975"/>
            <a:ext cx="6968490" cy="824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21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 u="none" strike="noStrike" cap="none" spc="0" baseline="0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Times New Roman"/>
                <a:cs typeface="Times New Roman"/>
              </a:rPr>
              <a:t>Base Paper</a:t>
            </a:r>
            <a:endParaRPr sz="2000" b="1" i="0" u="none" strike="noStrike" kern="1200" cap="none" spc="0" baseline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3764D-B8E8-4D4F-9417-002C8EBA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8096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E15BF-B462-49FC-9FEA-BFC667CB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52550"/>
            <a:ext cx="771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Lu, C. &amp; Cutumisu, M. (2022). “Online engagement and performance on formative assessments mediate the relationship between attendance and course performance.”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FE9D9-F5DC-49D3-AA56-1BDAC01B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2514600" cy="2628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F5355-0566-49D6-A79E-0C74EC70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133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D8578-0980-4FEF-B555-BFF91B9A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367 undergraduate Moodle log records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Lecture attendance, LMS activity and formative assessment data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Structural equation modelling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14C36-E437-4404-95DD-968B5DFE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2514600" cy="2628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287AF-0267-4DDE-A7F3-A01739E7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0300"/>
            <a:ext cx="2133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Main findings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BA4A5-D483-4350-84BB-7C3A6ED8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465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Attendance alone did not directly predict final performance after mediators were included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Online engagement and formative assessment fully mediated the relationship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Diversified learning technology creates additional engagement pathways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6AC53-7808-4771-81BC-82CAB637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2514600" cy="2628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FA4FD-23AD-4A08-8564-8B8D9EBB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133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07A10"/>
          </a:solidFill>
          <a:ln xmlns:a="http://schemas.openxmlformats.org/drawingml/2006/main" w="0">
            <a:solidFill>
              <a:srgbClr val="C07A10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A2484-6FB4-46EE-81FF-DD723F70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Convenience sample from one university course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Observational log-data design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Needs validation across programs and delivery modes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3D2F8-D9CD-48B6-8E57-1E3702A8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723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10478">
            <a:solidFill>
              <a:srgbClr val="8DB2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2EA6A-3B5D-48B0-B871-8AC803FC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674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A6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A6B"/>
                </a:solidFill>
                <a:latin typeface="Calibri"/>
                <a:ea typeface="Calibri"/>
                <a:cs typeface="Calibri"/>
              </a:rPr>
              <a:t>Design implication for Ekeekrta: combine attendance evidence with assignments, quizzes and course engagement; never treat presence alone as academic success.</a:t>
            </a:r>
          </a:p>
        </p:txBody>
      </p:sp>
    </p:spTree>
    <p:extLst>
      <p:ext uri="{BB962C8B-B14F-4D97-AF65-F5344CB8AC3E}">
        <p14:creationId xmlns:p14="http://schemas.microsoft.com/office/powerpoint/2010/main" val="9840105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6945C4-235F-4A72-BDB6-B8BFB72F9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Existing Work &amp; Technology Used</a:t>
            </a:r>
            <a:endParaRPr sz="3600" b="1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22A8E-AF6A-482B-8D46-A01BFF2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Existing university workflows are functional but fragmented across tools.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95300" y="1666875"/>
          <a:ext xmlns:a="http://schemas.openxmlformats.org/drawingml/2006/main" cx="8153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428875"/>
                <a:gridCol w="3724275"/>
              </a:tblGrid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Existing component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handles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Observed integration gap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Conventional LMS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Materials, assignments, quizzes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Live class, duration attendance and official records remain separate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Video-meeting tool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Audio, screen sharing, chat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Limited course, grade and ERP context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University ERP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Official identity and academic records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Does not orchestrate teaching or real-time class workflows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Email / spreadsheets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Ad-hoc notices and attendance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Manual reconciliation, delays and inconsistent evidence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58F72-8452-4541-A7FD-92103B73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7543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A4BB1-52A8-4FE9-A1E4-C68A8095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67325"/>
            <a:ext cx="701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Gap identified: institutions need one role-scoped data path from course activity → live class → verified attendance → assessment → ERP / support insight.</a:t>
            </a:r>
          </a:p>
        </p:txBody>
      </p:sp>
    </p:spTree>
    <p:extLst>
      <p:ext uri="{BB962C8B-B14F-4D97-AF65-F5344CB8AC3E}">
        <p14:creationId xmlns:p14="http://schemas.microsoft.com/office/powerpoint/2010/main" val="14815068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5B572-B5A8-4362-96F2-75D37DEE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Proposed Work: Closing the Research &amp; Integration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FD73C-D4A0-4BB4-AB81-79592649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2571750" cy="3333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AF4EC"/>
          </a:solidFill>
          <a:ln xmlns:a="http://schemas.openxmlformats.org/drawingml/2006/main" w="10478">
            <a:solidFill>
              <a:srgbClr val="E0B77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B188C-406F-4116-86A5-03F8588D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07A10"/>
          </a:solidFill>
          <a:ln xmlns:a="http://schemas.openxmlformats.org/drawingml/2006/main" w="0">
            <a:solidFill>
              <a:srgbClr val="C07A10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Fragmented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DC304-9D0E-49A0-A9E9-F67228C1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9812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Separate identity stores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Manual attendance reconciliation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Course activity disconnected from live classes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Support decisions based on partial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2B336-A2B4-421E-A4B8-A9828672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71750"/>
            <a:ext cx="800100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78AD8-8828-4E56-B379-58E64DB2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352550"/>
            <a:ext cx="43624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17AFB-BE3B-4D69-A52D-42627AF0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24000"/>
            <a:ext cx="3600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Ekeekrta university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68B2A-4DFA-4604-95A2-C31D1934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37147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Institution registration and tenant isolation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Server-enforced role scopes for admin, HOD, faculty and student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Course workspace: materials, assignments, quizzes and programming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Scheduled / live Jitsi classroom with join–leave duration attendance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Reviewed ERP user import and outbound course / attendance sync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Explainable CGPA planning and progress intelligence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A521C-C935-4159-923E-6AF4ABD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73533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10478">
            <a:solidFill>
              <a:srgbClr val="8DB2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C1F0F-9B3B-4502-A35D-3BF7C7DE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678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1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A6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A6B"/>
                </a:solidFill>
                <a:latin typeface="Calibri"/>
                <a:ea typeface="Calibri"/>
                <a:cs typeface="Calibri"/>
              </a:rPr>
              <a:t>Research contribution: a single auditable workflow links synchronous participation, asynchronous engagement, assessment evidence and administrative data while preserving role and institution boundaries.</a:t>
            </a:r>
          </a:p>
        </p:txBody>
      </p:sp>
    </p:spTree>
    <p:extLst>
      <p:ext uri="{BB962C8B-B14F-4D97-AF65-F5344CB8AC3E}">
        <p14:creationId xmlns:p14="http://schemas.microsoft.com/office/powerpoint/2010/main" val="14025905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BD7B74-E156-48F0-BAAA-E25B6372A7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Times New Roman"/>
                <a:cs typeface="Times New Roman"/>
              </a:rPr>
              <a:t>Technologies in Proposed Work</a:t>
            </a:r>
            <a:endParaRPr sz="3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19100" y="1219200"/>
          <a:ext xmlns:a="http://schemas.openxmlformats.org/drawingml/2006/main" cx="83058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2476500"/>
                <a:gridCol w="4352925"/>
              </a:tblGrid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Layer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Technology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Purpose in Ekeekrta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Web client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React + Vite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Responsive dashboards and course/class workspaces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Application API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FastAPI (Python)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Validated REST endpoints and OpenAPI documentation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Data layer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PostgreSQL + SQLAlchemy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Institution-scoped transactional academic records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Security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JWT, password hashing, optional Google Workspace OAuth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Authentication and server-enforced role boundaries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Virtual classroom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Jitsi IFrame API / JaaS development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Audio, screen share, chat, hand raise and meeting events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ERP interoperability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Authenticated REST + idempotent events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Reviewed identity import; course and attendance synchronization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Native intelligence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Rules, retrieval and audit records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CGPA roadmap, progress indicators and reviewed content drafts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Deployment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Vercel + Neon PostgreSQL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Public application/API; self-hosted media remains separate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77575-C223-4803-90E5-B34F2392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7734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27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Design principle: credentials remain in environment configuration; there is no silent fallback to an unconfigured public meeting service.</a:t>
            </a:r>
          </a:p>
        </p:txBody>
      </p:sp>
    </p:spTree>
    <p:extLst>
      <p:ext uri="{BB962C8B-B14F-4D97-AF65-F5344CB8AC3E}">
        <p14:creationId xmlns:p14="http://schemas.microsoft.com/office/powerpoint/2010/main" val="21454194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4A160-C043-4110-854B-C0BAD6F19E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09750" y="419100"/>
            <a:ext cx="5524500" cy="438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Times New Roman"/>
                <a:cs typeface="Times New Roman"/>
              </a:rPr>
              <a:t>Block Diagram / System Flow</a:t>
            </a:r>
            <a:endParaRPr sz="3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D560510-28A3-4585-8A48-2A223AAF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768" y="6222911"/>
            <a:ext cx="288032" cy="144016"/>
          </a:xfrm>
          <a:prstGeom xmlns:a="http://schemas.openxmlformats.org/drawingml/2006/main" prst="ellips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3B50E-886C-4E4E-B3DC-3B56ECCC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571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STUDENT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EEFFC-E782-44ED-9F1A-C08BB7AF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3048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53750-6E42-4E67-BAA3-1250963C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43050"/>
            <a:ext cx="1571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FACULTY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F1201-BBAC-4B76-BD4A-47A3F7C0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3048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C5735-4602-426C-B9A4-F8EFD90D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43050"/>
            <a:ext cx="1571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67A2E-3EA4-4CE4-ADDC-FDC8EEEE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33600"/>
            <a:ext cx="3048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0DECA-2426-4C20-8D48-48CCAD07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43050"/>
            <a:ext cx="1571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77957-6919-4F50-9AC8-CF2E7213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133600"/>
            <a:ext cx="3048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C703B-E5AE-4A43-8275-A9C3058D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33650"/>
            <a:ext cx="523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10478">
            <a:solidFill>
              <a:srgbClr val="78A6C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A6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A6B"/>
                </a:solidFill>
                <a:latin typeface="Calibri"/>
                <a:ea typeface="Calibri"/>
                <a:cs typeface="Calibri"/>
              </a:rPr>
              <a:t>FASTAPI APPLICATION LAYER</a:t>
            </a:r>
          </a:p>
          <a:p xmlns:a="http://schemas.openxmlformats.org/drawingml/2006/main">
            <a:pPr algn="ctr">
              <a:defRPr sz="1275" b="1">
                <a:solidFill>
                  <a:srgbClr val="174A6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A6B"/>
                </a:solidFill>
                <a:latin typeface="Calibri"/>
                <a:ea typeface="Calibri"/>
                <a:cs typeface="Calibri"/>
              </a:rPr>
              <a:t>JWT authentication • institution isolation • role / ownership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7E29A-8342-459E-B290-7222962C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238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F4D17-F583-46D2-9C9B-1D43DBDF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1847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Courses &amp;</a:t>
            </a:r>
          </a:p>
          <a:p xmlns:a="http://schemas.openxmlformats.org/drawingml/2006/main">
            <a:pPr algn="ctr"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Content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ECD42-C26F-44F8-9BCA-7E249185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38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5523E-C450-4C30-8B1C-11251893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19500"/>
            <a:ext cx="1847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Assessments &amp;</a:t>
            </a:r>
          </a:p>
          <a:p xmlns:a="http://schemas.openxmlformats.org/drawingml/2006/main">
            <a:pPr algn="ctr"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Grading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83327-7078-4EF8-A42D-2AA2D5BE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238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7E482-E016-45BC-9614-1A35552E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19500"/>
            <a:ext cx="1847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Live Class &amp;</a:t>
            </a:r>
          </a:p>
          <a:p xmlns:a="http://schemas.openxmlformats.org/drawingml/2006/main">
            <a:pPr algn="ctr"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Attendance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28F99-10DC-4B34-AE59-9FAAC3BC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93262-7729-45C5-8F10-68EA209A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1847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AI &amp; Progress</a:t>
            </a:r>
          </a:p>
          <a:p xmlns:a="http://schemas.openxmlformats.org/drawingml/2006/main">
            <a:pPr algn="ctr"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Intelligence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2C1407-6D27-4230-A2C9-F7761ED8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088" y="4381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98D13-1094-4CF3-BBBB-5175A64E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428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PostgreSQL</a:t>
            </a:r>
          </a:p>
          <a:p xmlns:a="http://schemas.openxmlformats.org/drawingml/2006/main">
            <a:pPr algn="ctr"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Users • courses • submissions • sessions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0EA961-888C-4550-B5B4-1C68CFD0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363" y="4381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1AFCC-2E21-4F6F-9087-D501A82B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428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University ERP Connector</a:t>
            </a:r>
          </a:p>
          <a:p xmlns:a="http://schemas.openxmlformats.org/drawingml/2006/main">
            <a:pPr algn="ctr"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Reviewed users ⇄ courses / attendance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0823C-FF05-498C-98A7-666DCC7A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638" y="4381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14238C-E6BC-4A9D-8D17-236113B8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62500"/>
            <a:ext cx="2428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Jitsi / JaaS</a:t>
            </a:r>
          </a:p>
          <a:p xmlns:a="http://schemas.openxmlformats.org/drawingml/2006/main">
            <a:pPr algn="ctr"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Media room + meeting events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BB5020-0C02-49ED-901A-D56B1251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Every response is filtered again by institution, department, course ownership or the requesting student.</a:t>
            </a:r>
          </a:p>
        </p:txBody>
      </p:sp>
    </p:spTree>
    <p:extLst>
      <p:ext uri="{BB962C8B-B14F-4D97-AF65-F5344CB8AC3E}">
        <p14:creationId xmlns:p14="http://schemas.microsoft.com/office/powerpoint/2010/main" val="11727756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64CBA2-A05E-4AA6-9433-E22878B24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955"/>
            <a:ext cx="8229600" cy="6191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Implementation Status / Progress Evidence</a:t>
            </a:r>
            <a:endParaRPr b="1">
              <a:solidFill>
                <a:schemeClr val="bg1"/>
              </a:solidFill>
            </a:endParaRP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00050" y="1238250"/>
          <a:ext xmlns:a="http://schemas.openxmlformats.org/drawingml/2006/main" cx="83439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095375"/>
                <a:gridCol w="5200650"/>
              </a:tblGrid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 package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 available in the project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Institution setup + RBAC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BUILT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Tenant profile; admin/HOD/faculty/student server scopes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LMS core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BUILT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Courses, cohort enrollment, materials, assignments, quizzes and grading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Classroom + attendance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BUILT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Schedule/start/end; Jitsi embed; actual join/leave duration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University ERP workflow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BUILT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Reviewed identity import; idempotent course/attendance events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Student-support AI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BUILT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CGPA roadmap, progress intelligence, reviewed content/notes workflow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Automated verification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PASSED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155 backend tests + 92 subtests; frontend production build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Self-hosted media capacity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PENDING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Requires Jitsi/Jibri deployment and staged 150-user load 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B097D-73CB-4686-BDF3-6D81E0E0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758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9E393-40B0-4D78-8B07-B4B6EBA4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701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2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Evidence rule: the application reads persisted records; no sample attendance, marks, meetings or AI outcomes are presented as real data.</a:t>
            </a:r>
          </a:p>
        </p:txBody>
      </p:sp>
    </p:spTree>
    <p:extLst>
      <p:ext uri="{BB962C8B-B14F-4D97-AF65-F5344CB8AC3E}">
        <p14:creationId xmlns:p14="http://schemas.microsoft.com/office/powerpoint/2010/main" val="11126783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C4FA3-A24F-470C-938C-8B976934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91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Advantages &amp; 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E877F-E3A6-4828-93EC-67BCC261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3762375" cy="419100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FEF11-F815-4A35-AF94-2419BC66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3105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Advantages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33A49-A2B4-43C0-A5A6-55AA31EA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10515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One university workspace for teaching, meetings, assessment and administration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Server-enforced least-privilege access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Attendance based on actual meeting duration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Reviewed ERP identity import and synchronized academic events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Course-specific resources, quizzes, programming tests and grades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Explainable support indicators with visible evidence and thresholds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77F1F-354C-475E-9F86-A655D5C3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314450"/>
            <a:ext cx="3762375" cy="419100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0478">
            <a:solidFill>
              <a:srgbClr val="9CB9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9B178-CC64-4FEA-B4A4-73E9672E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504950"/>
            <a:ext cx="3105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72B3B-D542-486A-A705-60DF28F3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95500"/>
            <a:ext cx="310515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Deploy self-hosted Jitsi/Jibri with secure recording and retention controls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Run staged network and 150-participant capacity tests before production claims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Connect a real university ERP using the documented adapter contract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Train private ASR, handwriting/OCR and similarity models on approved data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Add Alembic database migrations and disaster-recovery automation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Validate progress indicators through faculty/student usability studies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B9B27-9656-4C79-9B12-2A59E650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Future work is separated from features already verified in the present build.</a:t>
            </a:r>
          </a:p>
        </p:txBody>
      </p:sp>
    </p:spTree>
    <p:extLst>
      <p:ext uri="{BB962C8B-B14F-4D97-AF65-F5344CB8AC3E}">
        <p14:creationId xmlns:p14="http://schemas.microsoft.com/office/powerpoint/2010/main" val="18480514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52DED1-06F5-468C-BB13-3618DEC89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955"/>
            <a:ext cx="8229600" cy="83439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Documentation / Project Work Status</a:t>
            </a:r>
            <a:endParaRPr b="1">
              <a:solidFill>
                <a:schemeClr val="bg1"/>
              </a:solidFill>
            </a:endParaRP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14350" y="1352550"/>
          <a:ext xmlns:a="http://schemas.openxmlformats.org/drawingml/2006/main" cx="81153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285875"/>
                <a:gridCol w="4352925"/>
              </a:tblGrid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Documentation artifact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Coverage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PROJECT_DETAILS.txt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CURRENT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Chronological build, verification and deployment record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README / run instructions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AVAILABLE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Frontend, backend and environment setup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OpenAPI / Swagger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GENERATED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Interactive FastAPI endpoint contract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ERP integration contract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AVAILABLE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Identity import, course sync and attendance sync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Jitsi setup guidance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AVAILABLE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JaaS development and self-hosted configuration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Environment examples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AVAILABLE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Required variables without committed secrets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Automated tests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PASSED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Authentication, role scope, LMS, ERP and AI behavior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22055-B024-47F3-BE66-ECD4F702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742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29DFD-AC36-4AF1-BD8E-99BAABD0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95950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93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Documentation policy: secrets are excluded from source control; planned features are labelled separately from implemented features.</a:t>
            </a:r>
          </a:p>
        </p:txBody>
      </p:sp>
    </p:spTree>
    <p:extLst>
      <p:ext uri="{BB962C8B-B14F-4D97-AF65-F5344CB8AC3E}">
        <p14:creationId xmlns:p14="http://schemas.microsoft.com/office/powerpoint/2010/main" val="164165007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2CCC6F-30A3-4AB4-ADA5-07A18D27BC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000" y="419100"/>
            <a:ext cx="3810000" cy="438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Publication Details</a:t>
            </a:r>
            <a:endParaRPr sz="4000" b="1">
              <a:solidFill>
                <a:schemeClr val="bg1"/>
              </a:solidFill>
            </a:endParaRP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39AAF-89DE-4464-9AED-3E6048B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781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554B8-8FB3-448A-98A4-A58E1C32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922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F922F"/>
                </a:solidFill>
                <a:latin typeface="Calibri"/>
                <a:ea typeface="Calibri"/>
                <a:cs typeface="Calibri"/>
              </a:rPr>
              <a:t>Proposed manuscript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A9485-F43E-4455-BE92-FC91D2F2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731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71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“EKEEKRTA: Integrating Virtual Classroom, Learning Analytics and ERP Workflows for Higher Education”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78FF5-81B7-4EB7-AE20-595FF7E2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3667125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E9221-D970-4C90-AFB7-778073B9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095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Current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EC364-2A16-4867-B01E-E5460F2D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9718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Manuscript in preparation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Problem, architecture and functional evidence drafted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No publication or acceptance is claimed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Target venue will be selected after evaluation data are complete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555D3-B7C0-43BD-9E61-452A6D7D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00300"/>
            <a:ext cx="3667125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0478">
            <a:solidFill>
              <a:srgbClr val="9CB9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28B88-D948-4966-B0AF-57EEBDF4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71750"/>
            <a:ext cx="3095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required before submission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E8324-8371-4A37-871E-712F716D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24200"/>
            <a:ext cx="29718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Faculty and student usability study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Multi-device classroom validation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Staged performance / load test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Security and privacy review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Comparison against the base-paper engagement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ED56D-CFFB-488D-AD0C-6ECB5573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727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33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362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A6362C"/>
                </a:solidFill>
                <a:latin typeface="Calibri"/>
                <a:ea typeface="Calibri"/>
                <a:cs typeface="Calibri"/>
              </a:rPr>
              <a:t>Ethical publication principle: report measured outcomes only after consent, anonymization and institutional approval.</a:t>
            </a:r>
          </a:p>
        </p:txBody>
      </p:sp>
    </p:spTree>
    <p:extLst>
      <p:ext uri="{BB962C8B-B14F-4D97-AF65-F5344CB8AC3E}">
        <p14:creationId xmlns:p14="http://schemas.microsoft.com/office/powerpoint/2010/main" val="40825220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D1DA2D-A7D1-42B0-A7E6-17F120A27C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Base Paper Link</a:t>
            </a:r>
            <a:endParaRPr sz="4000" b="1">
              <a:solidFill>
                <a:schemeClr val="bg1"/>
              </a:solidFill>
            </a:endParaRP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CA968-DEE5-47D8-A43B-FFEE12D3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810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C56A1-BC97-4542-A554-292DB6BD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573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Lu, C. &amp; Cutumisu, M. (2022)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7D799-6BE8-4245-8AEA-F13DD487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5740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Online engagement and performance on formative assessments mediate the relationship between attendance and course 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52BB1-D962-4E6D-AD1C-36B3CA8D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6896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10478">
            <a:solidFill>
              <a:srgbClr val="78A6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385B0-D3E9-4D1A-8E2C-00FAB5E5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671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649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4649A"/>
                </a:solidFill>
                <a:latin typeface="Calibri"/>
                <a:ea typeface="Calibri"/>
                <a:cs typeface="Calibri"/>
              </a:rPr>
              <a:t>https://doi.org/10.1186/s41239-021-00307-5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E21A1-8018-4B04-8963-66580812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628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3D520-BE3B-4FFE-99F8-77B480F6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86300"/>
            <a:ext cx="575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Key takeaway used in Ekeekrta</a:t>
            </a:r>
          </a:p>
          <a:p xmlns:a="http://schemas.openxmlformats.org/drawingml/2006/main">
            <a:pPr algn="ctr">
              <a:defRPr sz="127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Attendance is valuable evidence, but online engagement and formative assessment must also be considered when supporting academic progress.</a:t>
            </a:r>
          </a:p>
        </p:txBody>
      </p:sp>
    </p:spTree>
    <p:extLst>
      <p:ext uri="{BB962C8B-B14F-4D97-AF65-F5344CB8AC3E}">
        <p14:creationId xmlns:p14="http://schemas.microsoft.com/office/powerpoint/2010/main" val="8487540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63A5CAE-5CCB-46ED-9C59-B0D23DB7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84" y="2937743"/>
            <a:ext cx="7376002" cy="11201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YOU!</a:t>
            </a:r>
            <a:endParaRPr sz="6000" b="1"/>
          </a:p>
          <a:p xmlns:a="http://schemas.openxmlformats.org/drawingml/2006/main">
            <a:pPr algn="ctr">
              <a:lnSpc>
                <a:spcPct val="150000"/>
              </a:lnSpc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Questions &amp; Discussion</a:t>
            </a:r>
            <a:endParaRPr sz="6000" b="1"/>
          </a:p>
        </p:txBody>
      </p:sp>
      <p:pic>
        <p:nvPicPr>
          <p:cNvPr id="1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fbab7c25a41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4624"/>
            <a:ext cx="9144000" cy="68133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1107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2026-09-24T18:25:54.3270000Z</dcterms:created>
  <dcterms:modified xsi:type="dcterms:W3CDTF">2026-09-24T18:25:54.3270000Z</dcterms:modified>
</coreProperties>
</file>