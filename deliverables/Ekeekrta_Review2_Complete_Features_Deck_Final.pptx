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74faf8842024fd9" /><Relationship Type="http://schemas.openxmlformats.org/officeDocument/2006/relationships/extended-properties" Target="/docProps/app.xml" Id="Rc550c1992c3a486e" /><Relationship Type="http://schemas.openxmlformats.org/officeDocument/2006/relationships/officeDocument" Target="/ppt/presentation.xml" Id="R0cb7ad16a9704996" /></Relationships>
</file>

<file path=ppt/presentation.xml><?xml version="1.0" encoding="utf-8"?>
<p:presentation xmlns:p="http://schemas.openxmlformats.org/presentationml/2006/main">
  <p:sldMasterIdLst>
    <p:sldMasterId xmlns:r="http://schemas.openxmlformats.org/officeDocument/2006/relationships" id="2147483648" r:id="R1c8d277b48a646ca"/>
  </p:sldMasterIdLst>
  <p:notesMasterIdLst>
    <p:notesMasterId xmlns:r="http://schemas.openxmlformats.org/officeDocument/2006/relationships" r:id="R0e19ffc12b8d4565"/>
  </p:notesMasterIdLst>
  <p:sldIdLst>
    <p:sldId xmlns:r="http://schemas.openxmlformats.org/officeDocument/2006/relationships" id="256" r:id="R57d844e7c0e447a6"/>
    <p:sldId xmlns:r="http://schemas.openxmlformats.org/officeDocument/2006/relationships" id="257" r:id="R016e52bcef4143ba"/>
    <p:sldId xmlns:r="http://schemas.openxmlformats.org/officeDocument/2006/relationships" id="258" r:id="R87bf36c69c254130"/>
    <p:sldId xmlns:r="http://schemas.openxmlformats.org/officeDocument/2006/relationships" id="259" r:id="R42b0f93adaae4ecf"/>
    <p:sldId xmlns:r="http://schemas.openxmlformats.org/officeDocument/2006/relationships" id="260" r:id="Raa47482e0b384844"/>
    <p:sldId xmlns:r="http://schemas.openxmlformats.org/officeDocument/2006/relationships" id="261" r:id="Rf00dddab12d04390"/>
    <p:sldId xmlns:r="http://schemas.openxmlformats.org/officeDocument/2006/relationships" id="262" r:id="Rd60ae1b8725d4014"/>
    <p:sldId xmlns:r="http://schemas.openxmlformats.org/officeDocument/2006/relationships" id="263" r:id="R903facba50c94f6d"/>
    <p:sldId xmlns:r="http://schemas.openxmlformats.org/officeDocument/2006/relationships" id="264" r:id="R6d977b8a624f4511"/>
    <p:sldId xmlns:r="http://schemas.openxmlformats.org/officeDocument/2006/relationships" id="265" r:id="Reddb6745e2834728"/>
    <p:sldId xmlns:r="http://schemas.openxmlformats.org/officeDocument/2006/relationships" id="266" r:id="Rb7f30eff919640b0"/>
    <p:sldId xmlns:r="http://schemas.openxmlformats.org/officeDocument/2006/relationships" id="267" r:id="R91c5e5d479334b7a"/>
    <p:sldId xmlns:r="http://schemas.openxmlformats.org/officeDocument/2006/relationships" id="268" r:id="Rb2cb216bf0a14783"/>
    <p:sldId xmlns:r="http://schemas.openxmlformats.org/officeDocument/2006/relationships" id="269" r:id="Ra99489cb3ba24707"/>
  </p:sldIdLst>
  <p:sldSz cx="9144000" cy="6858000"/>
  <p:notesSz cx="6858000" cy="9144000"/>
  <p:defaultTextStyle>
    <a:defPPr xmlns:a="http://schemas.openxmlformats.org/drawingml/2006/main">
      <a:buNone/>
    </a:defPPr>
    <a:lvl1pPr xmlns:a="http://schemas.openxmlformats.org/drawingml/2006/main" algn="l">
      <a:spcBef>
        <a:spcPct val="0"/>
      </a:spcBef>
      <a:spcAft>
        <a:spcPct val="0"/>
      </a:spcAft>
      <a:buNone/>
      <a:defRPr kern="1200">
        <a:solidFill>
          <a:schemeClr val="tx1"/>
        </a:solidFill>
        <a:latin typeface="Arial"/>
        <a:ea typeface="Arial"/>
        <a:cs typeface="Arial"/>
      </a:defRPr>
    </a:lvl1pPr>
    <a:lvl2pPr xmlns:a="http://schemas.openxmlformats.org/drawingml/2006/main" marL="457200" algn="l">
      <a:spcBef>
        <a:spcPct val="0"/>
      </a:spcBef>
      <a:spcAft>
        <a:spcPct val="0"/>
      </a:spcAft>
      <a:buNone/>
      <a:defRPr kern="1200">
        <a:solidFill>
          <a:schemeClr val="tx1"/>
        </a:solidFill>
        <a:latin typeface="Arial"/>
        <a:ea typeface="Arial"/>
        <a:cs typeface="Arial"/>
      </a:defRPr>
    </a:lvl2pPr>
    <a:lvl3pPr xmlns:a="http://schemas.openxmlformats.org/drawingml/2006/main" marL="914400" algn="l">
      <a:spcBef>
        <a:spcPct val="0"/>
      </a:spcBef>
      <a:spcAft>
        <a:spcPct val="0"/>
      </a:spcAft>
      <a:buNone/>
      <a:defRPr kern="1200">
        <a:solidFill>
          <a:schemeClr val="tx1"/>
        </a:solidFill>
        <a:latin typeface="Arial"/>
        <a:ea typeface="Arial"/>
        <a:cs typeface="Arial"/>
      </a:defRPr>
    </a:lvl3pPr>
    <a:lvl4pPr xmlns:a="http://schemas.openxmlformats.org/drawingml/2006/main" marL="1371600" algn="l">
      <a:spcBef>
        <a:spcPct val="0"/>
      </a:spcBef>
      <a:spcAft>
        <a:spcPct val="0"/>
      </a:spcAft>
      <a:buNone/>
      <a:defRPr kern="1200">
        <a:solidFill>
          <a:schemeClr val="tx1"/>
        </a:solidFill>
        <a:latin typeface="Arial"/>
        <a:ea typeface="Arial"/>
        <a:cs typeface="Arial"/>
      </a:defRPr>
    </a:lvl4pPr>
    <a:lvl5pPr xmlns:a="http://schemas.openxmlformats.org/drawingml/2006/main" marL="1828800" algn="l">
      <a:spcBef>
        <a:spcPct val="0"/>
      </a:spcBef>
      <a:spcAft>
        <a:spcPct val="0"/>
      </a:spcAft>
      <a:buNone/>
      <a:defRPr kern="1200">
        <a:solidFill>
          <a:schemeClr val="tx1"/>
        </a:solidFill>
        <a:latin typeface="Arial"/>
        <a:ea typeface="Arial"/>
        <a:cs typeface="Arial"/>
      </a:defRPr>
    </a:lvl5pPr>
    <a:lvl6pPr xmlns:a="http://schemas.openxmlformats.org/drawingml/2006/main" marL="2286000" algn="l" defTabSz="914400">
      <a:buNone/>
      <a:defRPr kern="1200">
        <a:solidFill>
          <a:schemeClr val="tx1"/>
        </a:solidFill>
        <a:latin typeface="Arial"/>
        <a:ea typeface="Arial"/>
        <a:cs typeface="Arial"/>
      </a:defRPr>
    </a:lvl6pPr>
    <a:lvl7pPr xmlns:a="http://schemas.openxmlformats.org/drawingml/2006/main" marL="2743200" algn="l" defTabSz="914400">
      <a:buNone/>
      <a:defRPr kern="1200">
        <a:solidFill>
          <a:schemeClr val="tx1"/>
        </a:solidFill>
        <a:latin typeface="Arial"/>
        <a:ea typeface="Arial"/>
        <a:cs typeface="Arial"/>
      </a:defRPr>
    </a:lvl7pPr>
    <a:lvl8pPr xmlns:a="http://schemas.openxmlformats.org/drawingml/2006/main" marL="3200400" algn="l" defTabSz="914400">
      <a:buNone/>
      <a:defRPr kern="1200">
        <a:solidFill>
          <a:schemeClr val="tx1"/>
        </a:solidFill>
        <a:latin typeface="Arial"/>
        <a:ea typeface="Arial"/>
        <a:cs typeface="Arial"/>
      </a:defRPr>
    </a:lvl8pPr>
    <a:lvl9pPr xmlns:a="http://schemas.openxmlformats.org/drawingml/2006/main" marL="3657600" algn="l" defTabSz="914400">
      <a:buNone/>
      <a:defRPr kern="1200">
        <a:solidFill>
          <a:schemeClr val="tx1"/>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f6f5d4c166a049d7" /><Relationship Type="http://schemas.openxmlformats.org/officeDocument/2006/relationships/slideMaster" Target="/ppt/slideMasters/slideMaster1.xml" Id="R1c8d277b48a646ca" /><Relationship Type="http://schemas.openxmlformats.org/officeDocument/2006/relationships/notesMaster" Target="/ppt/notesMasters/notesMaster1.xml" Id="R0e19ffc12b8d4565" /><Relationship Type="http://schemas.openxmlformats.org/officeDocument/2006/relationships/presProps" Target="/ppt/presProps.xml" Id="Rbaa997601c05464e" /><Relationship Type="http://schemas.openxmlformats.org/officeDocument/2006/relationships/viewProps" Target="/ppt/viewProps.xml" Id="R96b726d9b083493f" /><Relationship Type="http://schemas.openxmlformats.org/officeDocument/2006/relationships/tableStyles" Target="/ppt/tableStyles.xml" Id="Ra0079aa3510940a1" /><Relationship Type="http://schemas.openxmlformats.org/officeDocument/2006/relationships/slide" Target="/ppt/slides/slide1.xml" Id="R57d844e7c0e447a6" /><Relationship Type="http://schemas.openxmlformats.org/officeDocument/2006/relationships/slide" Target="/ppt/slides/slide2.xml" Id="R016e52bcef4143ba" /><Relationship Type="http://schemas.openxmlformats.org/officeDocument/2006/relationships/slide" Target="/ppt/slides/slide3.xml" Id="R87bf36c69c254130" /><Relationship Type="http://schemas.openxmlformats.org/officeDocument/2006/relationships/slide" Target="/ppt/slides/slide4.xml" Id="R42b0f93adaae4ecf" /><Relationship Type="http://schemas.openxmlformats.org/officeDocument/2006/relationships/slide" Target="/ppt/slides/slide5.xml" Id="Raa47482e0b384844" /><Relationship Type="http://schemas.openxmlformats.org/officeDocument/2006/relationships/slide" Target="/ppt/slides/slide6.xml" Id="Rf00dddab12d04390" /><Relationship Type="http://schemas.openxmlformats.org/officeDocument/2006/relationships/slide" Target="/ppt/slides/slide7.xml" Id="Rd60ae1b8725d4014" /><Relationship Type="http://schemas.openxmlformats.org/officeDocument/2006/relationships/slide" Target="/ppt/slides/slide8.xml" Id="R903facba50c94f6d" /><Relationship Type="http://schemas.openxmlformats.org/officeDocument/2006/relationships/slide" Target="/ppt/slides/slide9.xml" Id="R6d977b8a624f4511" /><Relationship Type="http://schemas.openxmlformats.org/officeDocument/2006/relationships/slide" Target="/ppt/slides/slide10.xml" Id="Reddb6745e2834728" /><Relationship Type="http://schemas.openxmlformats.org/officeDocument/2006/relationships/slide" Target="/ppt/slides/slide11.xml" Id="Rb7f30eff919640b0" /><Relationship Type="http://schemas.openxmlformats.org/officeDocument/2006/relationships/slide" Target="/ppt/slides/slide12.xml" Id="R91c5e5d479334b7a" /><Relationship Type="http://schemas.openxmlformats.org/officeDocument/2006/relationships/slide" Target="/ppt/slides/slide13.xml" Id="Rb2cb216bf0a14783" /><Relationship Type="http://schemas.openxmlformats.org/officeDocument/2006/relationships/slide" Target="/ppt/slides/slide14.xml" Id="Ra99489cb3ba247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5fb41c6d90a4bd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08c4c006c9b478d" /><Relationship Type="http://schemas.openxmlformats.org/officeDocument/2006/relationships/notesMaster" Target="/ppt/notesMasters/notesMaster1.xml" Id="R8a22db35ae7d47f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4e59ea628aa4f9d" /><Relationship Type="http://schemas.openxmlformats.org/officeDocument/2006/relationships/notesMaster" Target="/ppt/notesMasters/notesMaster1.xml" Id="R3d746a0d30284159" /></Relationships>
</file>

<file path=ppt/notesSlides/_rels/notesSlide3.xml.rels>&#65279;<?xml version="1.0" encoding="utf-8"?><Relationships xmlns="http://schemas.openxmlformats.org/package/2006/relationships"><Relationship Type="http://schemas.openxmlformats.org/officeDocument/2006/relationships/slide" Target="/ppt/slides/slide3.xml" Id="R2ac8a60f227747bd" /><Relationship Type="http://schemas.openxmlformats.org/officeDocument/2006/relationships/notesMaster" Target="/ppt/notesMasters/notesMaster1.xml" Id="Rf567a24e7f904bcb" /></Relationships>
</file>

<file path=ppt/notesSlides/_rels/notesSlide4.xml.rels>&#65279;<?xml version="1.0" encoding="utf-8"?><Relationships xmlns="http://schemas.openxmlformats.org/package/2006/relationships"><Relationship Type="http://schemas.openxmlformats.org/officeDocument/2006/relationships/slide" Target="/ppt/slides/slide4.xml" Id="Rf40402ae511c4871" /><Relationship Type="http://schemas.openxmlformats.org/officeDocument/2006/relationships/notesMaster" Target="/ppt/notesMasters/notesMaster1.xml" Id="R07cd625881db4197" /></Relationships>
</file>

<file path=ppt/notesSlides/_rels/notesSlide5.xml.rels>&#65279;<?xml version="1.0" encoding="utf-8"?><Relationships xmlns="http://schemas.openxmlformats.org/package/2006/relationships"><Relationship Type="http://schemas.openxmlformats.org/officeDocument/2006/relationships/slide" Target="/ppt/slides/slide5.xml" Id="R006074d332df4f5f" /><Relationship Type="http://schemas.openxmlformats.org/officeDocument/2006/relationships/notesMaster" Target="/ppt/notesMasters/notesMaster1.xml" Id="Rdba4a6ac2cc744a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536242c79014fcd" /><Relationship Type="http://schemas.openxmlformats.org/officeDocument/2006/relationships/notesMaster" Target="/ppt/notesMasters/notesMaster1.xml" Id="R73731c0b68fe4eb1" /></Relationships>
</file>

<file path=ppt/notesSlides/_rels/notesSlide7.xml.rels>&#65279;<?xml version="1.0" encoding="utf-8"?><Relationships xmlns="http://schemas.openxmlformats.org/package/2006/relationships"><Relationship Type="http://schemas.openxmlformats.org/officeDocument/2006/relationships/slide" Target="/ppt/slides/slide7.xml" Id="R2f0fb839e86f418c" /><Relationship Type="http://schemas.openxmlformats.org/officeDocument/2006/relationships/notesMaster" Target="/ppt/notesMasters/notesMaster1.xml" Id="Ra77c35850d3241f5" /></Relationships>
</file>

<file path=ppt/notesSlides/_rels/notesSlide8.xml.rels>&#65279;<?xml version="1.0" encoding="utf-8"?><Relationships xmlns="http://schemas.openxmlformats.org/package/2006/relationships"><Relationship Type="http://schemas.openxmlformats.org/officeDocument/2006/relationships/slide" Target="/ppt/slides/slide8.xml" Id="Rc73647c5b909416a" /><Relationship Type="http://schemas.openxmlformats.org/officeDocument/2006/relationships/notesMaster" Target="/ppt/notesMasters/notesMaster1.xml" Id="R01569094df3f4d79" /></Relationships>
</file>

<file path=ppt/notesSlides/_rels/notesSlide9.xml.rels>&#65279;<?xml version="1.0" encoding="utf-8"?><Relationships xmlns="http://schemas.openxmlformats.org/package/2006/relationships"><Relationship Type="http://schemas.openxmlformats.org/officeDocument/2006/relationships/slide" Target="/ppt/slides/slide9.xml" Id="R0a19b3d3c8eb401c" /><Relationship Type="http://schemas.openxmlformats.org/officeDocument/2006/relationships/notesMaster" Target="/ppt/notesMasters/notesMaster1.xml" Id="R1fc0287c68cf422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853d9f1bf7d45d4" /><Relationship Type="http://schemas.openxmlformats.org/officeDocument/2006/relationships/notesMaster" Target="/ppt/notesMasters/notesMaster1.xml" Id="R05c8eef0dfdc449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6d462099c8b40ef" /><Relationship Type="http://schemas.openxmlformats.org/officeDocument/2006/relationships/notesMaster" Target="/ppt/notesMasters/notesMaster1.xml" Id="R96fbe0dd0e29400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a3e3dd0586646df" /><Relationship Type="http://schemas.openxmlformats.org/officeDocument/2006/relationships/notesMaster" Target="/ppt/notesMasters/notesMaster1.xml" Id="R2199f9db4bb741a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907a6d14bee420c" /><Relationship Type="http://schemas.openxmlformats.org/officeDocument/2006/relationships/notesMaster" Target="/ppt/notesMasters/notesMaster1.xml" Id="R0076c5e70c114b8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da8bec4e9da4d85" /><Relationship Type="http://schemas.openxmlformats.org/officeDocument/2006/relationships/notesMaster" Target="/ppt/notesMasters/notesMaster1.xml" Id="R7934a74b4e15487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1 Review 2 presentation. Replace only the guide name and batch number placeholders before submission. The literature-survey companion document supports the research claims in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sequence follows all ten criteria in the Stage 1 Review 2 rubric (40 marks total). Supporting evidence appears in Ekeekrta_Literature_Survey_and_Research_Gaps.docx.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 method: structured narrative survey, not a PRISMA systematic review. Sources were selected for relevance, methodological clarity and a stated limitation or future-work need. Scope is limited to university workflows.</a:t>
            </a:r>
          </a:p>
          <a:p xmlns:a="http://schemas.openxmlformats.org/drawingml/2006/main">
            <a:r>
              <a:t>Broad LMS base: https://doi.org/10.1016/j.chb.2019.08.004</a:t>
            </a:r>
          </a:p>
          <a:p xmlns:a="http://schemas.openxmlformats.org/drawingml/2006/main">
            <a:r>
              <a:t>RBAC: https://doi.org/10.1109/2.485845</a:t>
            </a:r>
          </a:p>
          <a:p xmlns:a="http://schemas.openxmlformats.org/drawingml/2006/main">
            <a:r>
              <a:t>Programming feedback: https://doi.org/10.1145/3231711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base paper: Al-Fraihat, D., Joy, M., Masa'deh, R., &amp; Sinclair, J. (2020). Evaluating e-learning systems success: An empirical study. Computers in Human Behavior, 102, 67-86. https://doi.org/10.1016/j.chb.2019.08.004</a:t>
            </a:r>
          </a:p>
          <a:p xmlns:a="http://schemas.openxmlformats.org/drawingml/2006/main">
            <a:r>
              <a:t>This broad paper anchors the complete platform. Feature-specific papers support classroom, attendance, programming assessment, analytics, ERP, AI and gamification.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sources:</a:t>
            </a:r>
          </a:p>
          <a:p xmlns:a="http://schemas.openxmlformats.org/drawingml/2006/main">
            <a:r>
              <a:t>RBAC: https://doi.org/10.1109/2.485845</a:t>
            </a:r>
          </a:p>
          <a:p xmlns:a="http://schemas.openxmlformats.org/drawingml/2006/main">
            <a:r>
              <a:t>Programming feedback: https://doi.org/10.1145/3231711</a:t>
            </a:r>
          </a:p>
          <a:p xmlns:a="http://schemas.openxmlformats.org/drawingml/2006/main">
            <a:r>
              <a:t>E-learning success: https://doi.org/10.1016/j.chb.2019.08.004</a:t>
            </a:r>
          </a:p>
          <a:p xmlns:a="http://schemas.openxmlformats.org/drawingml/2006/main">
            <a:r>
              <a:t>Synchronous learning: https://doi.org/10.3389/fpsyg.2021.733554</a:t>
            </a:r>
          </a:p>
          <a:p xmlns:a="http://schemas.openxmlformats.org/drawingml/2006/main">
            <a:r>
              <a:t>Attendance and formative assessment: https://doi.org/10.1186/s41239-021-00307-5</a:t>
            </a:r>
          </a:p>
          <a:p xmlns:a="http://schemas.openxmlformats.org/drawingml/2006/main">
            <a:r>
              <a:t>Dashboards: https://doi.org/10.1007/s10758-022-09613-x</a:t>
            </a:r>
          </a:p>
          <a:p xmlns:a="http://schemas.openxmlformats.org/drawingml/2006/main">
            <a:r>
              <a:t>Gamification: https://doi.org/10.1186/s40561-023-00227-z</a:t>
            </a:r>
          </a:p>
          <a:p xmlns:a="http://schemas.openxmlformats.org/drawingml/2006/main">
            <a:r>
              <a:t>AI meta-review: https://doi.org/10.1186/s41239-023-00436-z</a:t>
            </a:r>
          </a:p>
          <a:p xmlns:a="http://schemas.openxmlformats.org/drawingml/2006/main">
            <a:r>
              <a:t>ERP: https://doi.org/10.14710/vol15iss1pp21-33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the full project scope. The contribution is integration and evaluation, not a claim that every individual feature is novel. Gamification remains partial, and automatic recording intelligence remains under development.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Technology references:</a:t>
            </a:r>
            <a:endParaRPr/>
          </a:p>
          <a:p xmlns:a="http://schemas.openxmlformats.org/drawingml/2006/main">
            <a:r>
              <a:t>React: https://react.dev/learn</a:t>
            </a:r>
            <a:endParaRPr/>
          </a:p>
          <a:p xmlns:a="http://schemas.openxmlformats.org/drawingml/2006/main">
            <a:r>
              <a:t>FastAPI JWT security: https://fastapi.tiangolo.com/tutorial/security/oauth2-jwt/</a:t>
            </a:r>
            <a:endParaRPr/>
          </a:p>
          <a:p xmlns:a="http://schemas.openxmlformats.org/drawingml/2006/main">
            <a:r>
              <a:t>Jitsi IFrame API: https://jitsi.github.io/handbook/docs/dev-guide/dev-guide-iframe/</a:t>
            </a:r>
            <a:endParaRPr/>
          </a:p>
          <a:p xmlns:a="http://schemas.openxmlformats.org/drawingml/2006/main">
            <a:r>
              <a:t>Gamification evidence: https://doi.org/10.1186/s40561-023-00227-z</a:t>
            </a:r>
            <a:endParaRPr/>
          </a:p>
          <a:p xmlns:a="http://schemas.openxmlformats.org/drawingml/2006/main">
            <a:r>
              <a:t>AI ethics/context evidence: https://doi.org/10.1186/s41239-023-00436-z</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Editable system architecture. Institution onboarding and role authentication enter the application layer. Course content, assessment, classroom events and analytics share the same scoped data model. Media traffic stays with the configured Jitsi provider. ERP exchange uses reviewed and idempotent events.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Verification evidence is documented in project_details.txt. The current repository records 155 backend tests and 92 subtests plus a production frontend build. No real 150-user class was load-tested. The full gamification engine and trained recording models remain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Gamification research: https://doi.org/10.1007/s10648-019-09498-w and https://doi.org/10.1186/s40561-023-00227-z</a:t>
            </a:r>
          </a:p>
          <a:p xmlns:a="http://schemas.openxmlformats.org/drawingml/2006/main">
            <a:r>
              <a:t>AI evaluation and ethics: https://doi.org/10.1186/s41239-023-00436-z</a:t>
            </a:r>
          </a:p>
          <a:p xmlns:a="http://schemas.openxmlformats.org/drawingml/2006/main">
            <a:r>
              <a:t>Jitsi Docker deployment: https://jitsi.github.io/handbook/docs/devops-guide/devops-guide-docker/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document: deliverables/Ekeekrta_Complete_Feature_Literature_Survey.docx. Other project documents include project_details.txt, README.md, docs/erp-integration.md, docs/ai-stage4-model-contract.md, deployment/jitsi/README.md and API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Publication status is manuscript in preparation. Evaluation questions and measures are defined in Ekeekrta_Literature_Survey_and_Research_Gaps.docx. A venue and submission date should be added only after approved evaluation data exist.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Base paper: https://doi.org/10.1016/j.chb.2019.08.004</a:t>
            </a:r>
          </a:p>
          <a:p xmlns:a="http://schemas.openxmlformats.org/drawingml/2006/main">
            <a:r>
              <a:t>Selected supporting evidence:</a:t>
            </a:r>
          </a:p>
          <a:p xmlns:a="http://schemas.openxmlformats.org/drawingml/2006/main">
            <a:r>
              <a:t>RBAC https://doi.org/10.1109/2.485845</a:t>
            </a:r>
          </a:p>
          <a:p xmlns:a="http://schemas.openxmlformats.org/drawingml/2006/main">
            <a:r>
              <a:t>Programming assessment https://doi.org/10.1145/3231711</a:t>
            </a:r>
          </a:p>
          <a:p xmlns:a="http://schemas.openxmlformats.org/drawingml/2006/main">
            <a:r>
              <a:t>Synchronous learning https://doi.org/10.3389/fpsyg.2021.733554</a:t>
            </a:r>
          </a:p>
          <a:p xmlns:a="http://schemas.openxmlformats.org/drawingml/2006/main">
            <a:r>
              <a:t>Attendance and assessment https://doi.org/10.1186/s41239-021-00307-5</a:t>
            </a:r>
          </a:p>
          <a:p xmlns:a="http://schemas.openxmlformats.org/drawingml/2006/main">
            <a:r>
              <a:t>Dashboards https://doi.org/10.1007/s10758-022-09613-x</a:t>
            </a:r>
          </a:p>
          <a:p xmlns:a="http://schemas.openxmlformats.org/drawingml/2006/main">
            <a:r>
              <a:t>Gamification https://doi.org/10.1186/s40561-023-00227-z</a:t>
            </a:r>
          </a:p>
          <a:p xmlns:a="http://schemas.openxmlformats.org/drawingml/2006/main">
            <a:r>
              <a:t>AI https://doi.org/10.1186/s41239-023-00436-z</a:t>
            </a:r>
          </a:p>
          <a:p xmlns:a="http://schemas.openxmlformats.org/drawingml/2006/main">
            <a:r>
              <a:t>ERP https://doi.org/10.14710/vol15iss1pp21-33</a:t>
            </a:r>
          </a:p>
          <a:p xmlns:a="http://schemas.openxmlformats.org/drawingml/2006/main">
            <a:r>
              <a:t>Full annotated matrix: Ekeekrta_Complete_Feature_Literature_Survey.docx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of Stage 1 Review 2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f6ecfc586ff496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c360f737668498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3709541e2804b0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5a0c4a70e3e40e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d8affd3c58a46c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82099dc6304483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f6229f863f1429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ec766d082be491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01c25e6ce674a2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0fbfdab864a46d4"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897d2b31d5c143ac"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f39be36716174d27" /><Relationship Type="http://schemas.openxmlformats.org/officeDocument/2006/relationships/image" Target="/ppt/media/image.jpeg" Id="R72e40af8a48f40f3"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a4598b56a02f4aad" /><Relationship Type="http://schemas.openxmlformats.org/officeDocument/2006/relationships/image" Target="/ppt/media/image2.jpeg" Id="R91782c83b4884df6"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a2a70a1eb0ba4ce2"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E803265-82B4-43E4-9FE4-C28AA9A1F964}"/>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4B3739BE-A529-4CF8-94B5-13AAF03EBCF8}"/>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64DD4D7E-66E1-408A-BA8B-253C3687CEB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5" name="Footer Placeholder 4">
            <a:extLst xmlns:a="http://schemas.openxmlformats.org/drawingml/2006/main">
              <a:ext uri="{FF2B5EF4-FFF2-40B4-BE49-F238E27FC236}">
                <a16:creationId xmlns:a16="http://schemas.microsoft.com/office/drawing/2014/main" id="{12CF0BC6-5B16-4821-BB14-F42934A5430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6" name="Slide Number Placeholder 5">
            <a:extLst xmlns:a="http://schemas.openxmlformats.org/drawingml/2006/main">
              <a:ext uri="{FF2B5EF4-FFF2-40B4-BE49-F238E27FC236}">
                <a16:creationId xmlns:a16="http://schemas.microsoft.com/office/drawing/2014/main" id="{8A06B2FB-74CB-41A8-9EC7-EA2ADA495ED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4AB6676-E4A2-4FD3-921C-9F128AE3AA7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D2A03D96-6CCA-4D2C-B737-CE1E27B844E2}"/>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FEF7F45-84E4-44BC-BCCB-4338FE4BD73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5" name="Footer Placeholder 4">
            <a:extLst xmlns:a="http://schemas.openxmlformats.org/drawingml/2006/main">
              <a:ext uri="{FF2B5EF4-FFF2-40B4-BE49-F238E27FC236}">
                <a16:creationId xmlns:a16="http://schemas.microsoft.com/office/drawing/2014/main" id="{C3CAAD77-397A-436E-81A3-D7CF73EF7DA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6" name="Slide Number Placeholder 5">
            <a:extLst xmlns:a="http://schemas.openxmlformats.org/drawingml/2006/main">
              <a:ext uri="{FF2B5EF4-FFF2-40B4-BE49-F238E27FC236}">
                <a16:creationId xmlns:a16="http://schemas.microsoft.com/office/drawing/2014/main" id="{B3B4B99D-096D-4595-A068-165172AD61C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87C93D8-0DA4-462A-AD95-754E3A173362}"/>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B5B26132-E25E-4AFD-A60D-1FF824D131F3}"/>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endParaRPr/>
          </a:p>
        </p:txBody>
      </p:sp>
      <p:sp>
        <p:nvSpPr>
          <p:cNvPr id="4" name="Date Placeholder 3">
            <a:extLst xmlns:a="http://schemas.openxmlformats.org/drawingml/2006/main">
              <a:ext uri="{FF2B5EF4-FFF2-40B4-BE49-F238E27FC236}">
                <a16:creationId xmlns:a16="http://schemas.microsoft.com/office/drawing/2014/main" id="{3B4AB488-F053-48C1-8277-1D0B30632ED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5" name="Footer Placeholder 4">
            <a:extLst xmlns:a="http://schemas.openxmlformats.org/drawingml/2006/main">
              <a:ext uri="{FF2B5EF4-FFF2-40B4-BE49-F238E27FC236}">
                <a16:creationId xmlns:a16="http://schemas.microsoft.com/office/drawing/2014/main" id="{D6AAF20A-B69B-47FA-8E05-5849B7C001B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6" name="Slide Number Placeholder 5">
            <a:extLst xmlns:a="http://schemas.openxmlformats.org/drawingml/2006/main">
              <a:ext uri="{FF2B5EF4-FFF2-40B4-BE49-F238E27FC236}">
                <a16:creationId xmlns:a16="http://schemas.microsoft.com/office/drawing/2014/main" id="{BB708C5B-0D82-47A5-93FE-8440D505446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A14D849-CDE1-4B1B-BA08-5AFC5A8DAF2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31AF0B88-A1F6-4216-8E49-AADE7C22240F}"/>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C9807115-803D-4329-952A-13F4D27C1D7F}"/>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5" name="Date Placeholder 3">
            <a:extLst xmlns:a="http://schemas.openxmlformats.org/drawingml/2006/main">
              <a:ext uri="{FF2B5EF4-FFF2-40B4-BE49-F238E27FC236}">
                <a16:creationId xmlns:a16="http://schemas.microsoft.com/office/drawing/2014/main" id="{562241DC-0CBF-4954-BE55-83C87B1E401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6" name="Footer Placeholder 4">
            <a:extLst xmlns:a="http://schemas.openxmlformats.org/drawingml/2006/main">
              <a:ext uri="{FF2B5EF4-FFF2-40B4-BE49-F238E27FC236}">
                <a16:creationId xmlns:a16="http://schemas.microsoft.com/office/drawing/2014/main" id="{C7918C8D-72ED-47A5-A389-332E743DF99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7" name="Slide Number Placeholder 5">
            <a:extLst xmlns:a="http://schemas.openxmlformats.org/drawingml/2006/main">
              <a:ext uri="{FF2B5EF4-FFF2-40B4-BE49-F238E27FC236}">
                <a16:creationId xmlns:a16="http://schemas.microsoft.com/office/drawing/2014/main" id="{2C8A4C5C-C8AD-47FC-B300-CEC50CEFE68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7B3D1F8-A8B8-4DCE-AC69-C6124AE184E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6EE07692-63FC-4FC3-82A6-18EB14F0BE46}"/>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endParaRPr/>
          </a:p>
        </p:txBody>
      </p:sp>
      <p:sp>
        <p:nvSpPr>
          <p:cNvPr id="4" name="Content Placeholder 3">
            <a:extLst xmlns:a="http://schemas.openxmlformats.org/drawingml/2006/main">
              <a:ext uri="{FF2B5EF4-FFF2-40B4-BE49-F238E27FC236}">
                <a16:creationId xmlns:a16="http://schemas.microsoft.com/office/drawing/2014/main" id="{8F8967AB-445F-4790-8D7E-44A5BC9F0711}"/>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EDE70D8D-686A-41B7-B4C4-0D7067FC5A6C}"/>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endParaRPr/>
          </a:p>
        </p:txBody>
      </p:sp>
      <p:sp>
        <p:nvSpPr>
          <p:cNvPr id="6" name="Content Placeholder 5">
            <a:extLst xmlns:a="http://schemas.openxmlformats.org/drawingml/2006/main">
              <a:ext uri="{FF2B5EF4-FFF2-40B4-BE49-F238E27FC236}">
                <a16:creationId xmlns:a16="http://schemas.microsoft.com/office/drawing/2014/main" id="{0C20AA51-58EB-48DF-87A0-993F04135B3D}"/>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7" name="Date Placeholder 3">
            <a:extLst xmlns:a="http://schemas.openxmlformats.org/drawingml/2006/main">
              <a:ext uri="{FF2B5EF4-FFF2-40B4-BE49-F238E27FC236}">
                <a16:creationId xmlns:a16="http://schemas.microsoft.com/office/drawing/2014/main" id="{7D1B0A7E-16E7-4E3F-984E-458623A2911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8" name="Footer Placeholder 4">
            <a:extLst xmlns:a="http://schemas.openxmlformats.org/drawingml/2006/main">
              <a:ext uri="{FF2B5EF4-FFF2-40B4-BE49-F238E27FC236}">
                <a16:creationId xmlns:a16="http://schemas.microsoft.com/office/drawing/2014/main" id="{9C5F90EB-541B-4D5F-8CEB-FEE31ADEB77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9" name="Slide Number Placeholder 5">
            <a:extLst xmlns:a="http://schemas.openxmlformats.org/drawingml/2006/main">
              <a:ext uri="{FF2B5EF4-FFF2-40B4-BE49-F238E27FC236}">
                <a16:creationId xmlns:a16="http://schemas.microsoft.com/office/drawing/2014/main" id="{63497E97-93D5-4D47-B7F5-6E336A8E84A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A5E53DD-9A33-43DE-B781-1F801B35D69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3">
            <a:extLst xmlns:a="http://schemas.openxmlformats.org/drawingml/2006/main">
              <a:ext uri="{FF2B5EF4-FFF2-40B4-BE49-F238E27FC236}">
                <a16:creationId xmlns:a16="http://schemas.microsoft.com/office/drawing/2014/main" id="{A19124AE-567D-4AF7-A7CD-62D5F440293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4" name="Footer Placeholder 4">
            <a:extLst xmlns:a="http://schemas.openxmlformats.org/drawingml/2006/main">
              <a:ext uri="{FF2B5EF4-FFF2-40B4-BE49-F238E27FC236}">
                <a16:creationId xmlns:a16="http://schemas.microsoft.com/office/drawing/2014/main" id="{5DE85D84-51AE-4D09-97D1-C44C24AC495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5" name="Slide Number Placeholder 5">
            <a:extLst xmlns:a="http://schemas.openxmlformats.org/drawingml/2006/main">
              <a:ext uri="{FF2B5EF4-FFF2-40B4-BE49-F238E27FC236}">
                <a16:creationId xmlns:a16="http://schemas.microsoft.com/office/drawing/2014/main" id="{B1BD7A5C-488E-40D6-A87F-541784F7B94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3">
            <a:extLst xmlns:a="http://schemas.openxmlformats.org/drawingml/2006/main">
              <a:ext uri="{FF2B5EF4-FFF2-40B4-BE49-F238E27FC236}">
                <a16:creationId xmlns:a16="http://schemas.microsoft.com/office/drawing/2014/main" id="{9FC2FB5D-8B35-472E-8C8B-6270E59A3EA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3" name="Footer Placeholder 4">
            <a:extLst xmlns:a="http://schemas.openxmlformats.org/drawingml/2006/main">
              <a:ext uri="{FF2B5EF4-FFF2-40B4-BE49-F238E27FC236}">
                <a16:creationId xmlns:a16="http://schemas.microsoft.com/office/drawing/2014/main" id="{B480D840-42D5-49B7-B872-A2599A391EE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4" name="Slide Number Placeholder 5">
            <a:extLst xmlns:a="http://schemas.openxmlformats.org/drawingml/2006/main">
              <a:ext uri="{FF2B5EF4-FFF2-40B4-BE49-F238E27FC236}">
                <a16:creationId xmlns:a16="http://schemas.microsoft.com/office/drawing/2014/main" id="{1D063E84-246C-4F9E-89CA-9B2C0E42ABB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27FEBFF-C3DF-4187-88CE-4780A8318C45}"/>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45B28F1C-1666-4671-8AFE-7F28DFA9A281}"/>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0167CACC-36DF-4EC4-9A1E-5069B7B2836B}"/>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endParaRPr/>
          </a:p>
        </p:txBody>
      </p:sp>
      <p:sp>
        <p:nvSpPr>
          <p:cNvPr id="5" name="Date Placeholder 3">
            <a:extLst xmlns:a="http://schemas.openxmlformats.org/drawingml/2006/main">
              <a:ext uri="{FF2B5EF4-FFF2-40B4-BE49-F238E27FC236}">
                <a16:creationId xmlns:a16="http://schemas.microsoft.com/office/drawing/2014/main" id="{E7D0E52A-C45B-4881-8F89-221CD8786A3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6" name="Footer Placeholder 4">
            <a:extLst xmlns:a="http://schemas.openxmlformats.org/drawingml/2006/main">
              <a:ext uri="{FF2B5EF4-FFF2-40B4-BE49-F238E27FC236}">
                <a16:creationId xmlns:a16="http://schemas.microsoft.com/office/drawing/2014/main" id="{2216FFBA-1BBB-4276-9632-061E66A6006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7" name="Slide Number Placeholder 5">
            <a:extLst xmlns:a="http://schemas.openxmlformats.org/drawingml/2006/main">
              <a:ext uri="{FF2B5EF4-FFF2-40B4-BE49-F238E27FC236}">
                <a16:creationId xmlns:a16="http://schemas.microsoft.com/office/drawing/2014/main" id="{9456EE41-7FA4-4894-85E9-B5D80A4E7E9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7FD5C55-29E1-4770-AC60-158D72A78969}"/>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366627DE-ADD5-4650-8885-432E14A4544A}"/>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normAutofit/>
          </a:bodyPr>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lvl="0">
              <a:buNone/>
            </a:pPr>
            <a:endParaRPr/>
          </a:p>
        </p:txBody>
      </p:sp>
      <p:sp>
        <p:nvSpPr>
          <p:cNvPr id="4" name="Text Placeholder 3">
            <a:extLst xmlns:a="http://schemas.openxmlformats.org/drawingml/2006/main">
              <a:ext uri="{FF2B5EF4-FFF2-40B4-BE49-F238E27FC236}">
                <a16:creationId xmlns:a16="http://schemas.microsoft.com/office/drawing/2014/main" id="{B29F3C01-79DE-4FE0-B61F-DA4ADF9E7892}"/>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endParaRPr/>
          </a:p>
        </p:txBody>
      </p:sp>
      <p:sp>
        <p:nvSpPr>
          <p:cNvPr id="5" name="Date Placeholder 3">
            <a:extLst xmlns:a="http://schemas.openxmlformats.org/drawingml/2006/main">
              <a:ext uri="{FF2B5EF4-FFF2-40B4-BE49-F238E27FC236}">
                <a16:creationId xmlns:a16="http://schemas.microsoft.com/office/drawing/2014/main" id="{23F1E979-63E4-4BA1-B1A8-5F9E300779E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6" name="Footer Placeholder 4">
            <a:extLst xmlns:a="http://schemas.openxmlformats.org/drawingml/2006/main">
              <a:ext uri="{FF2B5EF4-FFF2-40B4-BE49-F238E27FC236}">
                <a16:creationId xmlns:a16="http://schemas.microsoft.com/office/drawing/2014/main" id="{D23AED8A-1705-4ABA-BC01-F465372B74D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7" name="Slide Number Placeholder 5">
            <a:extLst xmlns:a="http://schemas.openxmlformats.org/drawingml/2006/main">
              <a:ext uri="{FF2B5EF4-FFF2-40B4-BE49-F238E27FC236}">
                <a16:creationId xmlns:a16="http://schemas.microsoft.com/office/drawing/2014/main" id="{951A863B-F2C3-485B-8F30-F4A5A54CEA1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02AE08B-76A1-47A3-BBE2-4EE29473245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AD93C073-5D98-47A2-8529-DB74427D90F0}"/>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2D84CAD8-051E-493E-B206-F6DFADBB9F6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5" name="Footer Placeholder 4">
            <a:extLst xmlns:a="http://schemas.openxmlformats.org/drawingml/2006/main">
              <a:ext uri="{FF2B5EF4-FFF2-40B4-BE49-F238E27FC236}">
                <a16:creationId xmlns:a16="http://schemas.microsoft.com/office/drawing/2014/main" id="{2A7DE159-5357-4C49-85C2-F57A80E2894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6" name="Slide Number Placeholder 5">
            <a:extLst xmlns:a="http://schemas.openxmlformats.org/drawingml/2006/main">
              <a:ext uri="{FF2B5EF4-FFF2-40B4-BE49-F238E27FC236}">
                <a16:creationId xmlns:a16="http://schemas.microsoft.com/office/drawing/2014/main" id="{91288FCD-8CD6-4DF4-81D1-62FCACC2E8A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FCE11824-660A-40B9-BDDC-76E3BE128F42}"/>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06E9DFAE-3E3E-44D5-B264-9E7D58A3232B}"/>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202C8DB-37F9-411B-B861-6E8322E79C6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5" name="Footer Placeholder 4">
            <a:extLst xmlns:a="http://schemas.openxmlformats.org/drawingml/2006/main">
              <a:ext uri="{FF2B5EF4-FFF2-40B4-BE49-F238E27FC236}">
                <a16:creationId xmlns:a16="http://schemas.microsoft.com/office/drawing/2014/main" id="{C8CF6E3D-7DDD-4B44-A61D-C8E7CDC20E3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6" name="Slide Number Placeholder 5">
            <a:extLst xmlns:a="http://schemas.openxmlformats.org/drawingml/2006/main">
              <a:ext uri="{FF2B5EF4-FFF2-40B4-BE49-F238E27FC236}">
                <a16:creationId xmlns:a16="http://schemas.microsoft.com/office/drawing/2014/main" id="{3AA2C5BA-8AB2-4AA9-9ACB-7A8B4628853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Tree>
  </p:cSld>
</p:sldLayout>
</file>

<file path=ppt/slideLayouts/slideLayout12.xml><?xml version="1.0" encoding="utf-8"?>
<p:sldLayout xmlns:p="http://schemas.openxmlformats.org/presentationml/2006/main" userDrawn="1">
  <p:cSld name="1_Title Slide">
    <p:spTree>
      <p:nvGrpSpPr>
        <p:cNvPr id="1" name=""/>
        <p:cNvGrpSpPr/>
        <p:nvPr/>
      </p:nvGrpSpPr>
      <p:grpSpPr>
        <a:xfrm xmlns:a="http://schemas.openxmlformats.org/drawingml/2006/main"/>
      </p:grpSpPr>
      <p:pic>
        <p:nvPicPr>
          <p:cNvPr id="9" name="Picture 6"/>
          <p:cNvPicPr>
            <a:picLocks xmlns:a="http://schemas.openxmlformats.org/drawingml/2006/main" noChangeAspect="1"/>
          </p:cNvPicPr>
          <p:nvPr/>
        </p:nvPicPr>
        <p:blipFill>
          <a:blip xmlns:r="http://schemas.openxmlformats.org/officeDocument/2006/relationships" xmlns:a="http://schemas.openxmlformats.org/drawingml/2006/main" r:embed="R72e40af8a48f40f3"/>
          <a:srcRect xmlns:a="http://schemas.openxmlformats.org/drawingml/2006/main" l="0" t="0" r="0" b="0"/>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a:ln xmlns:a="http://schemas.openxmlformats.org/drawingml/2006/main" w="9525">
            <a:noFill/>
            <a:miter/>
          </a:ln>
        </p:spPr>
      </p:pic>
      <p:sp>
        <p:nvSpPr>
          <p:cNvPr id="3" name="Rectangle 2">
            <a:extLst xmlns:a="http://schemas.openxmlformats.org/drawingml/2006/main">
              <a:ext uri="{FF2B5EF4-FFF2-40B4-BE49-F238E27FC236}">
                <a16:creationId xmlns:a16="http://schemas.microsoft.com/office/drawing/2014/main" id="{C9924452-D1FB-4E25-B678-D352140F03D6}"/>
              </a:ext>
            </a:extLst>
          </p:cNvPr>
          <p:cNvSpPr>
            <a:spLocks xmlns:a="http://schemas.openxmlformats.org/drawingml/2006/main" noGrp="1"/>
          </p:cNvSpPr>
          <p:nvPr/>
        </p:nvSpPr>
        <p:spPr>
          <a:xfrm xmlns:a="http://schemas.openxmlformats.org/drawingml/2006/main">
            <a:off x="381000" y="6521450"/>
            <a:ext cx="45720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a:spAutoFit/>
          </a:bodyPr>
          <a:lstStyle xmlns:a="http://schemas.openxmlformats.org/drawingml/2006/main">
            <a:lvl1pPr>
              <a:buNone/>
              <a:defRPr>
                <a:solidFill>
                  <a:schemeClr val="tx1"/>
                </a:solidFill>
                <a:latin typeface="Arial"/>
                <a:ea typeface="Arial"/>
                <a:cs typeface="Arial"/>
              </a:defRPr>
            </a:lvl1pPr>
            <a:lvl2pPr marL="742950" indent="-285750">
              <a:buNone/>
              <a:defRPr>
                <a:solidFill>
                  <a:schemeClr val="tx1"/>
                </a:solidFill>
                <a:latin typeface="Arial"/>
                <a:ea typeface="Arial"/>
                <a:cs typeface="Arial"/>
              </a:defRPr>
            </a:lvl2pPr>
            <a:lvl3pPr marL="1143000" indent="-228600">
              <a:buNone/>
              <a:defRPr>
                <a:solidFill>
                  <a:schemeClr val="tx1"/>
                </a:solidFill>
                <a:latin typeface="Arial"/>
                <a:ea typeface="Arial"/>
                <a:cs typeface="Arial"/>
              </a:defRPr>
            </a:lvl3pPr>
            <a:lvl4pPr marL="1600200" indent="-228600">
              <a:buNone/>
              <a:defRPr>
                <a:solidFill>
                  <a:schemeClr val="tx1"/>
                </a:solidFill>
                <a:latin typeface="Arial"/>
                <a:ea typeface="Arial"/>
                <a:cs typeface="Arial"/>
              </a:defRPr>
            </a:lvl4pPr>
            <a:lvl5pPr marL="2057400" indent="-228600">
              <a:buNone/>
              <a:defRPr>
                <a:solidFill>
                  <a:schemeClr val="tx1"/>
                </a:solidFill>
                <a:latin typeface="Arial"/>
                <a:ea typeface="Arial"/>
                <a:cs typeface="Arial"/>
              </a:defRPr>
            </a:lvl5pPr>
            <a:lvl6pPr marL="2514600" indent="-228600">
              <a:spcBef>
                <a:spcPct val="0"/>
              </a:spcBef>
              <a:spcAft>
                <a:spcPct val="0"/>
              </a:spcAft>
              <a:buNone/>
              <a:defRPr>
                <a:solidFill>
                  <a:schemeClr val="tx1"/>
                </a:solidFill>
                <a:latin typeface="Arial"/>
                <a:ea typeface="Arial"/>
                <a:cs typeface="Arial"/>
              </a:defRPr>
            </a:lvl6pPr>
            <a:lvl7pPr marL="2971800" indent="-228600">
              <a:spcBef>
                <a:spcPct val="0"/>
              </a:spcBef>
              <a:spcAft>
                <a:spcPct val="0"/>
              </a:spcAft>
              <a:buNone/>
              <a:defRPr>
                <a:solidFill>
                  <a:schemeClr val="tx1"/>
                </a:solidFill>
                <a:latin typeface="Arial"/>
                <a:ea typeface="Arial"/>
                <a:cs typeface="Arial"/>
              </a:defRPr>
            </a:lvl7pPr>
            <a:lvl8pPr marL="3429000" indent="-228600">
              <a:spcBef>
                <a:spcPct val="0"/>
              </a:spcBef>
              <a:spcAft>
                <a:spcPct val="0"/>
              </a:spcAft>
              <a:buNone/>
              <a:defRPr>
                <a:solidFill>
                  <a:schemeClr val="tx1"/>
                </a:solidFill>
                <a:latin typeface="Arial"/>
                <a:ea typeface="Arial"/>
                <a:cs typeface="Arial"/>
              </a:defRPr>
            </a:lvl8pPr>
            <a:lvl9pPr marL="3886200" indent="-228600">
              <a:spcBef>
                <a:spcPct val="0"/>
              </a:spcBef>
              <a:spcAft>
                <a:spcPct val="0"/>
              </a:spcAft>
              <a:buNone/>
              <a:defRPr>
                <a:solidFill>
                  <a:schemeClr val="tx1"/>
                </a:solidFill>
                <a:latin typeface="Arial"/>
                <a:ea typeface="Arial"/>
                <a:cs typeface="Arial"/>
              </a:defRPr>
            </a:lvl9pPr>
          </a:lstStyle>
          <a:p xmlns:a="http://schemas.openxmlformats.org/drawingml/2006/main">
            <a:pPr>
              <a:buNone/>
            </a:pPr>
            <a:r>
              <a:rPr sz="700"/>
              <a:t>© Copyrights 2018 HITAM. All rights reserved.</a:t>
            </a:r>
            <a:endParaRPr sz="700"/>
          </a:p>
        </p:txBody>
      </p:sp>
      <p:sp>
        <p:nvSpPr>
          <p:cNvPr id="4" name="Rectangle 3">
            <a:extLst xmlns:a="http://schemas.openxmlformats.org/drawingml/2006/main">
              <a:ext uri="{FF2B5EF4-FFF2-40B4-BE49-F238E27FC236}">
                <a16:creationId xmlns:a16="http://schemas.microsoft.com/office/drawing/2014/main" id="{745AF1F7-5046-410A-AC77-329143B5D8E0}"/>
              </a:ext>
            </a:extLst>
          </p:cNvPr>
          <p:cNvSpPr>
            <a:spLocks xmlns:a="http://schemas.openxmlformats.org/drawingml/2006/main" noGrp="1"/>
          </p:cNvSpPr>
          <p:nvPr/>
        </p:nvSpPr>
        <p:spPr>
          <a:xfrm xmlns:a="http://schemas.openxmlformats.org/drawingml/2006/main">
            <a:off x="8431213" y="6521450"/>
            <a:ext cx="457200" cy="246063"/>
          </a:xfrm>
          <a:prstGeom xmlns:a="http://schemas.openxmlformats.org/drawingml/2006/main" prst="rect">
            <a:avLst/>
          </a:prstGeom>
        </p:spPr>
        <p:txBody>
          <a:bodyPr xmlns:a="http://schemas.openxmlformats.org/drawingml/2006/main" lIns="0">
            <a:spAutoFit/>
          </a:bodyPr>
          <a:lstStyle xmlns:a="http://schemas.openxmlformats.org/drawingml/2006/main"/>
          <a:p xmlns:a="http://schemas.openxmlformats.org/drawingml/2006/main">
            <a:pPr algn="r">
              <a:buNone/>
            </a:pPr>
            <a:endParaRPr sz="1000">
              <a:solidFill>
                <a:srgbClr val="3C3C3C"/>
              </a:solidFill>
            </a:endParaRPr>
          </a:p>
        </p:txBody>
      </p:sp>
      <p:sp>
        <p:nvSpPr>
          <p:cNvPr id="5" name="Date Placeholder 3">
            <a:extLst xmlns:a="http://schemas.openxmlformats.org/drawingml/2006/main">
              <a:ext uri="{FF2B5EF4-FFF2-40B4-BE49-F238E27FC236}">
                <a16:creationId xmlns:a16="http://schemas.microsoft.com/office/drawing/2014/main" id="{9D03B3CC-46D2-4411-BEA4-EC1E70F3BBE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6" name="Footer Placeholder 4">
            <a:extLst xmlns:a="http://schemas.openxmlformats.org/drawingml/2006/main">
              <a:ext uri="{FF2B5EF4-FFF2-40B4-BE49-F238E27FC236}">
                <a16:creationId xmlns:a16="http://schemas.microsoft.com/office/drawing/2014/main" id="{A9B8BA83-5FD5-4E0A-A037-7D8402E2F3A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7" name="Slide Number Placeholder 5">
            <a:extLst xmlns:a="http://schemas.openxmlformats.org/drawingml/2006/main">
              <a:ext uri="{FF2B5EF4-FFF2-40B4-BE49-F238E27FC236}">
                <a16:creationId xmlns:a16="http://schemas.microsoft.com/office/drawing/2014/main" id="{AB0DE339-C651-4BBF-9E21-5EC07DFDEAB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Tree>
  </p:cSld>
</p:sldLayout>
</file>

<file path=ppt/slideLayouts/slideLayout13.xml><?xml version="1.0" encoding="utf-8"?>
<p:sldLayout xmlns:p="http://schemas.openxmlformats.org/presentationml/2006/main" userDrawn="1">
  <p:cSld name="1_Two Content">
    <p:spTree>
      <p:nvGrpSpPr>
        <p:cNvPr id="1" name=""/>
        <p:cNvGrpSpPr/>
        <p:nvPr/>
      </p:nvGrpSpPr>
      <p:grpSpPr>
        <a:xfrm xmlns:a="http://schemas.openxmlformats.org/drawingml/2006/main"/>
      </p:grpSpPr>
      <p:pic>
        <p:nvPicPr>
          <p:cNvPr id="6" name="Picture 6"/>
          <p:cNvPicPr>
            <a:picLocks xmlns:a="http://schemas.openxmlformats.org/drawingml/2006/main" noChangeAspect="1"/>
          </p:cNvPicPr>
          <p:nvPr/>
        </p:nvPicPr>
        <p:blipFill>
          <a:blip xmlns:r="http://schemas.openxmlformats.org/officeDocument/2006/relationships" xmlns:a="http://schemas.openxmlformats.org/drawingml/2006/main" r:embed="R91782c83b4884df6"/>
          <a:srcRect xmlns:a="http://schemas.openxmlformats.org/drawingml/2006/main" l="0" t="0" r="0" b="0"/>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a:ln xmlns:a="http://schemas.openxmlformats.org/drawingml/2006/main" w="9525">
            <a:noFill/>
            <a:miter/>
          </a:ln>
        </p:spPr>
      </p:pic>
      <p:sp>
        <p:nvSpPr>
          <p:cNvPr id="3" name="Rectangle 2">
            <a:extLst xmlns:a="http://schemas.openxmlformats.org/drawingml/2006/main">
              <a:ext uri="{FF2B5EF4-FFF2-40B4-BE49-F238E27FC236}">
                <a16:creationId xmlns:a16="http://schemas.microsoft.com/office/drawing/2014/main" id="{CCA9C6AE-B014-471F-A38A-01379148F456}"/>
              </a:ext>
            </a:extLst>
          </p:cNvPr>
          <p:cNvSpPr>
            <a:spLocks xmlns:a="http://schemas.openxmlformats.org/drawingml/2006/main" noGrp="1"/>
          </p:cNvSpPr>
          <p:nvPr/>
        </p:nvSpPr>
        <p:spPr>
          <a:xfrm xmlns:a="http://schemas.openxmlformats.org/drawingml/2006/main">
            <a:off x="381000" y="6521450"/>
            <a:ext cx="4572000" cy="200025"/>
          </a:xfrm>
          <a:prstGeom xmlns:a="http://schemas.openxmlformats.org/drawingml/2006/main" prst="rect">
            <a:avLst/>
          </a:prstGeom>
        </p:spPr>
        <p:txBody>
          <a:bodyPr xmlns:a="http://schemas.openxmlformats.org/drawingml/2006/main" lIns="0">
            <a:spAutoFit/>
          </a:bodyPr>
          <a:lstStyle xmlns:a="http://schemas.openxmlformats.org/drawingml/2006/main"/>
          <a:p xmlns:a="http://schemas.openxmlformats.org/drawingml/2006/main">
            <a:pPr>
              <a:spcBef>
                <a:spcPts val="0"/>
              </a:spcBef>
              <a:spcAft>
                <a:spcPts val="0"/>
              </a:spcAft>
              <a:buNone/>
            </a:pPr>
            <a:r>
              <a:rPr sz="700">
                <a:latin typeface="+mn-lt"/>
                <a:ea typeface="+mn-lt"/>
                <a:cs typeface="+mn-lt"/>
              </a:rPr>
              <a:t>© Copyrights 2018 HITAM. All rights reserved.</a:t>
            </a:r>
            <a:endParaRPr sz="700">
              <a:latin typeface="+mn-lt"/>
              <a:ea typeface="+mn-lt"/>
              <a:cs typeface="+mn-lt"/>
            </a:endParaRPr>
          </a:p>
        </p:txBody>
      </p:sp>
      <p:sp>
        <p:nvSpPr>
          <p:cNvPr id="4" name="Rectangle 3">
            <a:extLst xmlns:a="http://schemas.openxmlformats.org/drawingml/2006/main">
              <a:ext uri="{FF2B5EF4-FFF2-40B4-BE49-F238E27FC236}">
                <a16:creationId xmlns:a16="http://schemas.microsoft.com/office/drawing/2014/main" id="{B8E2F8A5-5C43-4171-881C-AFD1FD4D8E74}"/>
              </a:ext>
            </a:extLst>
          </p:cNvPr>
          <p:cNvSpPr>
            <a:spLocks xmlns:a="http://schemas.openxmlformats.org/drawingml/2006/main" noGrp="1"/>
          </p:cNvSpPr>
          <p:nvPr/>
        </p:nvSpPr>
        <p:spPr>
          <a:xfrm xmlns:a="http://schemas.openxmlformats.org/drawingml/2006/main">
            <a:off x="8431213" y="6521450"/>
            <a:ext cx="457200" cy="246063"/>
          </a:xfrm>
          <a:prstGeom xmlns:a="http://schemas.openxmlformats.org/drawingml/2006/main" prst="rect">
            <a:avLst/>
          </a:prstGeom>
        </p:spPr>
        <p:txBody>
          <a:bodyPr xmlns:a="http://schemas.openxmlformats.org/drawingml/2006/main" lIns="0">
            <a:spAutoFit/>
          </a:bodyPr>
          <a:lstStyle xmlns:a="http://schemas.openxmlformats.org/drawingml/2006/main"/>
          <a:p xmlns:a="http://schemas.openxmlformats.org/drawingml/2006/main">
            <a:pPr algn="r">
              <a:spcBef>
                <a:spcPts val="0"/>
              </a:spcBef>
              <a:spcAft>
                <a:spcPts val="0"/>
              </a:spcAft>
              <a:buNone/>
            </a:pPr>
            <a:endParaRPr sz="1000">
              <a:solidFill>
                <a:schemeClr val="tx1">
                  <a:lumMod val="90000"/>
                  <a:lumOff val="10000"/>
                </a:schemeClr>
              </a:solidFill>
              <a:latin typeface="+mn-lt"/>
              <a:ea typeface="+mn-lt"/>
              <a:cs typeface="+mn-lt"/>
            </a:endParaRPr>
          </a:p>
        </p:txBody>
      </p:sp>
    </p:spTree>
  </p:cSld>
</p:sldLayout>
</file>

<file path=ppt/slideLayouts/slideLayout14.xml><?xml version="1.0" encoding="utf-8"?>
<p:sldLayout xmlns:p="http://schemas.openxmlformats.org/presentationml/2006/main" preserve="1">
  <p:cSld name="Title and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79A1E78-EF35-4363-999C-A093C699D72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5C8D9B49-9E88-4E4D-8882-9AFA60C0CA28}"/>
              </a:ext>
            </a:extLst>
          </p:cNvPr>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0943B794-BF00-47AB-BD1B-495E82A84A7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endParaRPr/>
          </a:p>
        </p:txBody>
      </p:sp>
      <p:sp>
        <p:nvSpPr>
          <p:cNvPr id="5" name="Footer Placeholder 4">
            <a:extLst xmlns:a="http://schemas.openxmlformats.org/drawingml/2006/main">
              <a:ext uri="{FF2B5EF4-FFF2-40B4-BE49-F238E27FC236}">
                <a16:creationId xmlns:a16="http://schemas.microsoft.com/office/drawing/2014/main" id="{B35DD73C-8F4B-4F01-9A7D-835D20E16C0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endParaRPr/>
          </a:p>
        </p:txBody>
      </p:sp>
      <p:sp>
        <p:nvSpPr>
          <p:cNvPr id="6" name="Slide Number Placeholder 5">
            <a:extLst xmlns:a="http://schemas.openxmlformats.org/drawingml/2006/main">
              <a:ext uri="{FF2B5EF4-FFF2-40B4-BE49-F238E27FC236}">
                <a16:creationId xmlns:a16="http://schemas.microsoft.com/office/drawing/2014/main" id="{FAC11CBA-37E8-4859-B568-AA7B134902E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6a1f973c19014866" /><Relationship Type="http://schemas.openxmlformats.org/officeDocument/2006/relationships/theme" Target="/ppt/slideMasters/theme/theme2.xml" Id="Ra3ccf20c690745a9" /><Relationship Type="http://schemas.openxmlformats.org/officeDocument/2006/relationships/slideLayout" Target="/ppt/slideLayouts/slideLayout1.xml" Id="R88a21b3ffe4840ef" /><Relationship Type="http://schemas.openxmlformats.org/officeDocument/2006/relationships/slideLayout" Target="/ppt/slideLayouts/slideLayout2.xml" Id="R908595ce1dfe4d73" /><Relationship Type="http://schemas.openxmlformats.org/officeDocument/2006/relationships/slideLayout" Target="/ppt/slideLayouts/slideLayout3.xml" Id="R7abce4fa96f74779" /><Relationship Type="http://schemas.openxmlformats.org/officeDocument/2006/relationships/slideLayout" Target="/ppt/slideLayouts/slideLayout4.xml" Id="R15a9578c38c0470e" /><Relationship Type="http://schemas.openxmlformats.org/officeDocument/2006/relationships/slideLayout" Target="/ppt/slideLayouts/slideLayout5.xml" Id="R31c24dce021d4d42" /><Relationship Type="http://schemas.openxmlformats.org/officeDocument/2006/relationships/slideLayout" Target="/ppt/slideLayouts/slideLayout6.xml" Id="R7bbdf3f247d5400b" /><Relationship Type="http://schemas.openxmlformats.org/officeDocument/2006/relationships/slideLayout" Target="/ppt/slideLayouts/slideLayout7.xml" Id="R78a87d2dd68540f6" /><Relationship Type="http://schemas.openxmlformats.org/officeDocument/2006/relationships/slideLayout" Target="/ppt/slideLayouts/slideLayout8.xml" Id="R3129d37843a64932" /><Relationship Type="http://schemas.openxmlformats.org/officeDocument/2006/relationships/slideLayout" Target="/ppt/slideLayouts/slideLayout9.xml" Id="Rdd4e6c40316841b7" /><Relationship Type="http://schemas.openxmlformats.org/officeDocument/2006/relationships/slideLayout" Target="/ppt/slideLayouts/slideLayout10.xml" Id="Rad7b99270d8c4231" /><Relationship Type="http://schemas.openxmlformats.org/officeDocument/2006/relationships/slideLayout" Target="/ppt/slideLayouts/slideLayout11.xml" Id="R43cd6d8cf3c34cbc" /><Relationship Type="http://schemas.openxmlformats.org/officeDocument/2006/relationships/slideLayout" Target="/ppt/slideLayouts/slideLayout12.xml" Id="R32fcc2d60dce458e" /><Relationship Type="http://schemas.openxmlformats.org/officeDocument/2006/relationships/slideLayout" Target="/ppt/slideLayouts/slideLayout13.xml" Id="R30e405024fe04581" /><Relationship Type="http://schemas.openxmlformats.org/officeDocument/2006/relationships/slideLayout" Target="/ppt/slideLayouts/slideLayout14.xml" Id="R965897dc1f8f49c1" /></Relationships>
</file>

<file path=ppt/slideMasters/slideMaster1.xml><?xml version="1.0" encoding="utf-8"?>
<p:sldMaster xmlns:p="http://schemas.openxmlformats.org/presentationml/2006/main">
  <p:cSld>
    <p:bg>
      <p:bgPr>
        <a:blipFill xmlns:a="http://schemas.openxmlformats.org/drawingml/2006/main" rotWithShape="0">
          <a:blip xmlns:r="http://schemas.openxmlformats.org/officeDocument/2006/relationships" r:embed="R6a1f973c19014866"/>
          <a:srcRect l="0" t="0" r="0" b="0"/>
          <a:stretch>
            <a:fillRect l="0" t="0" r="0" b="0"/>
          </a:stretch>
        </a:blipFill>
      </p:bgPr>
    </p:bg>
    <p:spTree>
      <p:nvGrpSpPr>
        <p:cNvPr id="1" name=""/>
        <p:cNvGrpSpPr/>
        <p:nvPr/>
      </p:nvGrpSpPr>
      <p:grpSpPr>
        <a:xfrm xmlns:a="http://schemas.openxmlformats.org/drawingml/2006/main"/>
      </p:grpSpPr>
      <p:sp>
        <p:nvSpPr>
          <p:cNvPr id="1026" name="Title Placeholder 1">
            <a:extLst xmlns:a="http://schemas.openxmlformats.org/drawingml/2006/main">
              <a:ext uri="{FF2B5EF4-FFF2-40B4-BE49-F238E27FC236}">
                <a16:creationId xmlns:a16="http://schemas.microsoft.com/office/drawing/2014/main" id="{9AF29D61-AA5E-4F59-B78D-AB65AF266EAA}"/>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ctr"/>
          <a:lstStyle xmlns:a="http://schemas.openxmlformats.org/drawingml/2006/main"/>
          <a:p xmlns:a="http://schemas.openxmlformats.org/drawingml/2006/main">
            <a:pPr lvl="0">
              <a:buNone/>
            </a:pPr>
            <a:r>
              <a:t>Click to edit Master title style</a:t>
            </a:r>
            <a:endParaRPr/>
          </a:p>
        </p:txBody>
      </p:sp>
      <p:sp>
        <p:nvSpPr>
          <p:cNvPr id="1027" name="Text Placeholder 2">
            <a:extLst xmlns:a="http://schemas.openxmlformats.org/drawingml/2006/main">
              <a:ext uri="{FF2B5EF4-FFF2-40B4-BE49-F238E27FC236}">
                <a16:creationId xmlns:a16="http://schemas.microsoft.com/office/drawing/2014/main" id="{58F1DFDF-C63F-4A05-AD84-7428F7DBCB48}"/>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t"/>
          <a:lstStyle xmlns:a="http://schemas.openxmlformats.org/drawingml/2006/main"/>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275C2D5F-07B3-429A-B4DF-565A27470110}"/>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buNone/>
              <a:defRPr sz="1200">
                <a:solidFill>
                  <a:srgbClr val="898989"/>
                </a:solidFill>
                <a:latin typeface="Calibri"/>
                <a:ea typeface="Calibri"/>
                <a:cs typeface="Calibri"/>
              </a:defRPr>
            </a:lvl1pPr>
          </a:lstStyle>
          <a:p xmlns:a="http://schemas.openxmlformats.org/drawingml/2006/main">
            <a:pPr>
              <a:buNone/>
            </a:pPr>
            <a:endParaRPr/>
          </a:p>
        </p:txBody>
      </p:sp>
      <p:sp>
        <p:nvSpPr>
          <p:cNvPr id="5" name="Footer Placeholder 4">
            <a:extLst xmlns:a="http://schemas.openxmlformats.org/drawingml/2006/main">
              <a:ext uri="{FF2B5EF4-FFF2-40B4-BE49-F238E27FC236}">
                <a16:creationId xmlns:a16="http://schemas.microsoft.com/office/drawing/2014/main" id="{E93DFF06-8CD9-4A8C-A471-50F7344920F1}"/>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lgn="ctr">
              <a:buNone/>
              <a:defRPr sz="1200">
                <a:solidFill>
                  <a:srgbClr val="898989"/>
                </a:solidFill>
                <a:latin typeface="Calibri"/>
                <a:ea typeface="Calibri"/>
                <a:cs typeface="Calibri"/>
              </a:defRPr>
            </a:lvl1pPr>
          </a:lstStyle>
          <a:p xmlns:a="http://schemas.openxmlformats.org/drawingml/2006/main">
            <a:pPr>
              <a:buNone/>
            </a:pPr>
            <a:endParaRPr/>
          </a:p>
        </p:txBody>
      </p:sp>
      <p:sp>
        <p:nvSpPr>
          <p:cNvPr id="6" name="Slide Number Placeholder 5">
            <a:extLst xmlns:a="http://schemas.openxmlformats.org/drawingml/2006/main">
              <a:ext uri="{FF2B5EF4-FFF2-40B4-BE49-F238E27FC236}">
                <a16:creationId xmlns:a16="http://schemas.microsoft.com/office/drawing/2014/main" id="{EEC66C9B-EFA0-4C6B-8AF8-F58CFED6073D}"/>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lgn="r">
              <a:buNone/>
              <a:defRPr sz="1200">
                <a:solidFill>
                  <a:srgbClr val="898989"/>
                </a:solidFill>
                <a:latin typeface="Calibri"/>
                <a:ea typeface="Calibri"/>
                <a:cs typeface="Calibri"/>
              </a:defRPr>
            </a:lvl1pPr>
          </a:lstStyle>
          <a:p xmlns:a="http://schemas.openxmlformats.org/drawingml/2006/main">
            <a:pPr>
              <a:buNone/>
            </a:pPr>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8a21b3ffe4840ef"/>
    <p:sldLayoutId xmlns:r="http://schemas.openxmlformats.org/officeDocument/2006/relationships" id="2147483650" r:id="R908595ce1dfe4d73"/>
    <p:sldLayoutId xmlns:r="http://schemas.openxmlformats.org/officeDocument/2006/relationships" id="2147483651" r:id="R7abce4fa96f74779"/>
    <p:sldLayoutId xmlns:r="http://schemas.openxmlformats.org/officeDocument/2006/relationships" id="2147483652" r:id="R15a9578c38c0470e"/>
    <p:sldLayoutId xmlns:r="http://schemas.openxmlformats.org/officeDocument/2006/relationships" id="2147483653" r:id="R31c24dce021d4d42"/>
    <p:sldLayoutId xmlns:r="http://schemas.openxmlformats.org/officeDocument/2006/relationships" id="2147483654" r:id="R7bbdf3f247d5400b"/>
    <p:sldLayoutId xmlns:r="http://schemas.openxmlformats.org/officeDocument/2006/relationships" id="2147483655" r:id="R78a87d2dd68540f6"/>
    <p:sldLayoutId xmlns:r="http://schemas.openxmlformats.org/officeDocument/2006/relationships" id="2147483656" r:id="R3129d37843a64932"/>
    <p:sldLayoutId xmlns:r="http://schemas.openxmlformats.org/officeDocument/2006/relationships" id="2147483657" r:id="Rdd4e6c40316841b7"/>
    <p:sldLayoutId xmlns:r="http://schemas.openxmlformats.org/officeDocument/2006/relationships" id="2147483658" r:id="Rad7b99270d8c4231"/>
    <p:sldLayoutId xmlns:r="http://schemas.openxmlformats.org/officeDocument/2006/relationships" id="2147483659" r:id="R43cd6d8cf3c34cbc"/>
    <p:sldLayoutId xmlns:r="http://schemas.openxmlformats.org/officeDocument/2006/relationships" id="2147483660" r:id="R32fcc2d60dce458e"/>
    <p:sldLayoutId xmlns:r="http://schemas.openxmlformats.org/officeDocument/2006/relationships" id="2147483661" r:id="R30e405024fe04581"/>
    <p:sldLayoutId xmlns:r="http://schemas.openxmlformats.org/officeDocument/2006/relationships" id="2147483662" r:id="R965897dc1f8f49c1"/>
  </p:sldLayoutIdLst>
  <p:txStyles>
    <p:titleStyle>
      <a:lvl1pPr xmlns:a="http://schemas.openxmlformats.org/drawingml/2006/main" algn="ctr">
        <a:spcBef>
          <a:spcPct val="0"/>
        </a:spcBef>
        <a:spcAft>
          <a:spcPct val="0"/>
        </a:spcAft>
        <a:buNone/>
        <a:defRPr sz="4400" kern="1200">
          <a:solidFill>
            <a:schemeClr val="tx1"/>
          </a:solidFill>
          <a:latin typeface="+mj-lt"/>
          <a:ea typeface="+mj-lt"/>
          <a:cs typeface="+mj-lt"/>
        </a:defRPr>
      </a:lvl1pPr>
      <a:lvl2pPr xmlns:a="http://schemas.openxmlformats.org/drawingml/2006/main" algn="ctr">
        <a:spcBef>
          <a:spcPct val="0"/>
        </a:spcBef>
        <a:spcAft>
          <a:spcPct val="0"/>
        </a:spcAft>
        <a:buNone/>
        <a:defRPr sz="4400">
          <a:solidFill>
            <a:schemeClr val="tx1"/>
          </a:solidFill>
          <a:latin typeface="Calibri"/>
          <a:ea typeface="Calibri"/>
          <a:cs typeface="Calibri"/>
        </a:defRPr>
      </a:lvl2pPr>
      <a:lvl3pPr xmlns:a="http://schemas.openxmlformats.org/drawingml/2006/main" algn="ctr">
        <a:spcBef>
          <a:spcPct val="0"/>
        </a:spcBef>
        <a:spcAft>
          <a:spcPct val="0"/>
        </a:spcAft>
        <a:buNone/>
        <a:defRPr sz="4400">
          <a:solidFill>
            <a:schemeClr val="tx1"/>
          </a:solidFill>
          <a:latin typeface="Calibri"/>
          <a:ea typeface="Calibri"/>
          <a:cs typeface="Calibri"/>
        </a:defRPr>
      </a:lvl3pPr>
      <a:lvl4pPr xmlns:a="http://schemas.openxmlformats.org/drawingml/2006/main" algn="ctr">
        <a:spcBef>
          <a:spcPct val="0"/>
        </a:spcBef>
        <a:spcAft>
          <a:spcPct val="0"/>
        </a:spcAft>
        <a:buNone/>
        <a:defRPr sz="4400">
          <a:solidFill>
            <a:schemeClr val="tx1"/>
          </a:solidFill>
          <a:latin typeface="Calibri"/>
          <a:ea typeface="Calibri"/>
          <a:cs typeface="Calibri"/>
        </a:defRPr>
      </a:lvl4pPr>
      <a:lvl5pPr xmlns:a="http://schemas.openxmlformats.org/drawingml/2006/main" algn="ctr">
        <a:spcBef>
          <a:spcPct val="0"/>
        </a:spcBef>
        <a:spcAft>
          <a:spcPct val="0"/>
        </a:spcAft>
        <a:buNone/>
        <a:defRPr sz="4400">
          <a:solidFill>
            <a:schemeClr val="tx1"/>
          </a:solidFill>
          <a:latin typeface="Calibri"/>
          <a:ea typeface="Calibri"/>
          <a:cs typeface="Calibri"/>
        </a:defRPr>
      </a:lvl5pPr>
      <a:lvl6pPr xmlns:a="http://schemas.openxmlformats.org/drawingml/2006/main" marL="457200" algn="ctr">
        <a:spcBef>
          <a:spcPct val="0"/>
        </a:spcBef>
        <a:spcAft>
          <a:spcPct val="0"/>
        </a:spcAft>
        <a:buNone/>
        <a:defRPr sz="4400">
          <a:solidFill>
            <a:schemeClr val="tx1"/>
          </a:solidFill>
          <a:latin typeface="Calibri"/>
          <a:ea typeface="Calibri"/>
          <a:cs typeface="Calibri"/>
        </a:defRPr>
      </a:lvl6pPr>
      <a:lvl7pPr xmlns:a="http://schemas.openxmlformats.org/drawingml/2006/main" marL="914400" algn="ctr">
        <a:spcBef>
          <a:spcPct val="0"/>
        </a:spcBef>
        <a:spcAft>
          <a:spcPct val="0"/>
        </a:spcAft>
        <a:buNone/>
        <a:defRPr sz="4400">
          <a:solidFill>
            <a:schemeClr val="tx1"/>
          </a:solidFill>
          <a:latin typeface="Calibri"/>
          <a:ea typeface="Calibri"/>
          <a:cs typeface="Calibri"/>
        </a:defRPr>
      </a:lvl7pPr>
      <a:lvl8pPr xmlns:a="http://schemas.openxmlformats.org/drawingml/2006/main" marL="1371600" algn="ctr">
        <a:spcBef>
          <a:spcPct val="0"/>
        </a:spcBef>
        <a:spcAft>
          <a:spcPct val="0"/>
        </a:spcAft>
        <a:buNone/>
        <a:defRPr sz="4400">
          <a:solidFill>
            <a:schemeClr val="tx1"/>
          </a:solidFill>
          <a:latin typeface="Calibri"/>
          <a:ea typeface="Calibri"/>
          <a:cs typeface="Calibri"/>
        </a:defRPr>
      </a:lvl8pPr>
      <a:lvl9pPr xmlns:a="http://schemas.openxmlformats.org/drawingml/2006/main" marL="1828800" algn="ctr">
        <a:spcBef>
          <a:spcPct val="0"/>
        </a:spcBef>
        <a:spcAft>
          <a:spcPct val="0"/>
        </a:spcAft>
        <a:buNone/>
        <a:defRPr sz="4400">
          <a:solidFill>
            <a:schemeClr val="tx1"/>
          </a:solidFill>
          <a:latin typeface="Calibri"/>
          <a:ea typeface="Calibri"/>
          <a:cs typeface="Calibri"/>
        </a:defRPr>
      </a:lvl9pPr>
    </p:titleStyle>
    <p:bodyStyle>
      <a:lvl1pPr xmlns:a="http://schemas.openxmlformats.org/drawingml/2006/main" marL="342900" indent="-342900" algn="l">
        <a:spcBef>
          <a:spcPct val="20000"/>
        </a:spcBef>
        <a:spcAft>
          <a:spcPct val="0"/>
        </a:spcAft>
        <a:buFont typeface="Arial"/>
        <a:buChar char="•"/>
        <a:defRPr sz="3200" kern="1200">
          <a:solidFill>
            <a:schemeClr val="tx1"/>
          </a:solidFill>
          <a:latin typeface="+mn-lt"/>
          <a:ea typeface="+mn-lt"/>
          <a:cs typeface="+mn-lt"/>
        </a:defRPr>
      </a:lvl1pPr>
      <a:lvl2pPr xmlns:a="http://schemas.openxmlformats.org/drawingml/2006/main" marL="742950" indent="-285750" algn="l">
        <a:spcBef>
          <a:spcPct val="20000"/>
        </a:spcBef>
        <a:spcAft>
          <a:spcPct val="0"/>
        </a:spcAft>
        <a:buFont typeface="Arial"/>
        <a:buChar char="–"/>
        <a:defRPr sz="2800" kern="1200">
          <a:solidFill>
            <a:schemeClr val="tx1"/>
          </a:solidFill>
          <a:latin typeface="+mn-lt"/>
          <a:ea typeface="+mn-lt"/>
          <a:cs typeface="+mn-lt"/>
        </a:defRPr>
      </a:lvl2pPr>
      <a:lvl3pPr xmlns:a="http://schemas.openxmlformats.org/drawingml/2006/main" marL="1143000" indent="-228600" algn="l">
        <a:spcBef>
          <a:spcPct val="20000"/>
        </a:spcBef>
        <a:spcAft>
          <a:spcPct val="0"/>
        </a:spcAft>
        <a:buFont typeface="Arial"/>
        <a:buChar char="•"/>
        <a:defRPr sz="2400" kern="1200">
          <a:solidFill>
            <a:schemeClr val="tx1"/>
          </a:solidFill>
          <a:latin typeface="+mn-lt"/>
          <a:ea typeface="+mn-lt"/>
          <a:cs typeface="+mn-lt"/>
        </a:defRPr>
      </a:lvl3pPr>
      <a:lvl4pPr xmlns:a="http://schemas.openxmlformats.org/drawingml/2006/main" marL="1600200" indent="-228600" algn="l">
        <a:spcBef>
          <a:spcPct val="20000"/>
        </a:spcBef>
        <a:spcAft>
          <a:spcPct val="0"/>
        </a:spcAft>
        <a:buFont typeface="Arial"/>
        <a:buChar char="–"/>
        <a:defRPr sz="2000" kern="1200">
          <a:solidFill>
            <a:schemeClr val="tx1"/>
          </a:solidFill>
          <a:latin typeface="+mn-lt"/>
          <a:ea typeface="+mn-lt"/>
          <a:cs typeface="+mn-lt"/>
        </a:defRPr>
      </a:lvl4pPr>
      <a:lvl5pPr xmlns:a="http://schemas.openxmlformats.org/drawingml/2006/main" marL="2057400" indent="-228600" algn="l">
        <a:spcBef>
          <a:spcPct val="20000"/>
        </a:spcBef>
        <a:spcAft>
          <a:spcPct val="0"/>
        </a:spcAft>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2.xml" Id="R7ff830d304fc4c5a" /><Relationship Type="http://schemas.openxmlformats.org/officeDocument/2006/relationships/notesSlide" Target="/ppt/notesSlides/notesSlide1.xml" Id="R589a53ac9e8c4db3"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66c5cd20a6764667" /><Relationship Type="http://schemas.openxmlformats.org/officeDocument/2006/relationships/notesSlide" Target="/ppt/notesSlides/notesSlide2.xml" Id="Rffc7893672a44485"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d3d64f65a3004833" /><Relationship Type="http://schemas.openxmlformats.org/officeDocument/2006/relationships/notesSlide" Target="/ppt/notesSlides/notesSlide3.xml" Id="Rc3bf0c43e07e4a42"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5618059a41da44da" /><Relationship Type="http://schemas.openxmlformats.org/officeDocument/2006/relationships/notesSlide" Target="/ppt/notesSlides/notesSlide4.xml" Id="Rbcce6bcdc59d405e"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12d6f1fdf1df4c1c" /><Relationship Type="http://schemas.openxmlformats.org/officeDocument/2006/relationships/notesSlide" Target="/ppt/notesSlides/notesSlide5.xml" Id="R5fe4eda4e0604892"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4d8e2969b76c4e05" /><Relationship Type="http://schemas.openxmlformats.org/officeDocument/2006/relationships/notesSlide" Target="/ppt/notesSlides/notesSlide6.xml" Id="R23e258da0d8d4f50"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0d515b7787db4ebc" /><Relationship Type="http://schemas.openxmlformats.org/officeDocument/2006/relationships/notesSlide" Target="/ppt/notesSlides/notesSlide7.xml" Id="R19c5af13091b4ebc"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d2292d0ca4594675" /><Relationship Type="http://schemas.openxmlformats.org/officeDocument/2006/relationships/notesSlide" Target="/ppt/notesSlides/notesSlide8.xml" Id="Rda2136117dfa4299"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68d5bcf1d4724a40" /><Relationship Type="http://schemas.openxmlformats.org/officeDocument/2006/relationships/notesSlide" Target="/ppt/notesSlides/notesSlide9.xml" Id="R58f047e76e42488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3c898d88fb604e8b" /><Relationship Type="http://schemas.openxmlformats.org/officeDocument/2006/relationships/notesSlide" Target="/ppt/notesSlides/notesSlide10.xml" Id="R3bb3b74c17cc42c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08bfd8d183134218" /><Relationship Type="http://schemas.openxmlformats.org/officeDocument/2006/relationships/notesSlide" Target="/ppt/notesSlides/notesSlide11.xml" Id="R317476fea59649a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6e486d9d6b8c46db" /><Relationship Type="http://schemas.openxmlformats.org/officeDocument/2006/relationships/notesSlide" Target="/ppt/notesSlides/notesSlide12.xml" Id="Rcd9a74b9597e40d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a2b48d6555c64bca" /><Relationship Type="http://schemas.openxmlformats.org/officeDocument/2006/relationships/notesSlide" Target="/ppt/notesSlides/notesSlide13.xml" Id="R63fb0fd60618442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8ac0f97d7542405c" /><Relationship Type="http://schemas.openxmlformats.org/officeDocument/2006/relationships/image" Target="/ppt/media/image2.png" Id="Ra863847b1c6a49b5" /><Relationship Type="http://schemas.openxmlformats.org/officeDocument/2006/relationships/notesSlide" Target="/ppt/notesSlides/notesSlide14.xml" Id="Rbed1a98d9fa54308"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074" name="TextBox 3">
            <a:extLst xmlns:a="http://schemas.openxmlformats.org/drawingml/2006/main">
              <a:ext uri="{FF2B5EF4-FFF2-40B4-BE49-F238E27FC236}">
                <a16:creationId xmlns:a16="http://schemas.microsoft.com/office/drawing/2014/main" id="{207FE590-D753-451F-9709-D438F59A6B49}"/>
              </a:ext>
            </a:extLst>
          </p:cNvPr>
          <p:cNvSpPr>
            <a:spLocks xmlns:a="http://schemas.openxmlformats.org/drawingml/2006/main" noGrp="1"/>
          </p:cNvSpPr>
          <p:nvPr/>
        </p:nvSpPr>
        <p:spPr>
          <a:xfrm xmlns:a="http://schemas.openxmlformats.org/drawingml/2006/main">
            <a:off x="346075" y="469900"/>
            <a:ext cx="6475413" cy="132207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spAutoFit/>
          </a:bodyPr>
          <a:lstStyle xmlns:a="http://schemas.openxmlformats.org/drawingml/2006/main"/>
          <a:p xmlns:a="http://schemas.openxmlformats.org/drawingml/2006/main">
            <a:pPr algn="ctr">
              <a:buNone/>
            </a:pPr>
            <a:endParaRPr sz="2400" b="1">
              <a:solidFill>
                <a:schemeClr val="bg1"/>
              </a:solidFill>
            </a:endParaRPr>
          </a:p>
          <a:p xmlns:a="http://schemas.openxmlformats.org/drawingml/2006/main">
            <a:pPr algn="ctr">
              <a:buNone/>
            </a:pPr>
            <a:r>
              <a:rPr sz="2800" b="1">
                <a:solidFill>
                  <a:schemeClr val="bg1"/>
                </a:solidFill>
                <a:effectLst>
                  <a:outerShdw blurRad="38100" dist="19050" dir="2700000" algn="tl" rotWithShape="0">
                    <a:schemeClr val="dk1">
                      <a:alpha val="40000"/>
                    </a:schemeClr>
                  </a:outerShdw>
                </a:effectLst>
                <a:latin typeface="Times New Roman"/>
                <a:ea typeface="Times New Roman"/>
                <a:cs typeface="Times New Roman"/>
              </a:rPr>
              <a:t>Hyderabad Institute of Technology and Management</a:t>
            </a:r>
            <a:endParaRPr sz="2800" b="1">
              <a:solidFill>
                <a:schemeClr val="bg1"/>
              </a:solidFill>
              <a:effectLst>
                <a:outerShdw blurRad="38100" dist="19050" dir="2700000" algn="tl" rotWithShape="0">
                  <a:schemeClr val="dk1">
                    <a:alpha val="40000"/>
                  </a:schemeClr>
                </a:outerShdw>
              </a:effectLst>
              <a:latin typeface="Times New Roman"/>
              <a:ea typeface="Times New Roman"/>
              <a:cs typeface="Times New Roman"/>
            </a:endParaRPr>
          </a:p>
        </p:txBody>
      </p:sp>
      <p:sp>
        <p:nvSpPr>
          <p:cNvPr id="3076" name="TextBox 1">
            <a:extLst xmlns:a="http://schemas.openxmlformats.org/drawingml/2006/main">
              <a:ext uri="{FF2B5EF4-FFF2-40B4-BE49-F238E27FC236}">
                <a16:creationId xmlns:a16="http://schemas.microsoft.com/office/drawing/2014/main" id="{C5536459-684F-47AC-A93B-849C46DFE6B3}"/>
              </a:ext>
            </a:extLst>
          </p:cNvPr>
          <p:cNvSpPr>
            <a:spLocks xmlns:a="http://schemas.openxmlformats.org/drawingml/2006/main" noGrp="1"/>
          </p:cNvSpPr>
          <p:nvPr/>
        </p:nvSpPr>
        <p:spPr>
          <a:xfrm xmlns:a="http://schemas.openxmlformats.org/drawingml/2006/main">
            <a:off x="6012160" y="3509269"/>
            <a:ext cx="2133600" cy="28575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rmAutofit fontScale="100000"/>
          </a:bodyPr>
          <a:lstStyle xmlns:a="http://schemas.openxmlformats.org/drawingml/2006/main"/>
          <a:p xmlns:a="http://schemas.openxmlformats.org/drawingml/2006/main">
            <a:pPr>
              <a:buNone/>
              <a:defRPr sz="1275" b="1">
                <a:solidFill>
                  <a:srgbClr val="FFFFFF"/>
                </a:solidFill>
                <a:latin typeface="Calibri"/>
                <a:ea typeface="Calibri"/>
                <a:cs typeface="Calibri"/>
              </a:defRPr>
            </a:pPr>
            <a:r>
              <a:rPr sz="1275" b="1">
                <a:solidFill>
                  <a:srgbClr val="FFFFFF"/>
                </a:solidFill>
                <a:effectLst>
                  <a:outerShdw blurRad="38100" dist="19050" dir="2700000" algn="tl" rotWithShape="0">
                    <a:schemeClr val="dk1">
                      <a:alpha val="40000"/>
                    </a:schemeClr>
                  </a:outerShdw>
                </a:effectLst>
                <a:latin typeface="Calibri"/>
                <a:ea typeface="Calibri"/>
                <a:cs typeface="Calibri"/>
              </a:rPr>
              <a:t>Date: 25 September 2026</a:t>
            </a:r>
            <a:endParaRPr b="1">
              <a:solidFill>
                <a:schemeClr val="bg1"/>
              </a:solidFill>
              <a:effectLst>
                <a:outerShdw blurRad="38100" dist="19050" dir="2700000" algn="tl" rotWithShape="0">
                  <a:schemeClr val="dk1">
                    <a:alpha val="40000"/>
                  </a:schemeClr>
                </a:outerShdw>
              </a:effectLst>
            </a:endParaRPr>
          </a:p>
        </p:txBody>
      </p:sp>
      <p:sp>
        <p:nvSpPr>
          <p:cNvPr id="5" name="TextBox 4">
            <a:extLst xmlns:a="http://schemas.openxmlformats.org/drawingml/2006/main">
              <a:ext uri="{FF2B5EF4-FFF2-40B4-BE49-F238E27FC236}">
                <a16:creationId xmlns:a16="http://schemas.microsoft.com/office/drawing/2014/main" id="{39CAB974-6728-45D0-A4D2-3F3546C94A9D}"/>
              </a:ext>
            </a:extLst>
          </p:cNvPr>
          <p:cNvSpPr>
            <a:spLocks xmlns:a="http://schemas.openxmlformats.org/drawingml/2006/main" noGrp="1"/>
          </p:cNvSpPr>
          <p:nvPr/>
        </p:nvSpPr>
        <p:spPr>
          <a:xfrm xmlns:a="http://schemas.openxmlformats.org/drawingml/2006/main">
            <a:off x="611560" y="2148403"/>
            <a:ext cx="8064896" cy="98298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marL="0" marR="0" lvl="0" indent="0" algn="ctr" defTabSz="914400">
              <a:lnSpc>
                <a:spcPct val="100000"/>
              </a:lnSpc>
              <a:spcBef>
                <a:spcPct val="0"/>
              </a:spcBef>
              <a:spcAft>
                <a:spcPct val="0"/>
              </a:spcAft>
              <a:buClrTx/>
              <a:buSzTx/>
              <a:buFontTx/>
              <a:buNone/>
              <a:defRPr sz="1950" b="1">
                <a:solidFill>
                  <a:srgbClr val="FFFFFF"/>
                </a:solidFill>
                <a:latin typeface="Times New Roman"/>
                <a:ea typeface="Times New Roman"/>
                <a:cs typeface="Times New Roman"/>
              </a:defRPr>
            </a:pPr>
            <a:r>
              <a:rPr sz="1950" b="1" i="0" u="none" strike="noStrike" cap="none" spc="0" baseline="0">
                <a:ln>
                  <a:noFill/>
                </a:ln>
                <a:solidFill>
                  <a:srgbClr val="FFFFFF"/>
                </a:solidFill>
                <a:latin typeface="Times New Roman"/>
                <a:ea typeface="Times New Roman"/>
                <a:cs typeface="Times New Roman"/>
              </a:rPr>
              <a:t>EKEEKRTA</a:t>
            </a:r>
            <a:endParaRPr sz="2400" b="1" i="0" u="none" strike="noStrike" kern="1200" cap="none" spc="0" baseline="0">
              <a:ln>
                <a:noFill/>
              </a:ln>
              <a:solidFill>
                <a:prstClr val="white"/>
              </a:solidFill>
              <a:latin typeface="Times New Roman"/>
              <a:ea typeface="Times New Roman"/>
              <a:cs typeface="Times New Roman"/>
            </a:endParaRPr>
          </a:p>
          <a:p xmlns:a="http://schemas.openxmlformats.org/drawingml/2006/main">
            <a:pPr marL="0" marR="0" lvl="0" indent="0" algn="ctr" defTabSz="914400">
              <a:lnSpc>
                <a:spcPct val="100000"/>
              </a:lnSpc>
              <a:spcBef>
                <a:spcPct val="0"/>
              </a:spcBef>
              <a:spcAft>
                <a:spcPct val="0"/>
              </a:spcAft>
              <a:buClrTx/>
              <a:buSzTx/>
              <a:buFontTx/>
              <a:buNone/>
              <a:defRPr sz="1950" b="1">
                <a:solidFill>
                  <a:srgbClr val="FFFFFF"/>
                </a:solidFill>
                <a:latin typeface="Times New Roman"/>
                <a:ea typeface="Times New Roman"/>
                <a:cs typeface="Times New Roman"/>
              </a:defRPr>
            </a:pPr>
            <a:r>
              <a:rPr sz="1950" b="1" i="0" u="none" strike="noStrike" cap="none" spc="0" baseline="0">
                <a:ln>
                  <a:noFill/>
                </a:ln>
                <a:solidFill>
                  <a:srgbClr val="FFFFFF"/>
                </a:solidFill>
                <a:latin typeface="Times New Roman"/>
                <a:ea typeface="Times New Roman"/>
                <a:cs typeface="Times New Roman"/>
              </a:rPr>
              <a:t>An Integrated Smart Virtual Learning Management</a:t>
            </a:r>
            <a:endParaRPr sz="2400" b="1" i="0" u="none" strike="noStrike" kern="1200" cap="none" spc="0" baseline="0">
              <a:ln>
                <a:noFill/>
              </a:ln>
              <a:solidFill>
                <a:prstClr val="white"/>
              </a:solidFill>
              <a:latin typeface="Times New Roman"/>
              <a:ea typeface="Times New Roman"/>
              <a:cs typeface="Times New Roman"/>
            </a:endParaRPr>
          </a:p>
          <a:p xmlns:a="http://schemas.openxmlformats.org/drawingml/2006/main">
            <a:pPr marL="0" marR="0" lvl="0" indent="0" algn="ctr" defTabSz="914400">
              <a:lnSpc>
                <a:spcPct val="100000"/>
              </a:lnSpc>
              <a:spcBef>
                <a:spcPct val="0"/>
              </a:spcBef>
              <a:spcAft>
                <a:spcPct val="0"/>
              </a:spcAft>
              <a:buClrTx/>
              <a:buSzTx/>
              <a:buFontTx/>
              <a:buNone/>
              <a:defRPr sz="1950" b="1">
                <a:solidFill>
                  <a:srgbClr val="FFFFFF"/>
                </a:solidFill>
                <a:latin typeface="Times New Roman"/>
                <a:ea typeface="Times New Roman"/>
                <a:cs typeface="Times New Roman"/>
              </a:defRPr>
            </a:pPr>
            <a:r>
              <a:rPr sz="1950" b="1" i="0" u="none" strike="noStrike" cap="none" spc="0" baseline="0">
                <a:ln>
                  <a:noFill/>
                </a:ln>
                <a:solidFill>
                  <a:srgbClr val="FFFFFF"/>
                </a:solidFill>
                <a:latin typeface="Times New Roman"/>
                <a:ea typeface="Times New Roman"/>
                <a:cs typeface="Times New Roman"/>
              </a:rPr>
              <a:t>and Classroom Platform</a:t>
            </a:r>
            <a:endParaRPr sz="2400" b="1" i="0" u="none" strike="noStrike" kern="1200" cap="none" spc="0" baseline="0">
              <a:ln>
                <a:noFill/>
              </a:ln>
              <a:solidFill>
                <a:prstClr val="white"/>
              </a:solidFill>
              <a:latin typeface="Times New Roman"/>
              <a:ea typeface="Times New Roman"/>
              <a:cs typeface="Times New Roman"/>
            </a:endParaRPr>
          </a:p>
        </p:txBody>
      </p:sp>
      <p:sp>
        <p:nvSpPr>
          <p:cNvPr id="9" name="TextBox 8">
            <a:extLst xmlns:a="http://schemas.openxmlformats.org/drawingml/2006/main">
              <a:ext uri="{FF2B5EF4-FFF2-40B4-BE49-F238E27FC236}">
                <a16:creationId xmlns:a16="http://schemas.microsoft.com/office/drawing/2014/main" id="{F1255824-0C0D-4EA0-8740-C6251E6CE0C0}"/>
              </a:ext>
            </a:extLst>
          </p:cNvPr>
          <p:cNvSpPr>
            <a:spLocks xmlns:a="http://schemas.openxmlformats.org/drawingml/2006/main" noGrp="1"/>
          </p:cNvSpPr>
          <p:nvPr/>
        </p:nvSpPr>
        <p:spPr>
          <a:xfrm xmlns:a="http://schemas.openxmlformats.org/drawingml/2006/main">
            <a:off x="6012160" y="4137759"/>
            <a:ext cx="2520280" cy="382905"/>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a:lnSpc>
                <a:spcPct val="150000"/>
              </a:lnSpc>
              <a:buNone/>
              <a:defRPr sz="1275" b="1">
                <a:solidFill>
                  <a:srgbClr val="FFFFFF"/>
                </a:solidFill>
                <a:latin typeface="Calibri"/>
                <a:ea typeface="Calibri"/>
                <a:cs typeface="Calibri"/>
              </a:defRPr>
            </a:pPr>
            <a:r>
              <a:rPr sz="1275" b="1">
                <a:solidFill>
                  <a:srgbClr val="FFFFFF"/>
                </a:solidFill>
                <a:effectLst>
                  <a:outerShdw blurRad="38100" dist="19050" dir="2700000" algn="tl" rotWithShape="0">
                    <a:schemeClr val="dk1">
                      <a:alpha val="40000"/>
                    </a:schemeClr>
                  </a:outerShdw>
                </a:effectLst>
                <a:latin typeface="Calibri"/>
                <a:ea typeface="Calibri"/>
                <a:cs typeface="Calibri"/>
              </a:rPr>
              <a:t>Mentor: [Guide Name]</a:t>
            </a:r>
            <a:endParaRPr b="1">
              <a:solidFill>
                <a:schemeClr val="bg1"/>
              </a:solidFill>
              <a:effectLst>
                <a:outerShdw blurRad="38100" dist="19050" dir="2700000" algn="tl" rotWithShape="0">
                  <a:schemeClr val="dk1">
                    <a:alpha val="40000"/>
                  </a:schemeClr>
                </a:outerShdw>
              </a:effectLst>
              <a:latin typeface="Times New Roman"/>
              <a:ea typeface="Times New Roman"/>
              <a:cs typeface="Times New Roman"/>
            </a:endParaRPr>
          </a:p>
        </p:txBody>
      </p:sp>
      <p:sp>
        <p:nvSpPr>
          <p:cNvPr id="2" name="TextBox 8">
            <a:extLst xmlns:a="http://schemas.openxmlformats.org/drawingml/2006/main">
              <a:ext uri="{FF2B5EF4-FFF2-40B4-BE49-F238E27FC236}">
                <a16:creationId xmlns:a16="http://schemas.microsoft.com/office/drawing/2014/main" id="{011E2108-6148-40B4-BDB4-E3F2EA7D2BB2}"/>
              </a:ext>
            </a:extLst>
          </p:cNvPr>
          <p:cNvSpPr>
            <a:spLocks xmlns:a="http://schemas.openxmlformats.org/drawingml/2006/main" noGrp="1"/>
          </p:cNvSpPr>
          <p:nvPr/>
        </p:nvSpPr>
        <p:spPr>
          <a:xfrm xmlns:a="http://schemas.openxmlformats.org/drawingml/2006/main">
            <a:off x="827256" y="3788802"/>
            <a:ext cx="4392816" cy="862965"/>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a:lnSpc>
                <a:spcPct val="150000"/>
              </a:lnSpc>
              <a:buNone/>
              <a:defRPr sz="1125" b="1">
                <a:solidFill>
                  <a:srgbClr val="FFFFFF"/>
                </a:solidFill>
                <a:latin typeface="Calibri"/>
                <a:ea typeface="Calibri"/>
                <a:cs typeface="Calibri"/>
              </a:defRPr>
            </a:pPr>
            <a:r>
              <a:rPr sz="1125" b="1">
                <a:solidFill>
                  <a:srgbClr val="FFFFFF"/>
                </a:solidFill>
                <a:effectLst>
                  <a:outerShdw blurRad="38100" dist="19050" dir="2700000" algn="tl" rotWithShape="0">
                    <a:schemeClr val="dk1">
                      <a:alpha val="40000"/>
                    </a:schemeClr>
                  </a:outerShdw>
                </a:effectLst>
                <a:latin typeface="Calibri"/>
                <a:ea typeface="Calibri"/>
                <a:cs typeface="Calibri"/>
              </a:rPr>
              <a:t>Student details:</a:t>
            </a:r>
            <a:endParaRPr b="1">
              <a:solidFill>
                <a:schemeClr val="bg1"/>
              </a:solidFill>
              <a:effectLst>
                <a:outerShdw blurRad="38100" dist="19050" dir="2700000" algn="tl" rotWithShape="0">
                  <a:schemeClr val="dk1">
                    <a:alpha val="40000"/>
                  </a:schemeClr>
                </a:outerShdw>
              </a:effectLst>
              <a:latin typeface="Times New Roman"/>
              <a:ea typeface="Times New Roman"/>
              <a:cs typeface="Times New Roman"/>
            </a:endParaRPr>
          </a:p>
          <a:p xmlns:a="http://schemas.openxmlformats.org/drawingml/2006/main">
            <a:pPr>
              <a:lnSpc>
                <a:spcPct val="150000"/>
              </a:lnSpc>
              <a:buNone/>
              <a:defRPr sz="1125" b="1">
                <a:solidFill>
                  <a:srgbClr val="FFFFFF"/>
                </a:solidFill>
                <a:latin typeface="Calibri"/>
                <a:ea typeface="Calibri"/>
                <a:cs typeface="Calibri"/>
              </a:defRPr>
            </a:pPr>
            <a:r>
              <a:rPr sz="1125" b="1">
                <a:solidFill>
                  <a:srgbClr val="FFFFFF"/>
                </a:solidFill>
                <a:effectLst>
                  <a:outerShdw blurRad="38100" dist="19050" dir="2700000" algn="tl" rotWithShape="0">
                    <a:schemeClr val="dk1">
                      <a:alpha val="40000"/>
                    </a:schemeClr>
                  </a:outerShdw>
                </a:effectLst>
                <a:latin typeface="Calibri"/>
                <a:ea typeface="Calibri"/>
                <a:cs typeface="Calibri"/>
              </a:rPr>
              <a:t>Arla Hanmanth Rao (24E55A6601)</a:t>
            </a:r>
            <a:endParaRPr b="1">
              <a:solidFill>
                <a:schemeClr val="bg1"/>
              </a:solidFill>
              <a:effectLst>
                <a:outerShdw blurRad="38100" dist="19050" dir="2700000" algn="tl" rotWithShape="0">
                  <a:schemeClr val="dk1">
                    <a:alpha val="40000"/>
                  </a:schemeClr>
                </a:outerShdw>
              </a:effectLst>
              <a:latin typeface="Times New Roman"/>
              <a:ea typeface="Times New Roman"/>
              <a:cs typeface="Times New Roman"/>
            </a:endParaRPr>
          </a:p>
          <a:p xmlns:a="http://schemas.openxmlformats.org/drawingml/2006/main">
            <a:pPr>
              <a:lnSpc>
                <a:spcPct val="150000"/>
              </a:lnSpc>
              <a:buNone/>
              <a:defRPr sz="1125" b="1">
                <a:solidFill>
                  <a:srgbClr val="FFFFFF"/>
                </a:solidFill>
                <a:latin typeface="Calibri"/>
                <a:ea typeface="Calibri"/>
                <a:cs typeface="Calibri"/>
              </a:defRPr>
            </a:pPr>
            <a:r>
              <a:rPr sz="1125" b="1">
                <a:solidFill>
                  <a:srgbClr val="FFFFFF"/>
                </a:solidFill>
                <a:latin typeface="Calibri"/>
                <a:ea typeface="Calibri"/>
                <a:cs typeface="Calibri"/>
              </a:rPr>
              <a:t>Batch: [Batch No.]</a:t>
            </a:r>
            <a:endParaRPr b="1">
              <a:solidFill>
                <a:schemeClr val="bg1"/>
              </a:solidFill>
              <a:effectLst>
                <a:outerShdw blurRad="38100" dist="19050" dir="2700000" algn="tl" rotWithShape="0">
                  <a:schemeClr val="dk1">
                    <a:alpha val="40000"/>
                  </a:schemeClr>
                </a:outerShdw>
              </a:effectLst>
              <a:latin typeface="Times New Roman"/>
              <a:ea typeface="Times New Roman"/>
              <a:cs typeface="Times New Roman"/>
            </a:endParaRPr>
          </a:p>
        </p:txBody>
      </p:sp>
    </p:spTree>
    <p:extLst>
      <p:ext uri="{BB962C8B-B14F-4D97-AF65-F5344CB8AC3E}">
        <p14:creationId xmlns:p14="http://schemas.microsoft.com/office/powerpoint/2010/main" val="19824735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6CC0B683-A161-4A7A-A078-4EF6AEB8CA2D}"/>
              </a:ext>
            </a:extLst>
          </p:cNvPr>
          <p:cNvSpPr>
            <a:spLocks xmlns:a="http://schemas.openxmlformats.org/drawingml/2006/main" noGrp="1"/>
          </p:cNvSpPr>
          <p:nvPr/>
        </p:nvSpPr>
        <p:spPr>
          <a:xfrm xmlns:a="http://schemas.openxmlformats.org/drawingml/2006/main">
            <a:off x="2987675" y="476885"/>
            <a:ext cx="4150360" cy="43434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marL="0" marR="0" lvl="0" indent="0" algn="ctr" defTabSz="914400">
              <a:lnSpc>
                <a:spcPct val="100000"/>
              </a:lnSpc>
              <a:spcBef>
                <a:spcPct val="0"/>
              </a:spcBef>
              <a:spcAft>
                <a:spcPct val="0"/>
              </a:spcAft>
              <a:buClrTx/>
              <a:buSzTx/>
              <a:buFontTx/>
              <a:buNone/>
              <a:defRPr sz="2250" b="1">
                <a:solidFill>
                  <a:srgbClr val="FFFFFF"/>
                </a:solidFill>
                <a:latin typeface="Times New Roman"/>
                <a:ea typeface="Times New Roman"/>
                <a:cs typeface="Times New Roman"/>
              </a:defRPr>
            </a:pPr>
            <a:r>
              <a:rPr sz="2250" b="1" i="0" u="none" strike="noStrike" cap="none" spc="0" baseline="0">
                <a:solidFill>
                  <a:srgbClr val="FFFFFF"/>
                </a:solidFill>
                <a:effectLst>
                  <a:outerShdw blurRad="38100" dist="19050" dir="2700000" algn="tl" rotWithShape="0">
                    <a:schemeClr val="dk1">
                      <a:alpha val="40000"/>
                    </a:schemeClr>
                  </a:outerShdw>
                </a:effectLst>
                <a:latin typeface="Times New Roman"/>
                <a:ea typeface="Times New Roman"/>
                <a:cs typeface="Times New Roman"/>
              </a:rPr>
              <a:t>Table of Contents</a:t>
            </a:r>
            <a:endParaRPr sz="3600" b="1" i="0" u="none" strike="noStrike" kern="1200" cap="none" spc="0" baseline="0">
              <a:solidFill>
                <a:schemeClr val="bg1"/>
              </a:solidFill>
              <a:effectLst>
                <a:outerShdw blurRad="38100" dist="19050" dir="2700000" algn="tl" rotWithShape="0">
                  <a:schemeClr val="dk1">
                    <a:alpha val="40000"/>
                  </a:schemeClr>
                </a:outerShdw>
              </a:effectLst>
              <a:latin typeface="Times New Roman"/>
              <a:ea typeface="Times New Roman"/>
              <a:cs typeface="Times New Roman"/>
            </a:endParaRPr>
          </a:p>
        </p:txBody>
      </p:sp>
      <p:sp>
        <p:nvSpPr>
          <p:cNvPr id="6" name="">
            <a:extLst xmlns:a="http://schemas.openxmlformats.org/drawingml/2006/main">
              <a:ext uri="{FF2B5EF4-FFF2-40B4-BE49-F238E27FC236}">
                <a16:creationId xmlns:a16="http://schemas.microsoft.com/office/drawing/2014/main" id="{8E8D994B-B57B-474B-B465-130AC441E17A}"/>
              </a:ext>
            </a:extLst>
          </p:cNvPr>
          <p:cNvSpPr>
            <a:spLocks xmlns:a="http://schemas.openxmlformats.org/drawingml/2006/main" noGrp="1"/>
          </p:cNvSpPr>
          <p:nvPr/>
        </p:nvSpPr>
        <p:spPr>
          <a:xfrm xmlns:a="http://schemas.openxmlformats.org/drawingml/2006/main">
            <a:off x="666750" y="1381125"/>
            <a:ext cx="3714750" cy="4095750"/>
          </a:xfrm>
          <a:prstGeom xmlns:a="http://schemas.openxmlformats.org/drawingml/2006/main" prst="roundRect">
            <a:avLst>
              <a:gd name="adj" fmla="val 2051"/>
            </a:avLst>
          </a:prstGeom>
          <a:solidFill xmlns:a="http://schemas.openxmlformats.org/drawingml/2006/main">
            <a:srgbClr val="F7FAF6"/>
          </a:solidFill>
          <a:ln xmlns:a="http://schemas.openxmlformats.org/drawingml/2006/main" w="10478">
            <a:solidFill>
              <a:srgbClr val="CFDDCB"/>
            </a:solidFill>
            <a:prstDash val="solid"/>
          </a:ln>
        </p:spPr>
      </p:sp>
      <p:sp>
        <p:nvSpPr>
          <p:cNvPr id="7" name="">
            <a:extLst xmlns:a="http://schemas.openxmlformats.org/drawingml/2006/main">
              <a:ext uri="{FF2B5EF4-FFF2-40B4-BE49-F238E27FC236}">
                <a16:creationId xmlns:a16="http://schemas.microsoft.com/office/drawing/2014/main" id="{1B290DD0-3E22-4C58-BCE9-4D768AC2645F}"/>
              </a:ext>
            </a:extLst>
          </p:cNvPr>
          <p:cNvSpPr>
            <a:spLocks xmlns:a="http://schemas.openxmlformats.org/drawingml/2006/main" noGrp="1"/>
          </p:cNvSpPr>
          <p:nvPr/>
        </p:nvSpPr>
        <p:spPr>
          <a:xfrm xmlns:a="http://schemas.openxmlformats.org/drawingml/2006/main">
            <a:off x="4762500" y="1381125"/>
            <a:ext cx="3714750" cy="4095750"/>
          </a:xfrm>
          <a:prstGeom xmlns:a="http://schemas.openxmlformats.org/drawingml/2006/main" prst="roundRect">
            <a:avLst>
              <a:gd name="adj" fmla="val 2051"/>
            </a:avLst>
          </a:prstGeom>
          <a:solidFill xmlns:a="http://schemas.openxmlformats.org/drawingml/2006/main">
            <a:srgbClr val="F7FAF6"/>
          </a:solidFill>
          <a:ln xmlns:a="http://schemas.openxmlformats.org/drawingml/2006/main" w="10478">
            <a:solidFill>
              <a:srgbClr val="CFDDCB"/>
            </a:solidFill>
            <a:prstDash val="solid"/>
          </a:ln>
        </p:spPr>
      </p:sp>
      <p:sp>
        <p:nvSpPr>
          <p:cNvPr id="8" name="">
            <a:extLst xmlns:a="http://schemas.openxmlformats.org/drawingml/2006/main">
              <a:ext uri="{FF2B5EF4-FFF2-40B4-BE49-F238E27FC236}">
                <a16:creationId xmlns:a16="http://schemas.microsoft.com/office/drawing/2014/main" id="{DC28F0EA-F37A-40B4-B60B-098564DC793F}"/>
              </a:ext>
            </a:extLst>
          </p:cNvPr>
          <p:cNvSpPr>
            <a:spLocks xmlns:a="http://schemas.openxmlformats.org/drawingml/2006/main" noGrp="1"/>
          </p:cNvSpPr>
          <p:nvPr/>
        </p:nvSpPr>
        <p:spPr>
          <a:xfrm xmlns:a="http://schemas.openxmlformats.org/drawingml/2006/main">
            <a:off x="952500" y="17145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00" b="1">
                <a:solidFill>
                  <a:srgbClr val="3F922F"/>
                </a:solidFill>
                <a:latin typeface="Calibri"/>
                <a:ea typeface="Calibri"/>
                <a:cs typeface="Calibri"/>
              </a:defRPr>
            </a:pPr>
            <a:r>
              <a:rPr sz="1500" b="1">
                <a:solidFill>
                  <a:srgbClr val="3F922F"/>
                </a:solidFill>
                <a:latin typeface="Calibri"/>
                <a:ea typeface="Calibri"/>
                <a:cs typeface="Calibri"/>
              </a:rPr>
              <a:t>01  Introduction</a:t>
            </a:r>
          </a:p>
        </p:txBody>
      </p:sp>
      <p:sp>
        <p:nvSpPr>
          <p:cNvPr id="9" name="">
            <a:extLst xmlns:a="http://schemas.openxmlformats.org/drawingml/2006/main">
              <a:ext uri="{FF2B5EF4-FFF2-40B4-BE49-F238E27FC236}">
                <a16:creationId xmlns:a16="http://schemas.microsoft.com/office/drawing/2014/main" id="{4DA22446-66C4-4BD7-976A-E662231E1A72}"/>
              </a:ext>
            </a:extLst>
          </p:cNvPr>
          <p:cNvSpPr>
            <a:spLocks xmlns:a="http://schemas.openxmlformats.org/drawingml/2006/main" noGrp="1"/>
          </p:cNvSpPr>
          <p:nvPr/>
        </p:nvSpPr>
        <p:spPr>
          <a:xfrm xmlns:a="http://schemas.openxmlformats.org/drawingml/2006/main">
            <a:off x="952500" y="24003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17311B"/>
                </a:solidFill>
                <a:latin typeface="Calibri"/>
                <a:ea typeface="Calibri"/>
                <a:cs typeface="Calibri"/>
              </a:defRPr>
            </a:pPr>
            <a:r>
              <a:rPr sz="1500" b="0">
                <a:solidFill>
                  <a:srgbClr val="17311B"/>
                </a:solidFill>
                <a:latin typeface="Calibri"/>
                <a:ea typeface="Calibri"/>
                <a:cs typeface="Calibri"/>
              </a:rPr>
              <a:t>02  Base Paper</a:t>
            </a:r>
          </a:p>
        </p:txBody>
      </p:sp>
      <p:sp>
        <p:nvSpPr>
          <p:cNvPr id="10" name="">
            <a:extLst xmlns:a="http://schemas.openxmlformats.org/drawingml/2006/main">
              <a:ext uri="{FF2B5EF4-FFF2-40B4-BE49-F238E27FC236}">
                <a16:creationId xmlns:a16="http://schemas.microsoft.com/office/drawing/2014/main" id="{326A397B-5473-47A5-84A9-7A188D7D166E}"/>
              </a:ext>
            </a:extLst>
          </p:cNvPr>
          <p:cNvSpPr>
            <a:spLocks xmlns:a="http://schemas.openxmlformats.org/drawingml/2006/main" noGrp="1"/>
          </p:cNvSpPr>
          <p:nvPr/>
        </p:nvSpPr>
        <p:spPr>
          <a:xfrm xmlns:a="http://schemas.openxmlformats.org/drawingml/2006/main">
            <a:off x="952500" y="30861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17311B"/>
                </a:solidFill>
                <a:latin typeface="Calibri"/>
                <a:ea typeface="Calibri"/>
                <a:cs typeface="Calibri"/>
              </a:defRPr>
            </a:pPr>
            <a:r>
              <a:rPr sz="1500" b="0">
                <a:solidFill>
                  <a:srgbClr val="17311B"/>
                </a:solidFill>
                <a:latin typeface="Calibri"/>
                <a:ea typeface="Calibri"/>
                <a:cs typeface="Calibri"/>
              </a:rPr>
              <a:t>03  Existing Work &amp; Literature Survey</a:t>
            </a:r>
          </a:p>
        </p:txBody>
      </p:sp>
      <p:sp>
        <p:nvSpPr>
          <p:cNvPr id="11" name="">
            <a:extLst xmlns:a="http://schemas.openxmlformats.org/drawingml/2006/main">
              <a:ext uri="{FF2B5EF4-FFF2-40B4-BE49-F238E27FC236}">
                <a16:creationId xmlns:a16="http://schemas.microsoft.com/office/drawing/2014/main" id="{115548E7-F810-4364-806C-10E26D46D980}"/>
              </a:ext>
            </a:extLst>
          </p:cNvPr>
          <p:cNvSpPr>
            <a:spLocks xmlns:a="http://schemas.openxmlformats.org/drawingml/2006/main" noGrp="1"/>
          </p:cNvSpPr>
          <p:nvPr/>
        </p:nvSpPr>
        <p:spPr>
          <a:xfrm xmlns:a="http://schemas.openxmlformats.org/drawingml/2006/main">
            <a:off x="952500" y="37719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17311B"/>
                </a:solidFill>
                <a:latin typeface="Calibri"/>
                <a:ea typeface="Calibri"/>
                <a:cs typeface="Calibri"/>
              </a:defRPr>
            </a:pPr>
            <a:r>
              <a:rPr sz="1500" b="0">
                <a:solidFill>
                  <a:srgbClr val="17311B"/>
                </a:solidFill>
                <a:latin typeface="Calibri"/>
                <a:ea typeface="Calibri"/>
                <a:cs typeface="Calibri"/>
              </a:rPr>
              <a:t>04  Research Gaps &amp; Proposed Work</a:t>
            </a:r>
          </a:p>
        </p:txBody>
      </p:sp>
      <p:sp>
        <p:nvSpPr>
          <p:cNvPr id="12" name="">
            <a:extLst xmlns:a="http://schemas.openxmlformats.org/drawingml/2006/main">
              <a:ext uri="{FF2B5EF4-FFF2-40B4-BE49-F238E27FC236}">
                <a16:creationId xmlns:a16="http://schemas.microsoft.com/office/drawing/2014/main" id="{0DE30526-DCAE-47E1-844E-97CE8CACD236}"/>
              </a:ext>
            </a:extLst>
          </p:cNvPr>
          <p:cNvSpPr>
            <a:spLocks xmlns:a="http://schemas.openxmlformats.org/drawingml/2006/main" noGrp="1"/>
          </p:cNvSpPr>
          <p:nvPr/>
        </p:nvSpPr>
        <p:spPr>
          <a:xfrm xmlns:a="http://schemas.openxmlformats.org/drawingml/2006/main">
            <a:off x="952500" y="44577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17311B"/>
                </a:solidFill>
                <a:latin typeface="Calibri"/>
                <a:ea typeface="Calibri"/>
                <a:cs typeface="Calibri"/>
              </a:defRPr>
            </a:pPr>
            <a:r>
              <a:rPr sz="1500" b="0">
                <a:solidFill>
                  <a:srgbClr val="17311B"/>
                </a:solidFill>
                <a:latin typeface="Calibri"/>
                <a:ea typeface="Calibri"/>
                <a:cs typeface="Calibri"/>
              </a:rPr>
              <a:t>05  Technologies in Proposed Work</a:t>
            </a:r>
          </a:p>
        </p:txBody>
      </p:sp>
      <p:sp>
        <p:nvSpPr>
          <p:cNvPr id="13" name="">
            <a:extLst xmlns:a="http://schemas.openxmlformats.org/drawingml/2006/main">
              <a:ext uri="{FF2B5EF4-FFF2-40B4-BE49-F238E27FC236}">
                <a16:creationId xmlns:a16="http://schemas.microsoft.com/office/drawing/2014/main" id="{44FC0E12-F922-4348-BC08-B64FBCAD39DA}"/>
              </a:ext>
            </a:extLst>
          </p:cNvPr>
          <p:cNvSpPr>
            <a:spLocks xmlns:a="http://schemas.openxmlformats.org/drawingml/2006/main" noGrp="1"/>
          </p:cNvSpPr>
          <p:nvPr/>
        </p:nvSpPr>
        <p:spPr>
          <a:xfrm xmlns:a="http://schemas.openxmlformats.org/drawingml/2006/main">
            <a:off x="5048250" y="17145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17311B"/>
                </a:solidFill>
                <a:latin typeface="Calibri"/>
                <a:ea typeface="Calibri"/>
                <a:cs typeface="Calibri"/>
              </a:defRPr>
            </a:pPr>
            <a:r>
              <a:rPr sz="1500" b="0">
                <a:solidFill>
                  <a:srgbClr val="17311B"/>
                </a:solidFill>
                <a:latin typeface="Calibri"/>
                <a:ea typeface="Calibri"/>
                <a:cs typeface="Calibri"/>
              </a:rPr>
              <a:t>06  Block Diagram / Flow Chart</a:t>
            </a:r>
          </a:p>
        </p:txBody>
      </p:sp>
      <p:sp>
        <p:nvSpPr>
          <p:cNvPr id="14" name="">
            <a:extLst xmlns:a="http://schemas.openxmlformats.org/drawingml/2006/main">
              <a:ext uri="{FF2B5EF4-FFF2-40B4-BE49-F238E27FC236}">
                <a16:creationId xmlns:a16="http://schemas.microsoft.com/office/drawing/2014/main" id="{B47EE894-B5F4-404B-94FE-544239D2F577}"/>
              </a:ext>
            </a:extLst>
          </p:cNvPr>
          <p:cNvSpPr>
            <a:spLocks xmlns:a="http://schemas.openxmlformats.org/drawingml/2006/main" noGrp="1"/>
          </p:cNvSpPr>
          <p:nvPr/>
        </p:nvSpPr>
        <p:spPr>
          <a:xfrm xmlns:a="http://schemas.openxmlformats.org/drawingml/2006/main">
            <a:off x="5048250" y="24003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17311B"/>
                </a:solidFill>
                <a:latin typeface="Calibri"/>
                <a:ea typeface="Calibri"/>
                <a:cs typeface="Calibri"/>
              </a:defRPr>
            </a:pPr>
            <a:r>
              <a:rPr sz="1500" b="0">
                <a:solidFill>
                  <a:srgbClr val="17311B"/>
                </a:solidFill>
                <a:latin typeface="Calibri"/>
                <a:ea typeface="Calibri"/>
                <a:cs typeface="Calibri"/>
              </a:rPr>
              <a:t>07  Implementation Progress</a:t>
            </a:r>
          </a:p>
        </p:txBody>
      </p:sp>
      <p:sp>
        <p:nvSpPr>
          <p:cNvPr id="15" name="">
            <a:extLst xmlns:a="http://schemas.openxmlformats.org/drawingml/2006/main">
              <a:ext uri="{FF2B5EF4-FFF2-40B4-BE49-F238E27FC236}">
                <a16:creationId xmlns:a16="http://schemas.microsoft.com/office/drawing/2014/main" id="{925E10D1-919C-4E1C-A598-011747E1AD49}"/>
              </a:ext>
            </a:extLst>
          </p:cNvPr>
          <p:cNvSpPr>
            <a:spLocks xmlns:a="http://schemas.openxmlformats.org/drawingml/2006/main" noGrp="1"/>
          </p:cNvSpPr>
          <p:nvPr/>
        </p:nvSpPr>
        <p:spPr>
          <a:xfrm xmlns:a="http://schemas.openxmlformats.org/drawingml/2006/main">
            <a:off x="5048250" y="30861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17311B"/>
                </a:solidFill>
                <a:latin typeface="Calibri"/>
                <a:ea typeface="Calibri"/>
                <a:cs typeface="Calibri"/>
              </a:defRPr>
            </a:pPr>
            <a:r>
              <a:rPr sz="1500" b="0">
                <a:solidFill>
                  <a:srgbClr val="17311B"/>
                </a:solidFill>
                <a:latin typeface="Calibri"/>
                <a:ea typeface="Calibri"/>
                <a:cs typeface="Calibri"/>
              </a:rPr>
              <a:t>08  Advantages &amp; Future Scope</a:t>
            </a:r>
          </a:p>
        </p:txBody>
      </p:sp>
      <p:sp>
        <p:nvSpPr>
          <p:cNvPr id="16" name="">
            <a:extLst xmlns:a="http://schemas.openxmlformats.org/drawingml/2006/main">
              <a:ext uri="{FF2B5EF4-FFF2-40B4-BE49-F238E27FC236}">
                <a16:creationId xmlns:a16="http://schemas.microsoft.com/office/drawing/2014/main" id="{294EF06B-C26A-4747-9990-B77A764B7146}"/>
              </a:ext>
            </a:extLst>
          </p:cNvPr>
          <p:cNvSpPr>
            <a:spLocks xmlns:a="http://schemas.openxmlformats.org/drawingml/2006/main" noGrp="1"/>
          </p:cNvSpPr>
          <p:nvPr/>
        </p:nvSpPr>
        <p:spPr>
          <a:xfrm xmlns:a="http://schemas.openxmlformats.org/drawingml/2006/main">
            <a:off x="5048250" y="37719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17311B"/>
                </a:solidFill>
                <a:latin typeface="Calibri"/>
                <a:ea typeface="Calibri"/>
                <a:cs typeface="Calibri"/>
              </a:defRPr>
            </a:pPr>
            <a:r>
              <a:rPr sz="1500" b="0">
                <a:solidFill>
                  <a:srgbClr val="17311B"/>
                </a:solidFill>
                <a:latin typeface="Calibri"/>
                <a:ea typeface="Calibri"/>
                <a:cs typeface="Calibri"/>
              </a:rPr>
              <a:t>09  Documentation</a:t>
            </a:r>
          </a:p>
        </p:txBody>
      </p:sp>
      <p:sp>
        <p:nvSpPr>
          <p:cNvPr id="17" name="">
            <a:extLst xmlns:a="http://schemas.openxmlformats.org/drawingml/2006/main">
              <a:ext uri="{FF2B5EF4-FFF2-40B4-BE49-F238E27FC236}">
                <a16:creationId xmlns:a16="http://schemas.microsoft.com/office/drawing/2014/main" id="{54BA8740-C444-4C6E-B7E5-45F9B8D3AAE7}"/>
              </a:ext>
            </a:extLst>
          </p:cNvPr>
          <p:cNvSpPr>
            <a:spLocks xmlns:a="http://schemas.openxmlformats.org/drawingml/2006/main" noGrp="1"/>
          </p:cNvSpPr>
          <p:nvPr/>
        </p:nvSpPr>
        <p:spPr>
          <a:xfrm xmlns:a="http://schemas.openxmlformats.org/drawingml/2006/main">
            <a:off x="5048250" y="44577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972"/>
          </a:bodyPr>
          <a:lstStyle xmlns:a="http://schemas.openxmlformats.org/drawingml/2006/main"/>
          <a:p xmlns:a="http://schemas.openxmlformats.org/drawingml/2006/main">
            <a:pPr algn="l">
              <a:buNone/>
              <a:defRPr sz="1500" b="0">
                <a:solidFill>
                  <a:srgbClr val="17311B"/>
                </a:solidFill>
                <a:latin typeface="Calibri"/>
                <a:ea typeface="Calibri"/>
                <a:cs typeface="Calibri"/>
              </a:defRPr>
            </a:pPr>
            <a:r>
              <a:rPr sz="1500" b="0">
                <a:solidFill>
                  <a:srgbClr val="17311B"/>
                </a:solidFill>
                <a:latin typeface="Calibri"/>
                <a:ea typeface="Calibri"/>
                <a:cs typeface="Calibri"/>
              </a:rPr>
              <a:t>10  Publication Details &amp; Research Links</a:t>
            </a:r>
          </a:p>
        </p:txBody>
      </p:sp>
    </p:spTree>
    <p:extLst>
      <p:ext uri="{BB962C8B-B14F-4D97-AF65-F5344CB8AC3E}">
        <p14:creationId xmlns:p14="http://schemas.microsoft.com/office/powerpoint/2010/main" val="32241177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79541904-13D5-4EE3-A614-D45CAA64D341}"/>
              </a:ext>
            </a:extLst>
          </p:cNvPr>
          <p:cNvSpPr>
            <a:spLocks xmlns:a="http://schemas.openxmlformats.org/drawingml/2006/main" noGrp="1"/>
          </p:cNvSpPr>
          <p:nvPr/>
        </p:nvSpPr>
        <p:spPr>
          <a:xfrm xmlns:a="http://schemas.openxmlformats.org/drawingml/2006/main">
            <a:off x="2987824" y="476672"/>
            <a:ext cx="2952328" cy="43434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marL="0" marR="0" lvl="0" indent="0" algn="ctr" defTabSz="914400">
              <a:lnSpc>
                <a:spcPct val="100000"/>
              </a:lnSpc>
              <a:spcBef>
                <a:spcPct val="0"/>
              </a:spcBef>
              <a:spcAft>
                <a:spcPct val="0"/>
              </a:spcAft>
              <a:buClrTx/>
              <a:buSzTx/>
              <a:buFontTx/>
              <a:buNone/>
              <a:defRPr sz="2250" b="1">
                <a:solidFill>
                  <a:srgbClr val="FFFFFF"/>
                </a:solidFill>
                <a:latin typeface="Times New Roman"/>
                <a:ea typeface="Times New Roman"/>
                <a:cs typeface="Times New Roman"/>
              </a:defRPr>
            </a:pPr>
            <a:r>
              <a:rPr sz="2250" b="1" i="0" u="none" strike="noStrike" cap="none" spc="0" baseline="0">
                <a:solidFill>
                  <a:srgbClr val="FFFFFF"/>
                </a:solidFill>
                <a:effectLst>
                  <a:outerShdw blurRad="38100" dist="19050" dir="2700000" algn="tl" rotWithShape="0">
                    <a:schemeClr val="dk1">
                      <a:alpha val="40000"/>
                    </a:schemeClr>
                  </a:outerShdw>
                </a:effectLst>
                <a:latin typeface="Times New Roman"/>
                <a:ea typeface="Times New Roman"/>
                <a:cs typeface="Times New Roman"/>
              </a:rPr>
              <a:t>Introduction</a:t>
            </a:r>
            <a:endParaRPr sz="3600" b="1" i="0" u="none" strike="noStrike" kern="1200" cap="none" spc="0" baseline="0">
              <a:solidFill>
                <a:schemeClr val="bg1"/>
              </a:solidFill>
              <a:effectLst>
                <a:outerShdw blurRad="38100" dist="19050" dir="2700000" algn="tl" rotWithShape="0">
                  <a:schemeClr val="dk1">
                    <a:alpha val="40000"/>
                  </a:schemeClr>
                </a:outerShdw>
              </a:effectLst>
              <a:latin typeface="Times New Roman"/>
              <a:ea typeface="Times New Roman"/>
              <a:cs typeface="Times New Roman"/>
            </a:endParaRPr>
          </a:p>
        </p:txBody>
      </p:sp>
      <p:sp>
        <p:nvSpPr>
          <p:cNvPr id="6" name="">
            <a:extLst xmlns:a="http://schemas.openxmlformats.org/drawingml/2006/main">
              <a:ext uri="{FF2B5EF4-FFF2-40B4-BE49-F238E27FC236}">
                <a16:creationId xmlns:a16="http://schemas.microsoft.com/office/drawing/2014/main" id="{D25C4913-AED6-4857-89CF-2168F0495611}"/>
              </a:ext>
            </a:extLst>
          </p:cNvPr>
          <p:cNvSpPr>
            <a:spLocks xmlns:a="http://schemas.openxmlformats.org/drawingml/2006/main" noGrp="1"/>
          </p:cNvSpPr>
          <p:nvPr/>
        </p:nvSpPr>
        <p:spPr>
          <a:xfrm xmlns:a="http://schemas.openxmlformats.org/drawingml/2006/main">
            <a:off x="400050" y="1314450"/>
            <a:ext cx="2552700" cy="4248150"/>
          </a:xfrm>
          <a:prstGeom xmlns:a="http://schemas.openxmlformats.org/drawingml/2006/main" prst="roundRect">
            <a:avLst>
              <a:gd name="adj" fmla="val 2985"/>
            </a:avLst>
          </a:prstGeom>
          <a:solidFill xmlns:a="http://schemas.openxmlformats.org/drawingml/2006/main">
            <a:srgbClr val="F7FAF6"/>
          </a:solidFill>
          <a:ln xmlns:a="http://schemas.openxmlformats.org/drawingml/2006/main" w="10478">
            <a:solidFill>
              <a:srgbClr val="CFDDCB"/>
            </a:solidFill>
            <a:prstDash val="solid"/>
          </a:ln>
        </p:spPr>
      </p:sp>
      <p:sp>
        <p:nvSpPr>
          <p:cNvPr id="7" name="">
            <a:extLst xmlns:a="http://schemas.openxmlformats.org/drawingml/2006/main">
              <a:ext uri="{FF2B5EF4-FFF2-40B4-BE49-F238E27FC236}">
                <a16:creationId xmlns:a16="http://schemas.microsoft.com/office/drawing/2014/main" id="{836BEA72-6523-44E8-817E-BC0FA393BBB5}"/>
              </a:ext>
            </a:extLst>
          </p:cNvPr>
          <p:cNvSpPr>
            <a:spLocks xmlns:a="http://schemas.openxmlformats.org/drawingml/2006/main" noGrp="1"/>
          </p:cNvSpPr>
          <p:nvPr/>
        </p:nvSpPr>
        <p:spPr>
          <a:xfrm xmlns:a="http://schemas.openxmlformats.org/drawingml/2006/main">
            <a:off x="533400" y="1466850"/>
            <a:ext cx="2286000" cy="285750"/>
          </a:xfrm>
          <a:prstGeom xmlns:a="http://schemas.openxmlformats.org/drawingml/2006/main" prst="roundRect">
            <a:avLst>
              <a:gd name="adj" fmla="val 26667"/>
            </a:avLst>
          </a:prstGeom>
          <a:solidFill xmlns:a="http://schemas.openxmlformats.org/drawingml/2006/main">
            <a:srgbClr val="3F922F"/>
          </a:solidFill>
          <a:ln xmlns:a="http://schemas.openxmlformats.org/drawingml/2006/main" w="0">
            <a:solidFill>
              <a:srgbClr val="3F922F"/>
            </a:solidFill>
          </a:ln>
        </p:spPr>
        <p:txBody>
          <a:bodyPr xmlns:a="http://schemas.openxmlformats.org/drawingml/2006/main" anchor="ctr">
            <a:normAutofit fontScale="73903"/>
          </a:bodyPr>
          <a:lstStyle xmlns:a="http://schemas.openxmlformats.org/drawingml/2006/main"/>
          <a:p xmlns:a="http://schemas.openxmlformats.org/drawingml/2006/main">
            <a:pPr algn="ctr">
              <a:buNone/>
              <a:defRPr sz="1125" b="1">
                <a:solidFill>
                  <a:srgbClr val="FFFFFF"/>
                </a:solidFill>
                <a:latin typeface="Calibri"/>
                <a:ea typeface="Calibri"/>
                <a:cs typeface="Calibri"/>
              </a:defRPr>
            </a:pPr>
            <a:r>
              <a:rPr sz="1125" b="1">
                <a:solidFill>
                  <a:srgbClr val="FFFFFF"/>
                </a:solidFill>
                <a:latin typeface="Calibri"/>
                <a:ea typeface="Calibri"/>
                <a:cs typeface="Calibri"/>
              </a:rPr>
              <a:t>Why this complete platform is worth reviewing</a:t>
            </a:r>
          </a:p>
        </p:txBody>
      </p:sp>
      <p:sp>
        <p:nvSpPr>
          <p:cNvPr id="8" name="">
            <a:extLst xmlns:a="http://schemas.openxmlformats.org/drawingml/2006/main">
              <a:ext uri="{FF2B5EF4-FFF2-40B4-BE49-F238E27FC236}">
                <a16:creationId xmlns:a16="http://schemas.microsoft.com/office/drawing/2014/main" id="{8053701F-83B8-4C7A-9E33-E559578F1DF5}"/>
              </a:ext>
            </a:extLst>
          </p:cNvPr>
          <p:cNvSpPr>
            <a:spLocks xmlns:a="http://schemas.openxmlformats.org/drawingml/2006/main" noGrp="1"/>
          </p:cNvSpPr>
          <p:nvPr/>
        </p:nvSpPr>
        <p:spPr>
          <a:xfrm xmlns:a="http://schemas.openxmlformats.org/drawingml/2006/main">
            <a:off x="609600" y="1962150"/>
            <a:ext cx="2133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Universities often separate identity, courses, meetings, attendance, assessment, student support and official records.</a:t>
            </a:r>
          </a:p>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Fragmentation increases repeated work and prevents a complete, traceable view of learning.</a:t>
            </a:r>
          </a:p>
        </p:txBody>
      </p:sp>
      <p:sp>
        <p:nvSpPr>
          <p:cNvPr id="9" name="">
            <a:extLst xmlns:a="http://schemas.openxmlformats.org/drawingml/2006/main">
              <a:ext uri="{FF2B5EF4-FFF2-40B4-BE49-F238E27FC236}">
                <a16:creationId xmlns:a16="http://schemas.microsoft.com/office/drawing/2014/main" id="{57C5A0E1-9FEB-4432-9596-C13BC5958B65}"/>
              </a:ext>
            </a:extLst>
          </p:cNvPr>
          <p:cNvSpPr>
            <a:spLocks xmlns:a="http://schemas.openxmlformats.org/drawingml/2006/main" noGrp="1"/>
          </p:cNvSpPr>
          <p:nvPr/>
        </p:nvSpPr>
        <p:spPr>
          <a:xfrm xmlns:a="http://schemas.openxmlformats.org/drawingml/2006/main">
            <a:off x="3295650" y="1314450"/>
            <a:ext cx="2552700" cy="4248150"/>
          </a:xfrm>
          <a:prstGeom xmlns:a="http://schemas.openxmlformats.org/drawingml/2006/main" prst="roundRect">
            <a:avLst>
              <a:gd name="adj" fmla="val 2985"/>
            </a:avLst>
          </a:prstGeom>
          <a:solidFill xmlns:a="http://schemas.openxmlformats.org/drawingml/2006/main">
            <a:srgbClr val="F7FAF6"/>
          </a:solidFill>
          <a:ln xmlns:a="http://schemas.openxmlformats.org/drawingml/2006/main" w="10478">
            <a:solidFill>
              <a:srgbClr val="CFDDCB"/>
            </a:solidFill>
            <a:prstDash val="solid"/>
          </a:ln>
        </p:spPr>
      </p:sp>
      <p:sp>
        <p:nvSpPr>
          <p:cNvPr id="10" name="">
            <a:extLst xmlns:a="http://schemas.openxmlformats.org/drawingml/2006/main">
              <a:ext uri="{FF2B5EF4-FFF2-40B4-BE49-F238E27FC236}">
                <a16:creationId xmlns:a16="http://schemas.microsoft.com/office/drawing/2014/main" id="{9928B21C-6B3A-4EA9-AE4A-E74FB655A465}"/>
              </a:ext>
            </a:extLst>
          </p:cNvPr>
          <p:cNvSpPr>
            <a:spLocks xmlns:a="http://schemas.openxmlformats.org/drawingml/2006/main" noGrp="1"/>
          </p:cNvSpPr>
          <p:nvPr/>
        </p:nvSpPr>
        <p:spPr>
          <a:xfrm xmlns:a="http://schemas.openxmlformats.org/drawingml/2006/main">
            <a:off x="3429000" y="1466850"/>
            <a:ext cx="2286000" cy="285750"/>
          </a:xfrm>
          <a:prstGeom xmlns:a="http://schemas.openxmlformats.org/drawingml/2006/main" prst="roundRect">
            <a:avLst>
              <a:gd name="adj" fmla="val 26667"/>
            </a:avLst>
          </a:prstGeom>
          <a:solidFill xmlns:a="http://schemas.openxmlformats.org/drawingml/2006/main">
            <a:srgbClr val="24649A"/>
          </a:solidFill>
          <a:ln xmlns:a="http://schemas.openxmlformats.org/drawingml/2006/main" w="0">
            <a:solidFill>
              <a:srgbClr val="24649A"/>
            </a:solidFill>
          </a:ln>
        </p:spPr>
        <p:txBody>
          <a:bodyPr xmlns:a="http://schemas.openxmlformats.org/drawingml/2006/main" anchor="ctr">
            <a:normAutofit fontScale="85003"/>
          </a:bodyPr>
          <a:lstStyle xmlns:a="http://schemas.openxmlformats.org/drawingml/2006/main"/>
          <a:p xmlns:a="http://schemas.openxmlformats.org/drawingml/2006/main">
            <a:pPr algn="ctr">
              <a:buNone/>
              <a:defRPr sz="1125" b="1">
                <a:solidFill>
                  <a:srgbClr val="FFFFFF"/>
                </a:solidFill>
                <a:latin typeface="Calibri"/>
                <a:ea typeface="Calibri"/>
                <a:cs typeface="Calibri"/>
              </a:defRPr>
            </a:pPr>
            <a:r>
              <a:rPr sz="1125" b="1">
                <a:solidFill>
                  <a:srgbClr val="FFFFFF"/>
                </a:solidFill>
                <a:latin typeface="Calibri"/>
                <a:ea typeface="Calibri"/>
                <a:cs typeface="Calibri"/>
              </a:rPr>
              <a:t>Problem statement &amp; research questions</a:t>
            </a:r>
          </a:p>
        </p:txBody>
      </p:sp>
      <p:sp>
        <p:nvSpPr>
          <p:cNvPr id="11" name="">
            <a:extLst xmlns:a="http://schemas.openxmlformats.org/drawingml/2006/main">
              <a:ext uri="{FF2B5EF4-FFF2-40B4-BE49-F238E27FC236}">
                <a16:creationId xmlns:a16="http://schemas.microsoft.com/office/drawing/2014/main" id="{19B0104D-1DF5-45D3-B324-52BBB50B36C4}"/>
              </a:ext>
            </a:extLst>
          </p:cNvPr>
          <p:cNvSpPr>
            <a:spLocks xmlns:a="http://schemas.openxmlformats.org/drawingml/2006/main" noGrp="1"/>
          </p:cNvSpPr>
          <p:nvPr/>
        </p:nvSpPr>
        <p:spPr>
          <a:xfrm xmlns:a="http://schemas.openxmlformats.org/drawingml/2006/main">
            <a:off x="3505200" y="1962150"/>
            <a:ext cx="2133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How can one platform securely connect administration, teaching, assessment and official records?</a:t>
            </a:r>
          </a:p>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How can classroom and course evidence support students without treating attendance as achievement?</a:t>
            </a:r>
          </a:p>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How can analytics, AI and gamification remain explainable, optional and human-controlled?</a:t>
            </a:r>
          </a:p>
        </p:txBody>
      </p:sp>
      <p:sp>
        <p:nvSpPr>
          <p:cNvPr id="12" name="">
            <a:extLst xmlns:a="http://schemas.openxmlformats.org/drawingml/2006/main">
              <a:ext uri="{FF2B5EF4-FFF2-40B4-BE49-F238E27FC236}">
                <a16:creationId xmlns:a16="http://schemas.microsoft.com/office/drawing/2014/main" id="{88C76D78-8A61-42F7-A7AF-AE8832D9BF80}"/>
              </a:ext>
            </a:extLst>
          </p:cNvPr>
          <p:cNvSpPr>
            <a:spLocks xmlns:a="http://schemas.openxmlformats.org/drawingml/2006/main" noGrp="1"/>
          </p:cNvSpPr>
          <p:nvPr/>
        </p:nvSpPr>
        <p:spPr>
          <a:xfrm xmlns:a="http://schemas.openxmlformats.org/drawingml/2006/main">
            <a:off x="6191250" y="1314450"/>
            <a:ext cx="2552700" cy="4248150"/>
          </a:xfrm>
          <a:prstGeom xmlns:a="http://schemas.openxmlformats.org/drawingml/2006/main" prst="roundRect">
            <a:avLst>
              <a:gd name="adj" fmla="val 2985"/>
            </a:avLst>
          </a:prstGeom>
          <a:solidFill xmlns:a="http://schemas.openxmlformats.org/drawingml/2006/main">
            <a:srgbClr val="F7FAF6"/>
          </a:solidFill>
          <a:ln xmlns:a="http://schemas.openxmlformats.org/drawingml/2006/main" w="10478">
            <a:solidFill>
              <a:srgbClr val="CFDDCB"/>
            </a:solidFill>
            <a:prstDash val="solid"/>
          </a:ln>
        </p:spPr>
      </p:sp>
      <p:sp>
        <p:nvSpPr>
          <p:cNvPr id="13" name="">
            <a:extLst xmlns:a="http://schemas.openxmlformats.org/drawingml/2006/main">
              <a:ext uri="{FF2B5EF4-FFF2-40B4-BE49-F238E27FC236}">
                <a16:creationId xmlns:a16="http://schemas.microsoft.com/office/drawing/2014/main" id="{8464656B-C2B7-440C-ABB1-1E3961921467}"/>
              </a:ext>
            </a:extLst>
          </p:cNvPr>
          <p:cNvSpPr>
            <a:spLocks xmlns:a="http://schemas.openxmlformats.org/drawingml/2006/main" noGrp="1"/>
          </p:cNvSpPr>
          <p:nvPr/>
        </p:nvSpPr>
        <p:spPr>
          <a:xfrm xmlns:a="http://schemas.openxmlformats.org/drawingml/2006/main">
            <a:off x="6324600" y="1466850"/>
            <a:ext cx="2286000" cy="285750"/>
          </a:xfrm>
          <a:prstGeom xmlns:a="http://schemas.openxmlformats.org/drawingml/2006/main" prst="roundRect">
            <a:avLst>
              <a:gd name="adj" fmla="val 26667"/>
            </a:avLst>
          </a:prstGeom>
          <a:solidFill xmlns:a="http://schemas.openxmlformats.org/drawingml/2006/main">
            <a:srgbClr val="3F922F"/>
          </a:solidFill>
          <a:ln xmlns:a="http://schemas.openxmlformats.org/drawingml/2006/main" w="0">
            <a:solidFill>
              <a:srgbClr val="3F922F"/>
            </a:solidFill>
          </a:ln>
        </p:spPr>
        <p:txBody>
          <a:bodyPr xmlns:a="http://schemas.openxmlformats.org/drawingml/2006/main" anchor="ctr">
            <a:normAutofit fontScale="87298"/>
          </a:bodyPr>
          <a:lstStyle xmlns:a="http://schemas.openxmlformats.org/drawingml/2006/main"/>
          <a:p xmlns:a="http://schemas.openxmlformats.org/drawingml/2006/main">
            <a:pPr algn="ctr">
              <a:buNone/>
              <a:defRPr sz="1125" b="1">
                <a:solidFill>
                  <a:srgbClr val="FFFFFF"/>
                </a:solidFill>
                <a:latin typeface="Calibri"/>
                <a:ea typeface="Calibri"/>
                <a:cs typeface="Calibri"/>
              </a:defRPr>
            </a:pPr>
            <a:r>
              <a:rPr sz="1125" b="1">
                <a:solidFill>
                  <a:srgbClr val="FFFFFF"/>
                </a:solidFill>
                <a:latin typeface="Calibri"/>
                <a:ea typeface="Calibri"/>
                <a:cs typeface="Calibri"/>
              </a:rPr>
              <a:t>Literature-survey scope</a:t>
            </a:r>
          </a:p>
        </p:txBody>
      </p:sp>
      <p:sp>
        <p:nvSpPr>
          <p:cNvPr id="14" name="">
            <a:extLst xmlns:a="http://schemas.openxmlformats.org/drawingml/2006/main">
              <a:ext uri="{FF2B5EF4-FFF2-40B4-BE49-F238E27FC236}">
                <a16:creationId xmlns:a16="http://schemas.microsoft.com/office/drawing/2014/main" id="{7BC5361B-AB75-432F-ABD2-FFF222250804}"/>
              </a:ext>
            </a:extLst>
          </p:cNvPr>
          <p:cNvSpPr>
            <a:spLocks xmlns:a="http://schemas.openxmlformats.org/drawingml/2006/main" noGrp="1"/>
          </p:cNvSpPr>
          <p:nvPr/>
        </p:nvSpPr>
        <p:spPr>
          <a:xfrm xmlns:a="http://schemas.openxmlformats.org/drawingml/2006/main">
            <a:off x="6400800" y="1962150"/>
            <a:ext cx="2133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Structured review of peer-reviewed work from 1996–2025.</a:t>
            </a:r>
          </a:p>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Coverage: LMS quality, RBAC, classroom, attendance, assessment, programming, resources, analytics, ERP, AI and gamification.</a:t>
            </a:r>
          </a:p>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University roles: student, faculty, HOD, administrator and platform operator.</a:t>
            </a:r>
          </a:p>
        </p:txBody>
      </p:sp>
      <p:sp>
        <p:nvSpPr>
          <p:cNvPr id="15" name="">
            <a:extLst xmlns:a="http://schemas.openxmlformats.org/drawingml/2006/main">
              <a:ext uri="{FF2B5EF4-FFF2-40B4-BE49-F238E27FC236}">
                <a16:creationId xmlns:a16="http://schemas.microsoft.com/office/drawing/2014/main" id="{7BF5CE18-1B93-4CE0-BD41-26ED2700372B}"/>
              </a:ext>
            </a:extLst>
          </p:cNvPr>
          <p:cNvSpPr>
            <a:spLocks xmlns:a="http://schemas.openxmlformats.org/drawingml/2006/main" noGrp="1"/>
          </p:cNvSpPr>
          <p:nvPr/>
        </p:nvSpPr>
        <p:spPr>
          <a:xfrm xmlns:a="http://schemas.openxmlformats.org/drawingml/2006/main">
            <a:off x="704850" y="5734050"/>
            <a:ext cx="7734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314"/>
          </a:bodyPr>
          <a:lstStyle xmlns:a="http://schemas.openxmlformats.org/drawingml/2006/main"/>
          <a:p xmlns:a="http://schemas.openxmlformats.org/drawingml/2006/main">
            <a:pPr algn="ctr">
              <a:buNone/>
              <a:defRPr sz="1275" b="1">
                <a:solidFill>
                  <a:srgbClr val="17451C"/>
                </a:solidFill>
                <a:latin typeface="Calibri"/>
                <a:ea typeface="Calibri"/>
                <a:cs typeface="Calibri"/>
              </a:defRPr>
            </a:pPr>
            <a:r>
              <a:rPr sz="1275" b="1">
                <a:solidFill>
                  <a:srgbClr val="17451C"/>
                </a:solidFill>
                <a:latin typeface="Calibri"/>
                <a:ea typeface="Calibri"/>
                <a:cs typeface="Calibri"/>
              </a:rPr>
              <a:t>Objective: build and evaluate a unified university workflow from institution setup and account security to course delivery, classroom evidence, assessment, ERP exchange and student support.</a:t>
            </a:r>
          </a:p>
        </p:txBody>
      </p:sp>
    </p:spTree>
    <p:extLst>
      <p:ext uri="{BB962C8B-B14F-4D97-AF65-F5344CB8AC3E}">
        <p14:creationId xmlns:p14="http://schemas.microsoft.com/office/powerpoint/2010/main" val="44085914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AE930037-B69A-4A2C-BC27-8DC6D5887E22}"/>
              </a:ext>
            </a:extLst>
          </p:cNvPr>
          <p:cNvSpPr>
            <a:spLocks xmlns:a="http://schemas.openxmlformats.org/drawingml/2006/main" noGrp="1"/>
          </p:cNvSpPr>
          <p:nvPr/>
        </p:nvSpPr>
        <p:spPr>
          <a:xfrm xmlns:a="http://schemas.openxmlformats.org/drawingml/2006/main">
            <a:off x="341630" y="307975"/>
            <a:ext cx="6968490" cy="82423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marL="0" marR="0" lvl="0" indent="0" algn="ctr" defTabSz="914400">
              <a:lnSpc>
                <a:spcPct val="100000"/>
              </a:lnSpc>
              <a:spcBef>
                <a:spcPct val="0"/>
              </a:spcBef>
              <a:spcAft>
                <a:spcPct val="0"/>
              </a:spcAft>
              <a:buClrTx/>
              <a:buSzTx/>
              <a:buFontTx/>
              <a:buNone/>
              <a:defRPr sz="2175" b="1">
                <a:solidFill>
                  <a:srgbClr val="FFFFFF"/>
                </a:solidFill>
                <a:latin typeface="Times New Roman"/>
                <a:ea typeface="Times New Roman"/>
                <a:cs typeface="Times New Roman"/>
              </a:defRPr>
            </a:pPr>
            <a:r>
              <a:rPr sz="2175" b="1" i="0" u="none" strike="noStrike" cap="none" spc="0" baseline="0">
                <a:solidFill>
                  <a:srgbClr val="FFFFFF"/>
                </a:solidFill>
                <a:effectLst>
                  <a:outerShdw blurRad="38100" dist="19050" dir="2700000" algn="tl" rotWithShape="0">
                    <a:schemeClr val="dk1">
                      <a:alpha val="40000"/>
                    </a:schemeClr>
                  </a:outerShdw>
                </a:effectLst>
                <a:latin typeface="Times New Roman"/>
                <a:ea typeface="Times New Roman"/>
                <a:cs typeface="Times New Roman"/>
              </a:rPr>
              <a:t>Base Paper</a:t>
            </a:r>
            <a:endParaRPr sz="2000" b="1" i="0" u="none" strike="noStrike" kern="1200" cap="none" spc="0" baseline="0">
              <a:solidFill>
                <a:schemeClr val="bg1"/>
              </a:solidFill>
              <a:effectLst>
                <a:outerShdw blurRad="38100" dist="19050" dir="2700000" algn="tl" rotWithShape="0">
                  <a:schemeClr val="dk1">
                    <a:alpha val="40000"/>
                  </a:schemeClr>
                </a:outerShdw>
              </a:effectLst>
              <a:latin typeface="Times New Roman"/>
              <a:ea typeface="Times New Roman"/>
              <a:cs typeface="Times New Roman"/>
            </a:endParaRPr>
          </a:p>
        </p:txBody>
      </p:sp>
      <p:sp>
        <p:nvSpPr>
          <p:cNvPr id="6" name="">
            <a:extLst xmlns:a="http://schemas.openxmlformats.org/drawingml/2006/main">
              <a:ext uri="{FF2B5EF4-FFF2-40B4-BE49-F238E27FC236}">
                <a16:creationId xmlns:a16="http://schemas.microsoft.com/office/drawing/2014/main" id="{4BA3764D-B8E8-4D4F-9417-002C8EBA4FE8}"/>
              </a:ext>
            </a:extLst>
          </p:cNvPr>
          <p:cNvSpPr>
            <a:spLocks xmlns:a="http://schemas.openxmlformats.org/drawingml/2006/main" noGrp="1"/>
          </p:cNvSpPr>
          <p:nvPr/>
        </p:nvSpPr>
        <p:spPr>
          <a:xfrm xmlns:a="http://schemas.openxmlformats.org/drawingml/2006/main">
            <a:off x="523875" y="1181100"/>
            <a:ext cx="8096250" cy="838200"/>
          </a:xfrm>
          <a:prstGeom xmlns:a="http://schemas.openxmlformats.org/drawingml/2006/main" prst="roundRect">
            <a:avLst>
              <a:gd name="adj" fmla="val 9091"/>
            </a:avLst>
          </a:prstGeom>
          <a:solidFill xmlns:a="http://schemas.openxmlformats.org/drawingml/2006/main">
            <a:srgbClr val="EEF6EB"/>
          </a:solidFill>
          <a:ln xmlns:a="http://schemas.openxmlformats.org/drawingml/2006/main" w="10478">
            <a:solidFill>
              <a:srgbClr val="3F922F"/>
            </a:solidFill>
            <a:prstDash val="solid"/>
          </a:ln>
        </p:spPr>
      </p:sp>
      <p:sp>
        <p:nvSpPr>
          <p:cNvPr id="7" name="">
            <a:extLst xmlns:a="http://schemas.openxmlformats.org/drawingml/2006/main">
              <a:ext uri="{FF2B5EF4-FFF2-40B4-BE49-F238E27FC236}">
                <a16:creationId xmlns:a16="http://schemas.microsoft.com/office/drawing/2014/main" id="{6DCE15BF-B462-49FC-9FEA-BFC667CB7A27}"/>
              </a:ext>
            </a:extLst>
          </p:cNvPr>
          <p:cNvSpPr>
            <a:spLocks xmlns:a="http://schemas.openxmlformats.org/drawingml/2006/main" noGrp="1"/>
          </p:cNvSpPr>
          <p:nvPr/>
        </p:nvSpPr>
        <p:spPr>
          <a:xfrm xmlns:a="http://schemas.openxmlformats.org/drawingml/2006/main">
            <a:off x="714375" y="1352550"/>
            <a:ext cx="7715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275" b="1">
                <a:solidFill>
                  <a:srgbClr val="17451C"/>
                </a:solidFill>
                <a:latin typeface="Calibri"/>
                <a:ea typeface="Calibri"/>
                <a:cs typeface="Calibri"/>
              </a:defRPr>
            </a:pPr>
            <a:r>
              <a:rPr sz="1275" b="1">
                <a:solidFill>
                  <a:srgbClr val="17451C"/>
                </a:solidFill>
                <a:latin typeface="Calibri"/>
                <a:ea typeface="Calibri"/>
                <a:cs typeface="Calibri"/>
              </a:rPr>
              <a:t>Al-Fraihat, D., Joy, M., Masa'deh, R. &amp; Sinclair, J. (2020). “Evaluating e-learning systems success: an empirical study.”</a:t>
            </a:r>
          </a:p>
        </p:txBody>
      </p:sp>
      <p:sp>
        <p:nvSpPr>
          <p:cNvPr id="8" name="">
            <a:extLst xmlns:a="http://schemas.openxmlformats.org/drawingml/2006/main">
              <a:ext uri="{FF2B5EF4-FFF2-40B4-BE49-F238E27FC236}">
                <a16:creationId xmlns:a16="http://schemas.microsoft.com/office/drawing/2014/main" id="{659FE9D9-F5DC-49D3-AA56-1BDAC01B2DC1}"/>
              </a:ext>
            </a:extLst>
          </p:cNvPr>
          <p:cNvSpPr>
            <a:spLocks xmlns:a="http://schemas.openxmlformats.org/drawingml/2006/main" noGrp="1"/>
          </p:cNvSpPr>
          <p:nvPr/>
        </p:nvSpPr>
        <p:spPr>
          <a:xfrm xmlns:a="http://schemas.openxmlformats.org/drawingml/2006/main">
            <a:off x="457200" y="2247900"/>
            <a:ext cx="2514600" cy="2628900"/>
          </a:xfrm>
          <a:prstGeom xmlns:a="http://schemas.openxmlformats.org/drawingml/2006/main" prst="roundRect">
            <a:avLst>
              <a:gd name="adj" fmla="val 3030"/>
            </a:avLst>
          </a:prstGeom>
          <a:solidFill xmlns:a="http://schemas.openxmlformats.org/drawingml/2006/main">
            <a:srgbClr val="F7FAF6"/>
          </a:solidFill>
          <a:ln xmlns:a="http://schemas.openxmlformats.org/drawingml/2006/main" w="10478">
            <a:solidFill>
              <a:srgbClr val="CFDDCB"/>
            </a:solidFill>
            <a:prstDash val="solid"/>
          </a:ln>
        </p:spPr>
      </p:sp>
      <p:sp>
        <p:nvSpPr>
          <p:cNvPr id="9" name="">
            <a:extLst xmlns:a="http://schemas.openxmlformats.org/drawingml/2006/main">
              <a:ext uri="{FF2B5EF4-FFF2-40B4-BE49-F238E27FC236}">
                <a16:creationId xmlns:a16="http://schemas.microsoft.com/office/drawing/2014/main" id="{592F5355-0566-49D6-A79E-0C74EC7076F6}"/>
              </a:ext>
            </a:extLst>
          </p:cNvPr>
          <p:cNvSpPr>
            <a:spLocks xmlns:a="http://schemas.openxmlformats.org/drawingml/2006/main" noGrp="1"/>
          </p:cNvSpPr>
          <p:nvPr/>
        </p:nvSpPr>
        <p:spPr>
          <a:xfrm xmlns:a="http://schemas.openxmlformats.org/drawingml/2006/main">
            <a:off x="647700" y="2400300"/>
            <a:ext cx="2133600" cy="285750"/>
          </a:xfrm>
          <a:prstGeom xmlns:a="http://schemas.openxmlformats.org/drawingml/2006/main" prst="roundRect">
            <a:avLst>
              <a:gd name="adj" fmla="val 26667"/>
            </a:avLst>
          </a:prstGeom>
          <a:solidFill xmlns:a="http://schemas.openxmlformats.org/drawingml/2006/main">
            <a:srgbClr val="3F922F"/>
          </a:solidFill>
          <a:ln xmlns:a="http://schemas.openxmlformats.org/drawingml/2006/main" w="0">
            <a:solidFill>
              <a:srgbClr val="3F922F"/>
            </a:solidFill>
          </a:ln>
        </p:spPr>
        <p:txBody>
          <a:bodyPr xmlns:a="http://schemas.openxmlformats.org/drawingml/2006/main" anchor="ctr">
            <a:normAutofit fontScale="87298"/>
          </a:bodyPr>
          <a:lstStyle xmlns:a="http://schemas.openxmlformats.org/drawingml/2006/main"/>
          <a:p xmlns:a="http://schemas.openxmlformats.org/drawingml/2006/main">
            <a:pPr algn="ctr">
              <a:buNone/>
              <a:defRPr sz="1125" b="1">
                <a:solidFill>
                  <a:srgbClr val="FFFFFF"/>
                </a:solidFill>
                <a:latin typeface="Calibri"/>
                <a:ea typeface="Calibri"/>
                <a:cs typeface="Calibri"/>
              </a:defRPr>
            </a:pPr>
            <a:r>
              <a:rPr sz="1125" b="1">
                <a:solidFill>
                  <a:srgbClr val="FFFFFF"/>
                </a:solidFill>
                <a:latin typeface="Calibri"/>
                <a:ea typeface="Calibri"/>
                <a:cs typeface="Calibri"/>
              </a:rPr>
              <a:t>Methodology</a:t>
            </a:r>
          </a:p>
        </p:txBody>
      </p:sp>
      <p:sp>
        <p:nvSpPr>
          <p:cNvPr id="10" name="">
            <a:extLst xmlns:a="http://schemas.openxmlformats.org/drawingml/2006/main">
              <a:ext uri="{FF2B5EF4-FFF2-40B4-BE49-F238E27FC236}">
                <a16:creationId xmlns:a16="http://schemas.microsoft.com/office/drawing/2014/main" id="{E11D8578-0980-4FEF-B555-BFF91B9A3ECA}"/>
              </a:ext>
            </a:extLst>
          </p:cNvPr>
          <p:cNvSpPr>
            <a:spLocks xmlns:a="http://schemas.openxmlformats.org/drawingml/2006/main" noGrp="1"/>
          </p:cNvSpPr>
          <p:nvPr/>
        </p:nvSpPr>
        <p:spPr>
          <a:xfrm xmlns:a="http://schemas.openxmlformats.org/drawingml/2006/main">
            <a:off x="685800" y="2914650"/>
            <a:ext cx="20574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563 university students</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Comprehensive e-learning success model</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Partial Least Squares Structural Equation Modelling</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System, information, service, support, learner and instructor factors</a:t>
            </a:r>
          </a:p>
        </p:txBody>
      </p:sp>
      <p:sp>
        <p:nvSpPr>
          <p:cNvPr id="11" name="">
            <a:extLst xmlns:a="http://schemas.openxmlformats.org/drawingml/2006/main">
              <a:ext uri="{FF2B5EF4-FFF2-40B4-BE49-F238E27FC236}">
                <a16:creationId xmlns:a16="http://schemas.microsoft.com/office/drawing/2014/main" id="{F4614C36-E437-4404-95DD-968B5DFE66D6}"/>
              </a:ext>
            </a:extLst>
          </p:cNvPr>
          <p:cNvSpPr>
            <a:spLocks xmlns:a="http://schemas.openxmlformats.org/drawingml/2006/main" noGrp="1"/>
          </p:cNvSpPr>
          <p:nvPr/>
        </p:nvSpPr>
        <p:spPr>
          <a:xfrm xmlns:a="http://schemas.openxmlformats.org/drawingml/2006/main">
            <a:off x="3314700" y="2247900"/>
            <a:ext cx="2514600" cy="2628900"/>
          </a:xfrm>
          <a:prstGeom xmlns:a="http://schemas.openxmlformats.org/drawingml/2006/main" prst="roundRect">
            <a:avLst>
              <a:gd name="adj" fmla="val 3030"/>
            </a:avLst>
          </a:prstGeom>
          <a:solidFill xmlns:a="http://schemas.openxmlformats.org/drawingml/2006/main">
            <a:srgbClr val="F7FAF6"/>
          </a:solidFill>
          <a:ln xmlns:a="http://schemas.openxmlformats.org/drawingml/2006/main" w="10478">
            <a:solidFill>
              <a:srgbClr val="CFDDCB"/>
            </a:solidFill>
            <a:prstDash val="solid"/>
          </a:ln>
        </p:spPr>
      </p:sp>
      <p:sp>
        <p:nvSpPr>
          <p:cNvPr id="12" name="">
            <a:extLst xmlns:a="http://schemas.openxmlformats.org/drawingml/2006/main">
              <a:ext uri="{FF2B5EF4-FFF2-40B4-BE49-F238E27FC236}">
                <a16:creationId xmlns:a16="http://schemas.microsoft.com/office/drawing/2014/main" id="{74D287AF-0267-4DDE-A7F3-A01739E797A9}"/>
              </a:ext>
            </a:extLst>
          </p:cNvPr>
          <p:cNvSpPr>
            <a:spLocks xmlns:a="http://schemas.openxmlformats.org/drawingml/2006/main" noGrp="1"/>
          </p:cNvSpPr>
          <p:nvPr/>
        </p:nvSpPr>
        <p:spPr>
          <a:xfrm xmlns:a="http://schemas.openxmlformats.org/drawingml/2006/main">
            <a:off x="3505200" y="2400300"/>
            <a:ext cx="2133600" cy="285750"/>
          </a:xfrm>
          <a:prstGeom xmlns:a="http://schemas.openxmlformats.org/drawingml/2006/main" prst="roundRect">
            <a:avLst>
              <a:gd name="adj" fmla="val 26667"/>
            </a:avLst>
          </a:prstGeom>
          <a:solidFill xmlns:a="http://schemas.openxmlformats.org/drawingml/2006/main">
            <a:srgbClr val="3F922F"/>
          </a:solidFill>
          <a:ln xmlns:a="http://schemas.openxmlformats.org/drawingml/2006/main" w="0">
            <a:solidFill>
              <a:srgbClr val="3F922F"/>
            </a:solidFill>
          </a:ln>
        </p:spPr>
        <p:txBody>
          <a:bodyPr xmlns:a="http://schemas.openxmlformats.org/drawingml/2006/main" anchor="ctr">
            <a:normAutofit fontScale="87298"/>
          </a:bodyPr>
          <a:lstStyle xmlns:a="http://schemas.openxmlformats.org/drawingml/2006/main"/>
          <a:p xmlns:a="http://schemas.openxmlformats.org/drawingml/2006/main">
            <a:pPr algn="ctr">
              <a:buNone/>
              <a:defRPr sz="1125" b="1">
                <a:solidFill>
                  <a:srgbClr val="FFFFFF"/>
                </a:solidFill>
                <a:latin typeface="Calibri"/>
                <a:ea typeface="Calibri"/>
                <a:cs typeface="Calibri"/>
              </a:defRPr>
            </a:pPr>
            <a:r>
              <a:rPr sz="1125" b="1">
                <a:solidFill>
                  <a:srgbClr val="FFFFFF"/>
                </a:solidFill>
                <a:latin typeface="Calibri"/>
                <a:ea typeface="Calibri"/>
                <a:cs typeface="Calibri"/>
              </a:rPr>
              <a:t>Main findings</a:t>
            </a:r>
          </a:p>
        </p:txBody>
      </p:sp>
      <p:sp>
        <p:nvSpPr>
          <p:cNvPr id="13" name="">
            <a:extLst xmlns:a="http://schemas.openxmlformats.org/drawingml/2006/main">
              <a:ext uri="{FF2B5EF4-FFF2-40B4-BE49-F238E27FC236}">
                <a16:creationId xmlns:a16="http://schemas.microsoft.com/office/drawing/2014/main" id="{FC8BA4A5-D483-4350-84BB-7C3A6ED86849}"/>
              </a:ext>
            </a:extLst>
          </p:cNvPr>
          <p:cNvSpPr>
            <a:spLocks xmlns:a="http://schemas.openxmlformats.org/drawingml/2006/main" noGrp="1"/>
          </p:cNvSpPr>
          <p:nvPr/>
        </p:nvSpPr>
        <p:spPr>
          <a:xfrm xmlns:a="http://schemas.openxmlformats.org/drawingml/2006/main">
            <a:off x="3543300" y="2914650"/>
            <a:ext cx="20574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Quality factors explained 71.4% of perceived satisfaction</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Usefulness drivers explained 54.2% of perceived usefulness</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Satisfaction, usefulness and use explained 64.7% of perceived benefits</a:t>
            </a:r>
          </a:p>
        </p:txBody>
      </p:sp>
      <p:sp>
        <p:nvSpPr>
          <p:cNvPr id="14" name="">
            <a:extLst xmlns:a="http://schemas.openxmlformats.org/drawingml/2006/main">
              <a:ext uri="{FF2B5EF4-FFF2-40B4-BE49-F238E27FC236}">
                <a16:creationId xmlns:a16="http://schemas.microsoft.com/office/drawing/2014/main" id="{E8D6AC53-7808-4771-81BC-82CAB6373AF9}"/>
              </a:ext>
            </a:extLst>
          </p:cNvPr>
          <p:cNvSpPr>
            <a:spLocks xmlns:a="http://schemas.openxmlformats.org/drawingml/2006/main" noGrp="1"/>
          </p:cNvSpPr>
          <p:nvPr/>
        </p:nvSpPr>
        <p:spPr>
          <a:xfrm xmlns:a="http://schemas.openxmlformats.org/drawingml/2006/main">
            <a:off x="6172200" y="2247900"/>
            <a:ext cx="2514600" cy="2628900"/>
          </a:xfrm>
          <a:prstGeom xmlns:a="http://schemas.openxmlformats.org/drawingml/2006/main" prst="roundRect">
            <a:avLst>
              <a:gd name="adj" fmla="val 3030"/>
            </a:avLst>
          </a:prstGeom>
          <a:solidFill xmlns:a="http://schemas.openxmlformats.org/drawingml/2006/main">
            <a:srgbClr val="F7FAF6"/>
          </a:solidFill>
          <a:ln xmlns:a="http://schemas.openxmlformats.org/drawingml/2006/main" w="10478">
            <a:solidFill>
              <a:srgbClr val="CFDDCB"/>
            </a:solidFill>
            <a:prstDash val="solid"/>
          </a:ln>
        </p:spPr>
      </p:sp>
      <p:sp>
        <p:nvSpPr>
          <p:cNvPr id="15" name="">
            <a:extLst xmlns:a="http://schemas.openxmlformats.org/drawingml/2006/main">
              <a:ext uri="{FF2B5EF4-FFF2-40B4-BE49-F238E27FC236}">
                <a16:creationId xmlns:a16="http://schemas.microsoft.com/office/drawing/2014/main" id="{107FA4FD-23AD-4A08-8564-8B8D9EBBFCAC}"/>
              </a:ext>
            </a:extLst>
          </p:cNvPr>
          <p:cNvSpPr>
            <a:spLocks xmlns:a="http://schemas.openxmlformats.org/drawingml/2006/main" noGrp="1"/>
          </p:cNvSpPr>
          <p:nvPr/>
        </p:nvSpPr>
        <p:spPr>
          <a:xfrm xmlns:a="http://schemas.openxmlformats.org/drawingml/2006/main">
            <a:off x="6362700" y="2400300"/>
            <a:ext cx="2133600" cy="285750"/>
          </a:xfrm>
          <a:prstGeom xmlns:a="http://schemas.openxmlformats.org/drawingml/2006/main" prst="roundRect">
            <a:avLst>
              <a:gd name="adj" fmla="val 26667"/>
            </a:avLst>
          </a:prstGeom>
          <a:solidFill xmlns:a="http://schemas.openxmlformats.org/drawingml/2006/main">
            <a:srgbClr val="C07A10"/>
          </a:solidFill>
          <a:ln xmlns:a="http://schemas.openxmlformats.org/drawingml/2006/main" w="0">
            <a:solidFill>
              <a:srgbClr val="C07A10"/>
            </a:solidFill>
          </a:ln>
        </p:spPr>
        <p:txBody>
          <a:bodyPr xmlns:a="http://schemas.openxmlformats.org/drawingml/2006/main" anchor="ctr">
            <a:normAutofit fontScale="87298"/>
          </a:bodyPr>
          <a:lstStyle xmlns:a="http://schemas.openxmlformats.org/drawingml/2006/main"/>
          <a:p xmlns:a="http://schemas.openxmlformats.org/drawingml/2006/main">
            <a:pPr algn="ctr">
              <a:buNone/>
              <a:defRPr sz="1125" b="1">
                <a:solidFill>
                  <a:srgbClr val="FFFFFF"/>
                </a:solidFill>
                <a:latin typeface="Calibri"/>
                <a:ea typeface="Calibri"/>
                <a:cs typeface="Calibri"/>
              </a:defRPr>
            </a:pPr>
            <a:r>
              <a:rPr sz="1125" b="1">
                <a:solidFill>
                  <a:srgbClr val="FFFFFF"/>
                </a:solidFill>
                <a:latin typeface="Calibri"/>
                <a:ea typeface="Calibri"/>
                <a:cs typeface="Calibri"/>
              </a:rPr>
              <a:t>Limitations</a:t>
            </a:r>
          </a:p>
        </p:txBody>
      </p:sp>
      <p:sp>
        <p:nvSpPr>
          <p:cNvPr id="16" name="">
            <a:extLst xmlns:a="http://schemas.openxmlformats.org/drawingml/2006/main">
              <a:ext uri="{FF2B5EF4-FFF2-40B4-BE49-F238E27FC236}">
                <a16:creationId xmlns:a16="http://schemas.microsoft.com/office/drawing/2014/main" id="{EC5A2484-6FB4-46EE-81FF-DD723F707D6D}"/>
              </a:ext>
            </a:extLst>
          </p:cNvPr>
          <p:cNvSpPr>
            <a:spLocks xmlns:a="http://schemas.openxmlformats.org/drawingml/2006/main" noGrp="1"/>
          </p:cNvSpPr>
          <p:nvPr/>
        </p:nvSpPr>
        <p:spPr>
          <a:xfrm xmlns:a="http://schemas.openxmlformats.org/drawingml/2006/main">
            <a:off x="6400800" y="2914650"/>
            <a:ext cx="20574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120"/>
          </a:bodyPr>
          <a:lstStyle xmlns:a="http://schemas.openxmlformats.org/drawingml/2006/main"/>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One UK university and one e-learning context</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Self-reported perceptions and cross-sectional data</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Does not directly study video classrooms, ERP, RBAC, AI or gamification</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Requires feature-specific supporting research</a:t>
            </a:r>
          </a:p>
        </p:txBody>
      </p:sp>
      <p:sp>
        <p:nvSpPr>
          <p:cNvPr id="17" name="">
            <a:extLst xmlns:a="http://schemas.openxmlformats.org/drawingml/2006/main">
              <a:ext uri="{FF2B5EF4-FFF2-40B4-BE49-F238E27FC236}">
                <a16:creationId xmlns:a16="http://schemas.microsoft.com/office/drawing/2014/main" id="{93F3D2F8-D9CD-48B6-8E57-1E3702A821C4}"/>
              </a:ext>
            </a:extLst>
          </p:cNvPr>
          <p:cNvSpPr>
            <a:spLocks xmlns:a="http://schemas.openxmlformats.org/drawingml/2006/main" noGrp="1"/>
          </p:cNvSpPr>
          <p:nvPr/>
        </p:nvSpPr>
        <p:spPr>
          <a:xfrm xmlns:a="http://schemas.openxmlformats.org/drawingml/2006/main">
            <a:off x="952500" y="5105400"/>
            <a:ext cx="7239000" cy="876300"/>
          </a:xfrm>
          <a:prstGeom xmlns:a="http://schemas.openxmlformats.org/drawingml/2006/main" prst="roundRect">
            <a:avLst>
              <a:gd name="adj" fmla="val 8696"/>
            </a:avLst>
          </a:prstGeom>
          <a:solidFill xmlns:a="http://schemas.openxmlformats.org/drawingml/2006/main">
            <a:srgbClr val="E8F1F7"/>
          </a:solidFill>
          <a:ln xmlns:a="http://schemas.openxmlformats.org/drawingml/2006/main" w="10478">
            <a:solidFill>
              <a:srgbClr val="8DB2CE"/>
            </a:solidFill>
            <a:prstDash val="solid"/>
          </a:ln>
        </p:spPr>
      </p:sp>
      <p:sp>
        <p:nvSpPr>
          <p:cNvPr id="18" name="">
            <a:extLst xmlns:a="http://schemas.openxmlformats.org/drawingml/2006/main">
              <a:ext uri="{FF2B5EF4-FFF2-40B4-BE49-F238E27FC236}">
                <a16:creationId xmlns:a16="http://schemas.microsoft.com/office/drawing/2014/main" id="{7B02EA6A-3B5D-48B0-B871-8AC803FC994F}"/>
              </a:ext>
            </a:extLst>
          </p:cNvPr>
          <p:cNvSpPr>
            <a:spLocks xmlns:a="http://schemas.openxmlformats.org/drawingml/2006/main" noGrp="1"/>
          </p:cNvSpPr>
          <p:nvPr/>
        </p:nvSpPr>
        <p:spPr>
          <a:xfrm xmlns:a="http://schemas.openxmlformats.org/drawingml/2006/main">
            <a:off x="1200150" y="5314950"/>
            <a:ext cx="6743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118"/>
          </a:bodyPr>
          <a:lstStyle xmlns:a="http://schemas.openxmlformats.org/drawingml/2006/main"/>
          <a:p xmlns:a="http://schemas.openxmlformats.org/drawingml/2006/main">
            <a:pPr algn="ctr">
              <a:buNone/>
              <a:defRPr sz="1275" b="1">
                <a:solidFill>
                  <a:srgbClr val="174A6B"/>
                </a:solidFill>
                <a:latin typeface="Calibri"/>
                <a:ea typeface="Calibri"/>
                <a:cs typeface="Calibri"/>
              </a:defRPr>
            </a:pPr>
            <a:r>
              <a:rPr sz="1275" b="1">
                <a:solidFill>
                  <a:srgbClr val="174A6B"/>
                </a:solidFill>
                <a:latin typeface="Calibri"/>
                <a:ea typeface="Calibri"/>
                <a:cs typeface="Calibri"/>
              </a:rPr>
              <a:t>Design implication: Ekeekrta must be evaluated as a complete service. Reliable technology, useful content, instructor support, usability and learner benefit matter together.</a:t>
            </a:r>
          </a:p>
        </p:txBody>
      </p:sp>
    </p:spTree>
    <p:extLst>
      <p:ext uri="{BB962C8B-B14F-4D97-AF65-F5344CB8AC3E}">
        <p14:creationId xmlns:p14="http://schemas.microsoft.com/office/powerpoint/2010/main" val="98401059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36945C4-235F-4A72-BDB6-B8BFB72F9B05}"/>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pPr algn="ctr">
              <a:buNone/>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Existing Work: Chronological Literature Synthesis</a:t>
            </a:r>
            <a:endParaRPr sz="3600" b="1">
              <a:solidFill>
                <a:schemeClr val="bg1"/>
              </a:solidFill>
              <a:latin typeface="Times New Roman"/>
              <a:ea typeface="Times New Roman"/>
              <a:cs typeface="Times New Roman"/>
            </a:endParaRPr>
          </a:p>
        </p:txBody>
      </p:sp>
      <p:sp>
        <p:nvSpPr>
          <p:cNvPr id="3" name="">
            <a:extLst xmlns:a="http://schemas.openxmlformats.org/drawingml/2006/main">
              <a:ext uri="{FF2B5EF4-FFF2-40B4-BE49-F238E27FC236}">
                <a16:creationId xmlns:a16="http://schemas.microsoft.com/office/drawing/2014/main" id="{11922A8E-AF6A-482B-8D46-A01BFF265206}"/>
              </a:ext>
            </a:extLst>
          </p:cNvPr>
          <p:cNvSpPr>
            <a:spLocks xmlns:a="http://schemas.openxmlformats.org/drawingml/2006/main" noGrp="1"/>
          </p:cNvSpPr>
          <p:nvPr/>
        </p:nvSpPr>
        <p:spPr>
          <a:xfrm xmlns:a="http://schemas.openxmlformats.org/drawingml/2006/main">
            <a:off x="590550" y="1362075"/>
            <a:ext cx="796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392"/>
          </a:bodyPr>
          <a:lstStyle xmlns:a="http://schemas.openxmlformats.org/drawingml/2006/main"/>
          <a:p xmlns:a="http://schemas.openxmlformats.org/drawingml/2006/main">
            <a:pPr algn="ctr">
              <a:buNone/>
              <a:defRPr sz="1275" b="1">
                <a:solidFill>
                  <a:srgbClr val="17451C"/>
                </a:solidFill>
                <a:latin typeface="Calibri"/>
                <a:ea typeface="Calibri"/>
                <a:cs typeface="Calibri"/>
              </a:defRPr>
            </a:pPr>
            <a:r>
              <a:rPr sz="1275" b="1">
                <a:solidFill>
                  <a:srgbClr val="17451C"/>
                </a:solidFill>
                <a:latin typeface="Calibri"/>
                <a:ea typeface="Calibri"/>
                <a:cs typeface="Calibri"/>
              </a:rPr>
              <a:t>Seventeen peer-reviewed sources support the platform by feature group. No single paper covers the complete Ekeekrta workflow.</a:t>
            </a:r>
          </a:p>
        </p:txBody>
      </p:sp>
      <p:graphicFrame>
        <p:nvGraphicFramePr>
          <p:cNvPr id="10" name=""/>
          <p:cNvGraphicFramePr/>
          <p:nvPr/>
        </p:nvGraphicFramePr>
        <p:xfrm>
          <a:off xmlns:a="http://schemas.openxmlformats.org/drawingml/2006/main" x="495300" y="1666875"/>
          <a:ext xmlns:a="http://schemas.openxmlformats.org/drawingml/2006/main" cx="8153400" cy="3143250"/>
        </p:xfrm>
        <a:graphic xmlns:a="http://schemas.openxmlformats.org/drawingml/2006/main">
          <a:graphicData uri="http://schemas.openxmlformats.org/drawingml/2006/table">
            <a:tbl>
              <a:tblPr/>
              <a:tblGrid>
                <a:gridCol w="2000250"/>
                <a:gridCol w="2428875"/>
                <a:gridCol w="3724275"/>
              </a:tblGrid>
              <a:tr h="628650">
                <a:tc>
                  <a:txBody>
                    <a:bodyPr>
                      <a:normAutofit/>
                    </a:bodyPr>
                    <a:lstStyle/>
                    <a:p>
                      <a:r>
                        <a:rPr sz="1125" b="1">
                          <a:solidFill>
                            <a:srgbClr val="FFFFFF"/>
                          </a:solidFill>
                          <a:latin typeface="Calibri"/>
                          <a:ea typeface="Calibri"/>
                          <a:cs typeface="Calibri"/>
                        </a:rPr>
                        <a:t>Feature evidence</a:t>
                      </a:r>
                    </a:p>
                  </a:txBody>
                  <a:tcPr marL="91440" marR="91440" marT="45720" marB="45720" anchor="ctr">
                    <a:solidFill>
                      <a:srgbClr val="3F922F"/>
                    </a:solidFill>
                  </a:tcPr>
                </a:tc>
                <a:tc>
                  <a:txBody>
                    <a:bodyPr>
                      <a:normAutofit/>
                    </a:bodyPr>
                    <a:lstStyle/>
                    <a:p>
                      <a:r>
                        <a:rPr sz="1125" b="1">
                          <a:solidFill>
                            <a:srgbClr val="FFFFFF"/>
                          </a:solidFill>
                          <a:latin typeface="Calibri"/>
                          <a:ea typeface="Calibri"/>
                          <a:cs typeface="Calibri"/>
                        </a:rPr>
                        <a:t>Main finding</a:t>
                      </a:r>
                    </a:p>
                  </a:txBody>
                  <a:tcPr marL="91440" marR="91440" marT="45720" marB="45720" anchor="ctr">
                    <a:solidFill>
                      <a:srgbClr val="3F922F"/>
                    </a:solidFill>
                  </a:tcPr>
                </a:tc>
                <a:tc>
                  <a:txBody>
                    <a:bodyPr>
                      <a:normAutofit/>
                    </a:bodyPr>
                    <a:lstStyle/>
                    <a:p>
                      <a:r>
                        <a:rPr sz="1125" b="1">
                          <a:solidFill>
                            <a:srgbClr val="FFFFFF"/>
                          </a:solidFill>
                          <a:latin typeface="Calibri"/>
                          <a:ea typeface="Calibri"/>
                          <a:cs typeface="Calibri"/>
                        </a:rPr>
                        <a:t>Gap addressed by Ekeekrta</a:t>
                      </a:r>
                    </a:p>
                  </a:txBody>
                  <a:tcPr marL="91440" marR="91440" marT="45720" marB="45720" anchor="ctr">
                    <a:solidFill>
                      <a:srgbClr val="3F922F"/>
                    </a:solidFill>
                  </a:tcPr>
                </a:tc>
              </a:tr>
              <a:tr h="628650">
                <a:tc>
                  <a:txBody>
                    <a:bodyPr>
                      <a:normAutofit/>
                    </a:bodyPr>
                    <a:lstStyle/>
                    <a:p>
                      <a:r>
                        <a:rPr sz="1050" b="0">
                          <a:solidFill>
                            <a:srgbClr val="17311B"/>
                          </a:solidFill>
                          <a:latin typeface="Calibri"/>
                          <a:ea typeface="Calibri"/>
                          <a:cs typeface="Calibri"/>
                        </a:rPr>
                        <a:t>Platform quality + security</a:t>
                      </a:r>
                    </a:p>
                    <a:p>
                      <a:r>
                        <a:rPr sz="1050" b="0">
                          <a:solidFill>
                            <a:srgbClr val="17311B"/>
                          </a:solidFill>
                          <a:latin typeface="Calibri"/>
                          <a:ea typeface="Calibri"/>
                          <a:cs typeface="Calibri"/>
                        </a:rPr>
                        <a:t>Sandhu 1996; Al-Fraihat 2020</a:t>
                      </a:r>
                    </a:p>
                  </a:txBody>
                  <a:tcPr marL="91440" marR="91440" marT="45720" marB="45720" anchor="ctr">
                    <a:solidFill>
                      <a:srgbClr val="FFFFFF"/>
                    </a:solidFill>
                  </a:tcPr>
                </a:tc>
                <a:tc>
                  <a:txBody>
                    <a:bodyPr>
                      <a:normAutofit/>
                    </a:bodyPr>
                    <a:lstStyle/>
                    <a:p>
                      <a:r>
                        <a:rPr sz="1050" b="0">
                          <a:solidFill>
                            <a:srgbClr val="17311B"/>
                          </a:solidFill>
                          <a:latin typeface="Calibri"/>
                          <a:ea typeface="Calibri"/>
                          <a:cs typeface="Calibri"/>
                        </a:rPr>
                        <a:t>Roles simplify permission management. Overall e-learning success depends on system, content, service and support quality.</a:t>
                      </a:r>
                    </a:p>
                  </a:txBody>
                  <a:tcPr marL="91440" marR="91440" marT="45720" marB="45720" anchor="ctr">
                    <a:solidFill>
                      <a:srgbClr val="FFFFFF"/>
                    </a:solidFill>
                  </a:tcPr>
                </a:tc>
                <a:tc>
                  <a:txBody>
                    <a:bodyPr>
                      <a:normAutofit/>
                    </a:bodyPr>
                    <a:lstStyle/>
                    <a:p>
                      <a:r>
                        <a:rPr sz="1050" b="0">
                          <a:solidFill>
                            <a:srgbClr val="17311B"/>
                          </a:solidFill>
                          <a:latin typeface="Calibri"/>
                          <a:ea typeface="Calibri"/>
                          <a:cs typeface="Calibri"/>
                        </a:rPr>
                        <a:t>University roles also require institution, department, course and record ownership checks.</a:t>
                      </a:r>
                    </a:p>
                  </a:txBody>
                  <a:tcPr marL="91440" marR="91440" marT="45720" marB="45720" anchor="ctr">
                    <a:solidFill>
                      <a:srgbClr val="FFFFFF"/>
                    </a:solidFill>
                  </a:tcPr>
                </a:tc>
              </a:tr>
              <a:tr h="628650">
                <a:tc>
                  <a:txBody>
                    <a:bodyPr>
                      <a:normAutofit/>
                    </a:bodyPr>
                    <a:lstStyle/>
                    <a:p>
                      <a:r>
                        <a:rPr sz="1050" b="0">
                          <a:solidFill>
                            <a:srgbClr val="17311B"/>
                          </a:solidFill>
                          <a:latin typeface="Calibri"/>
                          <a:ea typeface="Calibri"/>
                          <a:cs typeface="Calibri"/>
                        </a:rPr>
                        <a:t>Teaching + assessment</a:t>
                      </a:r>
                    </a:p>
                    <a:p>
                      <a:r>
                        <a:rPr sz="1050" b="0">
                          <a:solidFill>
                            <a:srgbClr val="17311B"/>
                          </a:solidFill>
                          <a:latin typeface="Calibri"/>
                          <a:ea typeface="Calibri"/>
                          <a:cs typeface="Calibri"/>
                        </a:rPr>
                        <a:t>Keuning 2018; Fabriz 2021; Lu 2022</a:t>
                      </a:r>
                    </a:p>
                  </a:txBody>
                  <a:tcPr marL="91440" marR="91440" marT="45720" marB="45720" anchor="ctr">
                    <a:solidFill>
                      <a:srgbClr val="F7FAF6"/>
                    </a:solidFill>
                  </a:tcPr>
                </a:tc>
                <a:tc>
                  <a:txBody>
                    <a:bodyPr>
                      <a:normAutofit/>
                    </a:bodyPr>
                    <a:lstStyle/>
                    <a:p>
                      <a:r>
                        <a:rPr sz="1050" b="0">
                          <a:solidFill>
                            <a:srgbClr val="17311B"/>
                          </a:solidFill>
                          <a:latin typeface="Calibri"/>
                          <a:ea typeface="Calibri"/>
                          <a:cs typeface="Calibri"/>
                        </a:rPr>
                        <a:t>Synchronous interaction, formative work and programming feedback support learning when connected to course activity.</a:t>
                      </a:r>
                    </a:p>
                  </a:txBody>
                  <a:tcPr marL="91440" marR="91440" marT="45720" marB="45720" anchor="ctr">
                    <a:solidFill>
                      <a:srgbClr val="F7FAF6"/>
                    </a:solidFill>
                  </a:tcPr>
                </a:tc>
                <a:tc>
                  <a:txBody>
                    <a:bodyPr>
                      <a:normAutofit/>
                    </a:bodyPr>
                    <a:lstStyle/>
                    <a:p>
                      <a:r>
                        <a:rPr sz="1050" b="0">
                          <a:solidFill>
                            <a:srgbClr val="17311B"/>
                          </a:solidFill>
                          <a:latin typeface="Calibri"/>
                          <a:ea typeface="Calibri"/>
                          <a:cs typeface="Calibri"/>
                        </a:rPr>
                        <a:t>Meetings, attendance, materials and assessments are often separated; automated feedback lacks next-step guidance.</a:t>
                      </a:r>
                    </a:p>
                  </a:txBody>
                  <a:tcPr marL="91440" marR="91440" marT="45720" marB="45720" anchor="ctr">
                    <a:solidFill>
                      <a:srgbClr val="F7FAF6"/>
                    </a:solidFill>
                  </a:tcPr>
                </a:tc>
              </a:tr>
              <a:tr h="628650">
                <a:tc>
                  <a:txBody>
                    <a:bodyPr>
                      <a:normAutofit/>
                    </a:bodyPr>
                    <a:lstStyle/>
                    <a:p>
                      <a:r>
                        <a:rPr sz="1050" b="0">
                          <a:solidFill>
                            <a:srgbClr val="17311B"/>
                          </a:solidFill>
                          <a:latin typeface="Calibri"/>
                          <a:ea typeface="Calibri"/>
                          <a:cs typeface="Calibri"/>
                        </a:rPr>
                        <a:t>Resources + analytics + ERP</a:t>
                      </a:r>
                    </a:p>
                    <a:p>
                      <a:r>
                        <a:rPr sz="1050" b="0">
                          <a:solidFill>
                            <a:srgbClr val="17311B"/>
                          </a:solidFill>
                          <a:latin typeface="Calibri"/>
                          <a:ea typeface="Calibri"/>
                          <a:cs typeface="Calibri"/>
                        </a:rPr>
                        <a:t>Deschenes 2020; Ramaswami 2023; Sholeh 2025</a:t>
                      </a:r>
                    </a:p>
                  </a:txBody>
                  <a:tcPr marL="91440" marR="91440" marT="45720" marB="45720" anchor="ctr">
                    <a:solidFill>
                      <a:srgbClr val="FFFFFF"/>
                    </a:solidFill>
                  </a:tcPr>
                </a:tc>
                <a:tc>
                  <a:txBody>
                    <a:bodyPr>
                      <a:normAutofit/>
                    </a:bodyPr>
                    <a:lstStyle/>
                    <a:p>
                      <a:r>
                        <a:rPr sz="1050" b="0">
                          <a:solidFill>
                            <a:srgbClr val="17311B"/>
                          </a:solidFill>
                          <a:latin typeface="Calibri"/>
                          <a:ea typeface="Calibri"/>
                          <a:cs typeface="Calibri"/>
                        </a:rPr>
                        <a:t>Recommendations, dashboards and ERP can support decisions and efficiency.</a:t>
                      </a:r>
                    </a:p>
                  </a:txBody>
                  <a:tcPr marL="91440" marR="91440" marT="45720" marB="45720" anchor="ctr">
                    <a:solidFill>
                      <a:srgbClr val="FFFFFF"/>
                    </a:solidFill>
                  </a:tcPr>
                </a:tc>
                <a:tc>
                  <a:txBody>
                    <a:bodyPr>
                      <a:normAutofit/>
                    </a:bodyPr>
                    <a:lstStyle/>
                    <a:p>
                      <a:r>
                        <a:rPr sz="1050" b="0">
                          <a:solidFill>
                            <a:srgbClr val="17311B"/>
                          </a:solidFill>
                          <a:latin typeface="Calibri"/>
                          <a:ea typeface="Calibri"/>
                          <a:cs typeface="Calibri"/>
                        </a:rPr>
                        <a:t>Learner agency, explanation, actionable guidance, integration complexity and adoption remain unresolved.</a:t>
                      </a:r>
                    </a:p>
                  </a:txBody>
                  <a:tcPr marL="91440" marR="91440" marT="45720" marB="45720" anchor="ctr">
                    <a:solidFill>
                      <a:srgbClr val="FFFFFF"/>
                    </a:solidFill>
                  </a:tcPr>
                </a:tc>
              </a:tr>
              <a:tr h="628650">
                <a:tc>
                  <a:txBody>
                    <a:bodyPr>
                      <a:normAutofit/>
                    </a:bodyPr>
                    <a:lstStyle/>
                    <a:p>
                      <a:r>
                        <a:rPr sz="1050" b="0">
                          <a:solidFill>
                            <a:srgbClr val="17311B"/>
                          </a:solidFill>
                          <a:latin typeface="Calibri"/>
                          <a:ea typeface="Calibri"/>
                          <a:cs typeface="Calibri"/>
                        </a:rPr>
                        <a:t>AI + gamification</a:t>
                      </a:r>
                    </a:p>
                    <a:p>
                      <a:r>
                        <a:rPr sz="1050" b="0">
                          <a:solidFill>
                            <a:srgbClr val="17311B"/>
                          </a:solidFill>
                          <a:latin typeface="Calibri"/>
                          <a:ea typeface="Calibri"/>
                          <a:cs typeface="Calibri"/>
                        </a:rPr>
                        <a:t>Zawacki-Richter 2019; Sailer 2020; Khaldi 2023; Bond 2024</a:t>
                      </a:r>
                    </a:p>
                  </a:txBody>
                  <a:tcPr marL="91440" marR="91440" marT="45720" marB="45720" anchor="ctr">
                    <a:solidFill>
                      <a:srgbClr val="F7FAF6"/>
                    </a:solidFill>
                  </a:tcPr>
                </a:tc>
                <a:tc>
                  <a:txBody>
                    <a:bodyPr>
                      <a:normAutofit/>
                    </a:bodyPr>
                    <a:lstStyle/>
                    <a:p>
                      <a:r>
                        <a:rPr sz="1050" b="0">
                          <a:solidFill>
                            <a:srgbClr val="17311B"/>
                          </a:solidFill>
                          <a:latin typeface="Calibri"/>
                          <a:ea typeface="Calibri"/>
                          <a:cs typeface="Calibri"/>
                        </a:rPr>
                        <a:t>AI and game elements can support learning and engagement.</a:t>
                      </a:r>
                    </a:p>
                  </a:txBody>
                  <a:tcPr marL="91440" marR="91440" marT="45720" marB="45720" anchor="ctr">
                    <a:solidFill>
                      <a:srgbClr val="F7FAF6"/>
                    </a:solidFill>
                  </a:tcPr>
                </a:tc>
                <a:tc>
                  <a:txBody>
                    <a:bodyPr>
                      <a:normAutofit/>
                    </a:bodyPr>
                    <a:lstStyle/>
                    <a:p>
                      <a:r>
                        <a:rPr sz="1050" b="0">
                          <a:solidFill>
                            <a:srgbClr val="17311B"/>
                          </a:solidFill>
                          <a:latin typeface="Calibri"/>
                          <a:ea typeface="Calibri"/>
                          <a:cs typeface="Calibri"/>
                        </a:rPr>
                        <a:t>Research needs educator control, ethics, theory, personalization and measured outcomes.</a:t>
                      </a:r>
                    </a:p>
                  </a:txBody>
                  <a:tcPr marL="91440" marR="91440" marT="45720" marB="45720" anchor="ctr">
                    <a:solidFill>
                      <a:srgbClr val="F7FAF6"/>
                    </a:solidFill>
                  </a:tcPr>
                </a:tc>
              </a:tr>
            </a:tbl>
          </a:graphicData>
        </a:graphic>
      </p:graphicFrame>
      <p:sp>
        <p:nvSpPr>
          <p:cNvPr id="5" name="">
            <a:extLst xmlns:a="http://schemas.openxmlformats.org/drawingml/2006/main">
              <a:ext uri="{FF2B5EF4-FFF2-40B4-BE49-F238E27FC236}">
                <a16:creationId xmlns:a16="http://schemas.microsoft.com/office/drawing/2014/main" id="{62C58F72-8452-4541-A7FD-92103B735E94}"/>
              </a:ext>
            </a:extLst>
          </p:cNvPr>
          <p:cNvSpPr>
            <a:spLocks xmlns:a="http://schemas.openxmlformats.org/drawingml/2006/main" noGrp="1"/>
          </p:cNvSpPr>
          <p:nvPr/>
        </p:nvSpPr>
        <p:spPr>
          <a:xfrm xmlns:a="http://schemas.openxmlformats.org/drawingml/2006/main">
            <a:off x="800100" y="5067300"/>
            <a:ext cx="7543800" cy="876300"/>
          </a:xfrm>
          <a:prstGeom xmlns:a="http://schemas.openxmlformats.org/drawingml/2006/main" prst="roundRect">
            <a:avLst>
              <a:gd name="adj" fmla="val 8696"/>
            </a:avLst>
          </a:prstGeom>
          <a:solidFill xmlns:a="http://schemas.openxmlformats.org/drawingml/2006/main">
            <a:srgbClr val="EEF6EB"/>
          </a:solidFill>
          <a:ln xmlns:a="http://schemas.openxmlformats.org/drawingml/2006/main" w="10478">
            <a:solidFill>
              <a:srgbClr val="3F922F"/>
            </a:solidFill>
            <a:prstDash val="solid"/>
          </a:ln>
        </p:spPr>
      </p:sp>
      <p:sp>
        <p:nvSpPr>
          <p:cNvPr id="6" name="">
            <a:extLst xmlns:a="http://schemas.openxmlformats.org/drawingml/2006/main">
              <a:ext uri="{FF2B5EF4-FFF2-40B4-BE49-F238E27FC236}">
                <a16:creationId xmlns:a16="http://schemas.microsoft.com/office/drawing/2014/main" id="{E3DA4BB1-52A8-4FE9-A1E4-C68A8095BE90}"/>
              </a:ext>
            </a:extLst>
          </p:cNvPr>
          <p:cNvSpPr>
            <a:spLocks xmlns:a="http://schemas.openxmlformats.org/drawingml/2006/main" noGrp="1"/>
          </p:cNvSpPr>
          <p:nvPr/>
        </p:nvSpPr>
        <p:spPr>
          <a:xfrm xmlns:a="http://schemas.openxmlformats.org/drawingml/2006/main">
            <a:off x="1066800" y="5267325"/>
            <a:ext cx="701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020"/>
          </a:bodyPr>
          <a:lstStyle xmlns:a="http://schemas.openxmlformats.org/drawingml/2006/main"/>
          <a:p xmlns:a="http://schemas.openxmlformats.org/drawingml/2006/main">
            <a:pPr algn="ctr">
              <a:buNone/>
              <a:defRPr sz="1275" b="1">
                <a:solidFill>
                  <a:srgbClr val="17451C"/>
                </a:solidFill>
                <a:latin typeface="Calibri"/>
                <a:ea typeface="Calibri"/>
                <a:cs typeface="Calibri"/>
              </a:defRPr>
            </a:pPr>
            <a:r>
              <a:rPr sz="1275" b="1">
                <a:solidFill>
                  <a:srgbClr val="17451C"/>
                </a:solidFill>
                <a:latin typeface="Calibri"/>
                <a:ea typeface="Calibri"/>
                <a:cs typeface="Calibri"/>
              </a:rPr>
              <a:t>Combined gap: evidence exists for each subsystem, but research rarely evaluates one secure workflow from institution setup and course delivery to meetings, assessment, ERP and support.</a:t>
            </a:r>
          </a:p>
        </p:txBody>
      </p:sp>
    </p:spTree>
    <p:extLst>
      <p:ext uri="{BB962C8B-B14F-4D97-AF65-F5344CB8AC3E}">
        <p14:creationId xmlns:p14="http://schemas.microsoft.com/office/powerpoint/2010/main" val="148150680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035B572-B5A8-4362-96F2-75D37DEE8C4C}"/>
              </a:ext>
            </a:extLst>
          </p:cNvPr>
          <p:cNvSpPr>
            <a:spLocks xmlns:a="http://schemas.openxmlformats.org/drawingml/2006/main" noGrp="1"/>
          </p:cNvSpPr>
          <p:nvPr/>
        </p:nvSpPr>
        <p:spPr>
          <a:xfrm xmlns:a="http://schemas.openxmlformats.org/drawingml/2006/main">
            <a:off x="1143000" y="419100"/>
            <a:ext cx="685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575" b="1">
                <a:solidFill>
                  <a:srgbClr val="FFFFFF"/>
                </a:solidFill>
                <a:latin typeface="Times New Roman"/>
                <a:ea typeface="Times New Roman"/>
                <a:cs typeface="Times New Roman"/>
              </a:defRPr>
            </a:pPr>
            <a:r>
              <a:rPr sz="1575" b="1">
                <a:solidFill>
                  <a:srgbClr val="FFFFFF"/>
                </a:solidFill>
                <a:latin typeface="Times New Roman"/>
                <a:ea typeface="Times New Roman"/>
                <a:cs typeface="Times New Roman"/>
              </a:rPr>
              <a:t>Proposed Work: Complete Ekeekrta Feature Structure</a:t>
            </a:r>
          </a:p>
        </p:txBody>
      </p:sp>
      <p:sp>
        <p:nvSpPr>
          <p:cNvPr id="2" name="">
            <a:extLst xmlns:a="http://schemas.openxmlformats.org/drawingml/2006/main">
              <a:ext uri="{FF2B5EF4-FFF2-40B4-BE49-F238E27FC236}">
                <a16:creationId xmlns:a16="http://schemas.microsoft.com/office/drawing/2014/main" id="{FFFFD73C-D4A0-4BB4-AB81-79592649A985}"/>
              </a:ext>
            </a:extLst>
          </p:cNvPr>
          <p:cNvSpPr>
            <a:spLocks xmlns:a="http://schemas.openxmlformats.org/drawingml/2006/main" noGrp="1"/>
          </p:cNvSpPr>
          <p:nvPr/>
        </p:nvSpPr>
        <p:spPr>
          <a:xfrm xmlns:a="http://schemas.openxmlformats.org/drawingml/2006/main">
            <a:off x="457200" y="1352550"/>
            <a:ext cx="2571750" cy="3333750"/>
          </a:xfrm>
          <a:prstGeom xmlns:a="http://schemas.openxmlformats.org/drawingml/2006/main" prst="roundRect">
            <a:avLst>
              <a:gd name="adj" fmla="val 2963"/>
            </a:avLst>
          </a:prstGeom>
          <a:solidFill xmlns:a="http://schemas.openxmlformats.org/drawingml/2006/main">
            <a:srgbClr val="FAF4EC"/>
          </a:solidFill>
          <a:ln xmlns:a="http://schemas.openxmlformats.org/drawingml/2006/main" w="10478">
            <a:solidFill>
              <a:srgbClr val="E0B77C"/>
            </a:solidFill>
            <a:prstDash val="solid"/>
          </a:ln>
        </p:spPr>
      </p:sp>
      <p:sp>
        <p:nvSpPr>
          <p:cNvPr id="3" name="">
            <a:extLst xmlns:a="http://schemas.openxmlformats.org/drawingml/2006/main">
              <a:ext uri="{FF2B5EF4-FFF2-40B4-BE49-F238E27FC236}">
                <a16:creationId xmlns:a16="http://schemas.microsoft.com/office/drawing/2014/main" id="{BD9B188C-406F-4116-86A5-03F8588D7156}"/>
              </a:ext>
            </a:extLst>
          </p:cNvPr>
          <p:cNvSpPr>
            <a:spLocks xmlns:a="http://schemas.openxmlformats.org/drawingml/2006/main" noGrp="1"/>
          </p:cNvSpPr>
          <p:nvPr/>
        </p:nvSpPr>
        <p:spPr>
          <a:xfrm xmlns:a="http://schemas.openxmlformats.org/drawingml/2006/main">
            <a:off x="723900" y="1524000"/>
            <a:ext cx="2038350" cy="285750"/>
          </a:xfrm>
          <a:prstGeom xmlns:a="http://schemas.openxmlformats.org/drawingml/2006/main" prst="roundRect">
            <a:avLst>
              <a:gd name="adj" fmla="val 26667"/>
            </a:avLst>
          </a:prstGeom>
          <a:solidFill xmlns:a="http://schemas.openxmlformats.org/drawingml/2006/main">
            <a:srgbClr val="C07A10"/>
          </a:solidFill>
          <a:ln xmlns:a="http://schemas.openxmlformats.org/drawingml/2006/main" w="0">
            <a:solidFill>
              <a:srgbClr val="C07A10"/>
            </a:solidFill>
          </a:ln>
        </p:spPr>
        <p:txBody>
          <a:bodyPr xmlns:a="http://schemas.openxmlformats.org/drawingml/2006/main" anchor="ctr">
            <a:normAutofit fontScale="70590"/>
          </a:bodyPr>
          <a:lstStyle xmlns:a="http://schemas.openxmlformats.org/drawingml/2006/main"/>
          <a:p xmlns:a="http://schemas.openxmlformats.org/drawingml/2006/main">
            <a:pPr algn="ctr">
              <a:buNone/>
              <a:defRPr sz="1125" b="1">
                <a:solidFill>
                  <a:srgbClr val="FFFFFF"/>
                </a:solidFill>
                <a:latin typeface="Calibri"/>
                <a:ea typeface="Calibri"/>
                <a:cs typeface="Calibri"/>
              </a:defRPr>
            </a:pPr>
            <a:r>
              <a:rPr sz="1125" b="1">
                <a:solidFill>
                  <a:srgbClr val="FFFFFF"/>
                </a:solidFill>
                <a:latin typeface="Calibri"/>
                <a:ea typeface="Calibri"/>
                <a:cs typeface="Calibri"/>
              </a:rPr>
              <a:t>University administration and learning core</a:t>
            </a:r>
          </a:p>
        </p:txBody>
      </p:sp>
      <p:sp>
        <p:nvSpPr>
          <p:cNvPr id="4" name="">
            <a:extLst xmlns:a="http://schemas.openxmlformats.org/drawingml/2006/main">
              <a:ext uri="{FF2B5EF4-FFF2-40B4-BE49-F238E27FC236}">
                <a16:creationId xmlns:a16="http://schemas.microsoft.com/office/drawing/2014/main" id="{5C2DC304-9D0E-49A0-A9E9-F67228C154EA}"/>
              </a:ext>
            </a:extLst>
          </p:cNvPr>
          <p:cNvSpPr>
            <a:spLocks xmlns:a="http://schemas.openxmlformats.org/drawingml/2006/main" noGrp="1"/>
          </p:cNvSpPr>
          <p:nvPr/>
        </p:nvSpPr>
        <p:spPr>
          <a:xfrm xmlns:a="http://schemas.openxmlformats.org/drawingml/2006/main">
            <a:off x="762000" y="2114550"/>
            <a:ext cx="198120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545"/>
          </a:bodyPr>
          <a:lstStyle xmlns:a="http://schemas.openxmlformats.org/drawingml/2006/main"/>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Institution profile, logo, approval and themes</a:t>
            </a:r>
          </a:p>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Password/Google login, recovery and secure role access</a:t>
            </a:r>
          </a:p>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Admin accounts, bulk CSV, departments and HOD scope</a:t>
            </a:r>
          </a:p>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Academic structure: program, year, semester, batch and section</a:t>
            </a:r>
          </a:p>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Academic/non-academic courses, enrolment and roster controls</a:t>
            </a:r>
          </a:p>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Course pages with syllabus, notes, materials, exams and PYQs</a:t>
            </a:r>
          </a:p>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Assignments, submissions, grading, quizzes and marks</a:t>
            </a:r>
          </a:p>
        </p:txBody>
      </p:sp>
      <p:sp>
        <p:nvSpPr>
          <p:cNvPr id="5" name="">
            <a:extLst xmlns:a="http://schemas.openxmlformats.org/drawingml/2006/main">
              <a:ext uri="{FF2B5EF4-FFF2-40B4-BE49-F238E27FC236}">
                <a16:creationId xmlns:a16="http://schemas.microsoft.com/office/drawing/2014/main" id="{3102B336-A2B4-421E-A4B8-A9828672AD57}"/>
              </a:ext>
            </a:extLst>
          </p:cNvPr>
          <p:cNvSpPr>
            <a:spLocks xmlns:a="http://schemas.openxmlformats.org/drawingml/2006/main" noGrp="1"/>
          </p:cNvSpPr>
          <p:nvPr/>
        </p:nvSpPr>
        <p:spPr>
          <a:xfrm xmlns:a="http://schemas.openxmlformats.org/drawingml/2006/main">
            <a:off x="3276600" y="2571750"/>
            <a:ext cx="800100" cy="609600"/>
          </a:xfrm>
          <a:prstGeom xmlns:a="http://schemas.openxmlformats.org/drawingml/2006/main" prst="rightArrow">
            <a:avLst/>
          </a:prstGeom>
          <a:solidFill xmlns:a="http://schemas.openxmlformats.org/drawingml/2006/main">
            <a:srgbClr val="3F922F"/>
          </a:solidFill>
          <a:ln xmlns:a="http://schemas.openxmlformats.org/drawingml/2006/main" w="0">
            <a:solidFill>
              <a:srgbClr val="3F922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975" b="1">
                <a:solidFill>
                  <a:srgbClr val="FFFFFF"/>
                </a:solidFill>
                <a:latin typeface="Calibri"/>
                <a:ea typeface="Calibri"/>
                <a:cs typeface="Calibri"/>
              </a:defRPr>
            </a:pPr>
            <a:r>
              <a:rPr sz="975" b="1">
                <a:solidFill>
                  <a:srgbClr val="FFFFFF"/>
                </a:solidFill>
                <a:latin typeface="Calibri"/>
                <a:ea typeface="Calibri"/>
                <a:cs typeface="Calibri"/>
              </a:rPr>
              <a:t>LINK</a:t>
            </a:r>
          </a:p>
        </p:txBody>
      </p:sp>
      <p:sp>
        <p:nvSpPr>
          <p:cNvPr id="6" name="">
            <a:extLst xmlns:a="http://schemas.openxmlformats.org/drawingml/2006/main">
              <a:ext uri="{FF2B5EF4-FFF2-40B4-BE49-F238E27FC236}">
                <a16:creationId xmlns:a16="http://schemas.microsoft.com/office/drawing/2014/main" id="{0CA78AD8-8828-4E56-B379-58E64DB2B56E}"/>
              </a:ext>
            </a:extLst>
          </p:cNvPr>
          <p:cNvSpPr>
            <a:spLocks xmlns:a="http://schemas.openxmlformats.org/drawingml/2006/main" noGrp="1"/>
          </p:cNvSpPr>
          <p:nvPr/>
        </p:nvSpPr>
        <p:spPr>
          <a:xfrm xmlns:a="http://schemas.openxmlformats.org/drawingml/2006/main">
            <a:off x="4324350" y="1352550"/>
            <a:ext cx="4362450" cy="3333750"/>
          </a:xfrm>
          <a:prstGeom xmlns:a="http://schemas.openxmlformats.org/drawingml/2006/main" prst="roundRect">
            <a:avLst>
              <a:gd name="adj" fmla="val 2286"/>
            </a:avLst>
          </a:prstGeom>
          <a:solidFill xmlns:a="http://schemas.openxmlformats.org/drawingml/2006/main">
            <a:srgbClr val="EEF6EB"/>
          </a:solidFill>
          <a:ln xmlns:a="http://schemas.openxmlformats.org/drawingml/2006/main" w="10478">
            <a:solidFill>
              <a:srgbClr val="3F922F"/>
            </a:solidFill>
            <a:prstDash val="solid"/>
          </a:ln>
        </p:spPr>
      </p:sp>
      <p:sp>
        <p:nvSpPr>
          <p:cNvPr id="7" name="">
            <a:extLst xmlns:a="http://schemas.openxmlformats.org/drawingml/2006/main">
              <a:ext uri="{FF2B5EF4-FFF2-40B4-BE49-F238E27FC236}">
                <a16:creationId xmlns:a16="http://schemas.microsoft.com/office/drawing/2014/main" id="{5B317AFB-BE3B-4D69-A52D-42627AF0E423}"/>
              </a:ext>
            </a:extLst>
          </p:cNvPr>
          <p:cNvSpPr>
            <a:spLocks xmlns:a="http://schemas.openxmlformats.org/drawingml/2006/main" noGrp="1"/>
          </p:cNvSpPr>
          <p:nvPr/>
        </p:nvSpPr>
        <p:spPr>
          <a:xfrm xmlns:a="http://schemas.openxmlformats.org/drawingml/2006/main">
            <a:off x="4705350" y="1524000"/>
            <a:ext cx="3600450" cy="285750"/>
          </a:xfrm>
          <a:prstGeom xmlns:a="http://schemas.openxmlformats.org/drawingml/2006/main" prst="roundRect">
            <a:avLst>
              <a:gd name="adj" fmla="val 26667"/>
            </a:avLst>
          </a:prstGeom>
          <a:solidFill xmlns:a="http://schemas.openxmlformats.org/drawingml/2006/main">
            <a:srgbClr val="3F922F"/>
          </a:solidFill>
          <a:ln xmlns:a="http://schemas.openxmlformats.org/drawingml/2006/main" w="0">
            <a:solidFill>
              <a:srgbClr val="3F922F"/>
            </a:solidFill>
          </a:ln>
        </p:spPr>
        <p:txBody>
          <a:bodyPr xmlns:a="http://schemas.openxmlformats.org/drawingml/2006/main" anchor="ctr">
            <a:normAutofit fontScale="87298"/>
          </a:bodyPr>
          <a:lstStyle xmlns:a="http://schemas.openxmlformats.org/drawingml/2006/main"/>
          <a:p xmlns:a="http://schemas.openxmlformats.org/drawingml/2006/main">
            <a:pPr algn="ctr">
              <a:buNone/>
              <a:defRPr sz="1125" b="1">
                <a:solidFill>
                  <a:srgbClr val="FFFFFF"/>
                </a:solidFill>
                <a:latin typeface="Calibri"/>
                <a:ea typeface="Calibri"/>
                <a:cs typeface="Calibri"/>
              </a:defRPr>
            </a:pPr>
            <a:r>
              <a:rPr sz="1125" b="1">
                <a:solidFill>
                  <a:srgbClr val="FFFFFF"/>
                </a:solidFill>
                <a:latin typeface="Calibri"/>
                <a:ea typeface="Calibri"/>
                <a:cs typeface="Calibri"/>
              </a:rPr>
              <a:t>Teaching, evidence and student support</a:t>
            </a:r>
          </a:p>
        </p:txBody>
      </p:sp>
      <p:sp>
        <p:nvSpPr>
          <p:cNvPr id="8" name="">
            <a:extLst xmlns:a="http://schemas.openxmlformats.org/drawingml/2006/main">
              <a:ext uri="{FF2B5EF4-FFF2-40B4-BE49-F238E27FC236}">
                <a16:creationId xmlns:a16="http://schemas.microsoft.com/office/drawing/2014/main" id="{01E68B2A-4DFA-4604-95A2-C31D19345ACE}"/>
              </a:ext>
            </a:extLst>
          </p:cNvPr>
          <p:cNvSpPr>
            <a:spLocks xmlns:a="http://schemas.openxmlformats.org/drawingml/2006/main" noGrp="1"/>
          </p:cNvSpPr>
          <p:nvPr/>
        </p:nvSpPr>
        <p:spPr>
          <a:xfrm xmlns:a="http://schemas.openxmlformats.org/drawingml/2006/main">
            <a:off x="4648200" y="2038350"/>
            <a:ext cx="371475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Programming assessments with compiler and test cases</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Calendar, timetable, deadlines and optional class scheduling</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Jitsi classroom: audio, screen share, chat, people and hand raise</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Join/leave duration, policy threshold and class history</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Student/faculty/HOD/admin dashboards and alerts</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Reviewed ERP user import plus course/attendance synchronization</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Native AI, CGPA roadmap, progress insights and gamification research</a:t>
            </a:r>
          </a:p>
        </p:txBody>
      </p:sp>
      <p:sp>
        <p:nvSpPr>
          <p:cNvPr id="9" name="">
            <a:extLst xmlns:a="http://schemas.openxmlformats.org/drawingml/2006/main">
              <a:ext uri="{FF2B5EF4-FFF2-40B4-BE49-F238E27FC236}">
                <a16:creationId xmlns:a16="http://schemas.microsoft.com/office/drawing/2014/main" id="{AD1A521C-C935-4159-923E-6AF4ABD63041}"/>
              </a:ext>
            </a:extLst>
          </p:cNvPr>
          <p:cNvSpPr>
            <a:spLocks xmlns:a="http://schemas.openxmlformats.org/drawingml/2006/main" noGrp="1"/>
          </p:cNvSpPr>
          <p:nvPr/>
        </p:nvSpPr>
        <p:spPr>
          <a:xfrm xmlns:a="http://schemas.openxmlformats.org/drawingml/2006/main">
            <a:off x="895350" y="5010150"/>
            <a:ext cx="7353300" cy="971550"/>
          </a:xfrm>
          <a:prstGeom xmlns:a="http://schemas.openxmlformats.org/drawingml/2006/main" prst="roundRect">
            <a:avLst>
              <a:gd name="adj" fmla="val 7843"/>
            </a:avLst>
          </a:prstGeom>
          <a:solidFill xmlns:a="http://schemas.openxmlformats.org/drawingml/2006/main">
            <a:srgbClr val="E8F1F7"/>
          </a:solidFill>
          <a:ln xmlns:a="http://schemas.openxmlformats.org/drawingml/2006/main" w="10478">
            <a:solidFill>
              <a:srgbClr val="8DB2CE"/>
            </a:solidFill>
            <a:prstDash val="solid"/>
          </a:ln>
        </p:spPr>
      </p:sp>
      <p:sp>
        <p:nvSpPr>
          <p:cNvPr id="10" name="">
            <a:extLst xmlns:a="http://schemas.openxmlformats.org/drawingml/2006/main">
              <a:ext uri="{FF2B5EF4-FFF2-40B4-BE49-F238E27FC236}">
                <a16:creationId xmlns:a16="http://schemas.microsoft.com/office/drawing/2014/main" id="{501C1F0F-9B3B-4502-A35D-3BF7C7DEDBF4}"/>
              </a:ext>
            </a:extLst>
          </p:cNvPr>
          <p:cNvSpPr>
            <a:spLocks xmlns:a="http://schemas.openxmlformats.org/drawingml/2006/main" noGrp="1"/>
          </p:cNvSpPr>
          <p:nvPr/>
        </p:nvSpPr>
        <p:spPr>
          <a:xfrm xmlns:a="http://schemas.openxmlformats.org/drawingml/2006/main">
            <a:off x="1181100" y="5219700"/>
            <a:ext cx="6781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275" b="1">
                <a:solidFill>
                  <a:srgbClr val="174A6B"/>
                </a:solidFill>
                <a:latin typeface="Calibri"/>
                <a:ea typeface="Calibri"/>
                <a:cs typeface="Calibri"/>
              </a:defRPr>
            </a:pPr>
            <a:r>
              <a:rPr sz="1275" b="1">
                <a:solidFill>
                  <a:srgbClr val="174A6B"/>
                </a:solidFill>
                <a:latin typeface="Calibri"/>
                <a:ea typeface="Calibri"/>
                <a:cs typeface="Calibri"/>
              </a:rPr>
              <a:t>Research contribution: one auditable university workflow connects administration, teaching, assessment, official data and support while preserving role boundaries and human authority.</a:t>
            </a:r>
          </a:p>
        </p:txBody>
      </p:sp>
    </p:spTree>
    <p:extLst>
      <p:ext uri="{BB962C8B-B14F-4D97-AF65-F5344CB8AC3E}">
        <p14:creationId xmlns:p14="http://schemas.microsoft.com/office/powerpoint/2010/main" val="140259056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8BD7B74-E156-48F0-BAAA-E25B6372A751}"/>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pPr algn="ctr">
              <a:buNone/>
              <a:defRPr sz="2100" b="1">
                <a:solidFill>
                  <a:srgbClr val="FFFFFF"/>
                </a:solidFill>
                <a:latin typeface="Times New Roman"/>
                <a:ea typeface="Times New Roman"/>
                <a:cs typeface="Times New Roman"/>
              </a:defRPr>
            </a:pPr>
            <a:r>
              <a:rPr sz="2100" b="1">
                <a:solidFill>
                  <a:srgbClr val="FFFFFF"/>
                </a:solidFill>
                <a:effectLst>
                  <a:outerShdw blurRad="38100" dist="19050" dir="2700000" algn="tl" rotWithShape="0">
                    <a:schemeClr val="dk1">
                      <a:alpha val="40000"/>
                    </a:schemeClr>
                  </a:outerShdw>
                </a:effectLst>
                <a:latin typeface="Times New Roman"/>
                <a:ea typeface="Times New Roman"/>
                <a:cs typeface="Times New Roman"/>
              </a:rPr>
              <a:t>Technologies in Proposed Work</a:t>
            </a:r>
            <a:endParaRPr sz="3600" b="1">
              <a:solidFill>
                <a:schemeClr val="bg1"/>
              </a:solidFill>
              <a:effectLst>
                <a:outerShdw blurRad="38100" dist="19050" dir="2700000" algn="tl" rotWithShape="0">
                  <a:schemeClr val="dk1">
                    <a:alpha val="40000"/>
                  </a:schemeClr>
                </a:outerShdw>
              </a:effectLst>
              <a:latin typeface="Times New Roman"/>
              <a:ea typeface="Times New Roman"/>
              <a:cs typeface="Times New Roman"/>
            </a:endParaRPr>
          </a:p>
        </p:txBody>
      </p:sp>
      <p:graphicFrame>
        <p:nvGraphicFramePr>
          <p:cNvPr id="7" name=""/>
          <p:cNvGraphicFramePr/>
          <p:nvPr/>
        </p:nvGraphicFramePr>
        <p:xfrm>
          <a:off xmlns:a="http://schemas.openxmlformats.org/drawingml/2006/main" x="419100" y="1219200"/>
          <a:ext xmlns:a="http://schemas.openxmlformats.org/drawingml/2006/main" cx="8305800" cy="4438650"/>
        </p:xfrm>
        <a:graphic xmlns:a="http://schemas.openxmlformats.org/drawingml/2006/main">
          <a:graphicData uri="http://schemas.openxmlformats.org/drawingml/2006/table">
            <a:tbl>
              <a:tblPr/>
              <a:tblGrid>
                <a:gridCol w="1476375"/>
                <a:gridCol w="2476500"/>
                <a:gridCol w="4352925"/>
              </a:tblGrid>
              <a:tr h="493183">
                <a:tc>
                  <a:txBody>
                    <a:bodyPr>
                      <a:normAutofit/>
                    </a:bodyPr>
                    <a:lstStyle/>
                    <a:p>
                      <a:r>
                        <a:rPr sz="1050" b="1">
                          <a:solidFill>
                            <a:srgbClr val="FFFFFF"/>
                          </a:solidFill>
                          <a:latin typeface="Calibri"/>
                          <a:ea typeface="Calibri"/>
                          <a:cs typeface="Calibri"/>
                        </a:rPr>
                        <a:t>Layer</a:t>
                      </a:r>
                    </a:p>
                  </a:txBody>
                  <a:tcPr marL="91440" marR="91440" marT="45720" marB="45720" anchor="ctr">
                    <a:solidFill>
                      <a:srgbClr val="3F922F"/>
                    </a:solidFill>
                  </a:tcPr>
                </a:tc>
                <a:tc>
                  <a:txBody>
                    <a:bodyPr>
                      <a:normAutofit/>
                    </a:bodyPr>
                    <a:lstStyle/>
                    <a:p>
                      <a:r>
                        <a:rPr sz="1050" b="1">
                          <a:solidFill>
                            <a:srgbClr val="FFFFFF"/>
                          </a:solidFill>
                          <a:latin typeface="Calibri"/>
                          <a:ea typeface="Calibri"/>
                          <a:cs typeface="Calibri"/>
                        </a:rPr>
                        <a:t>Technology</a:t>
                      </a:r>
                    </a:p>
                  </a:txBody>
                  <a:tcPr marL="91440" marR="91440" marT="45720" marB="45720" anchor="ctr">
                    <a:solidFill>
                      <a:srgbClr val="3F922F"/>
                    </a:solidFill>
                  </a:tcPr>
                </a:tc>
                <a:tc>
                  <a:txBody>
                    <a:bodyPr>
                      <a:normAutofit/>
                    </a:bodyPr>
                    <a:lstStyle/>
                    <a:p>
                      <a:r>
                        <a:rPr sz="1050" b="1">
                          <a:solidFill>
                            <a:srgbClr val="FFFFFF"/>
                          </a:solidFill>
                          <a:latin typeface="Calibri"/>
                          <a:ea typeface="Calibri"/>
                          <a:cs typeface="Calibri"/>
                        </a:rPr>
                        <a:t>Research / system purpose</a:t>
                      </a:r>
                    </a:p>
                  </a:txBody>
                  <a:tcPr marL="91440" marR="91440" marT="45720" marB="45720" anchor="ctr">
                    <a:solidFill>
                      <a:srgbClr val="3F922F"/>
                    </a:solidFill>
                  </a:tcPr>
                </a:tc>
              </a:tr>
              <a:tr h="493183">
                <a:tc>
                  <a:txBody>
                    <a:bodyPr>
                      <a:normAutofit/>
                    </a:bodyPr>
                    <a:lstStyle/>
                    <a:p>
                      <a:r>
                        <a:rPr sz="938" b="0">
                          <a:solidFill>
                            <a:srgbClr val="17311B"/>
                          </a:solidFill>
                          <a:latin typeface="Calibri"/>
                          <a:ea typeface="Calibri"/>
                          <a:cs typeface="Calibri"/>
                        </a:rPr>
                        <a:t>Experience</a:t>
                      </a:r>
                    </a:p>
                  </a:txBody>
                  <a:tcPr marL="91440" marR="91440" marT="45720" marB="45720" anchor="ctr">
                    <a:solidFill>
                      <a:srgbClr val="FFFFFF"/>
                    </a:solidFill>
                  </a:tcPr>
                </a:tc>
                <a:tc>
                  <a:txBody>
                    <a:bodyPr>
                      <a:normAutofit/>
                    </a:bodyPr>
                    <a:lstStyle/>
                    <a:p>
                      <a:r>
                        <a:rPr sz="938" b="0">
                          <a:solidFill>
                            <a:srgbClr val="17311B"/>
                          </a:solidFill>
                          <a:latin typeface="Calibri"/>
                          <a:ea typeface="Calibri"/>
                          <a:cs typeface="Calibri"/>
                        </a:rPr>
                        <a:t>React + Vite</a:t>
                      </a:r>
                    </a:p>
                  </a:txBody>
                  <a:tcPr marL="91440" marR="91440" marT="45720" marB="45720" anchor="ctr">
                    <a:solidFill>
                      <a:srgbClr val="FFFFFF"/>
                    </a:solidFill>
                  </a:tcPr>
                </a:tc>
                <a:tc>
                  <a:txBody>
                    <a:bodyPr>
                      <a:normAutofit/>
                    </a:bodyPr>
                    <a:lstStyle/>
                    <a:p>
                      <a:r>
                        <a:rPr sz="938" b="0">
                          <a:solidFill>
                            <a:srgbClr val="17311B"/>
                          </a:solidFill>
                          <a:latin typeface="Calibri"/>
                          <a:ea typeface="Calibri"/>
                          <a:cs typeface="Calibri"/>
                        </a:rPr>
                        <a:t>Responsive role dashboards, course pages, forms, calendars, themes and accessible states</a:t>
                      </a:r>
                    </a:p>
                  </a:txBody>
                  <a:tcPr marL="91440" marR="91440" marT="45720" marB="45720" anchor="ctr">
                    <a:solidFill>
                      <a:srgbClr val="FFFFFF"/>
                    </a:solidFill>
                  </a:tcPr>
                </a:tc>
              </a:tr>
              <a:tr h="493183">
                <a:tc>
                  <a:txBody>
                    <a:bodyPr>
                      <a:normAutofit/>
                    </a:bodyPr>
                    <a:lstStyle/>
                    <a:p>
                      <a:r>
                        <a:rPr sz="938" b="0">
                          <a:solidFill>
                            <a:srgbClr val="17311B"/>
                          </a:solidFill>
                          <a:latin typeface="Calibri"/>
                          <a:ea typeface="Calibri"/>
                          <a:cs typeface="Calibri"/>
                        </a:rPr>
                        <a:t>Application</a:t>
                      </a:r>
                    </a:p>
                  </a:txBody>
                  <a:tcPr marL="91440" marR="91440" marT="45720" marB="45720" anchor="ctr">
                    <a:solidFill>
                      <a:srgbClr val="F7FAF6"/>
                    </a:solidFill>
                  </a:tcPr>
                </a:tc>
                <a:tc>
                  <a:txBody>
                    <a:bodyPr>
                      <a:normAutofit/>
                    </a:bodyPr>
                    <a:lstStyle/>
                    <a:p>
                      <a:r>
                        <a:rPr sz="938" b="0">
                          <a:solidFill>
                            <a:srgbClr val="17311B"/>
                          </a:solidFill>
                          <a:latin typeface="Calibri"/>
                          <a:ea typeface="Calibri"/>
                          <a:cs typeface="Calibri"/>
                        </a:rPr>
                        <a:t>FastAPI (Python)</a:t>
                      </a:r>
                    </a:p>
                  </a:txBody>
                  <a:tcPr marL="91440" marR="91440" marT="45720" marB="45720" anchor="ctr">
                    <a:solidFill>
                      <a:srgbClr val="F7FAF6"/>
                    </a:solidFill>
                  </a:tcPr>
                </a:tc>
                <a:tc>
                  <a:txBody>
                    <a:bodyPr>
                      <a:normAutofit/>
                    </a:bodyPr>
                    <a:lstStyle/>
                    <a:p>
                      <a:r>
                        <a:rPr sz="938" b="0">
                          <a:solidFill>
                            <a:srgbClr val="17311B"/>
                          </a:solidFill>
                          <a:latin typeface="Calibri"/>
                          <a:ea typeface="Calibri"/>
                          <a:cs typeface="Calibri"/>
                        </a:rPr>
                        <a:t>Accounts, academic structure, courses, assessment, scheduling and validated REST workflows</a:t>
                      </a:r>
                    </a:p>
                  </a:txBody>
                  <a:tcPr marL="91440" marR="91440" marT="45720" marB="45720" anchor="ctr">
                    <a:solidFill>
                      <a:srgbClr val="F7FAF6"/>
                    </a:solidFill>
                  </a:tcPr>
                </a:tc>
              </a:tr>
              <a:tr h="493183">
                <a:tc>
                  <a:txBody>
                    <a:bodyPr>
                      <a:normAutofit/>
                    </a:bodyPr>
                    <a:lstStyle/>
                    <a:p>
                      <a:r>
                        <a:rPr sz="938" b="0">
                          <a:solidFill>
                            <a:srgbClr val="17311B"/>
                          </a:solidFill>
                          <a:latin typeface="Calibri"/>
                          <a:ea typeface="Calibri"/>
                          <a:cs typeface="Calibri"/>
                        </a:rPr>
                        <a:t>Data</a:t>
                      </a:r>
                    </a:p>
                  </a:txBody>
                  <a:tcPr marL="91440" marR="91440" marT="45720" marB="45720" anchor="ctr">
                    <a:solidFill>
                      <a:srgbClr val="FFFFFF"/>
                    </a:solidFill>
                  </a:tcPr>
                </a:tc>
                <a:tc>
                  <a:txBody>
                    <a:bodyPr>
                      <a:normAutofit/>
                    </a:bodyPr>
                    <a:lstStyle/>
                    <a:p>
                      <a:r>
                        <a:rPr sz="938" b="0">
                          <a:solidFill>
                            <a:srgbClr val="17311B"/>
                          </a:solidFill>
                          <a:latin typeface="Calibri"/>
                          <a:ea typeface="Calibri"/>
                          <a:cs typeface="Calibri"/>
                        </a:rPr>
                        <a:t>PostgreSQL + SQLAlchemy</a:t>
                      </a:r>
                    </a:p>
                  </a:txBody>
                  <a:tcPr marL="91440" marR="91440" marT="45720" marB="45720" anchor="ctr">
                    <a:solidFill>
                      <a:srgbClr val="FFFFFF"/>
                    </a:solidFill>
                  </a:tcPr>
                </a:tc>
                <a:tc>
                  <a:txBody>
                    <a:bodyPr>
                      <a:normAutofit/>
                    </a:bodyPr>
                    <a:lstStyle/>
                    <a:p>
                      <a:r>
                        <a:rPr sz="938" b="0">
                          <a:solidFill>
                            <a:srgbClr val="17311B"/>
                          </a:solidFill>
                          <a:latin typeface="Calibri"/>
                          <a:ea typeface="Calibri"/>
                          <a:cs typeface="Calibri"/>
                        </a:rPr>
                        <a:t>Institution-scoped users, content, submissions, marks, events, audit and synchronization records</a:t>
                      </a:r>
                    </a:p>
                  </a:txBody>
                  <a:tcPr marL="91440" marR="91440" marT="45720" marB="45720" anchor="ctr">
                    <a:solidFill>
                      <a:srgbClr val="FFFFFF"/>
                    </a:solidFill>
                  </a:tcPr>
                </a:tc>
              </a:tr>
              <a:tr h="493183">
                <a:tc>
                  <a:txBody>
                    <a:bodyPr>
                      <a:normAutofit/>
                    </a:bodyPr>
                    <a:lstStyle/>
                    <a:p>
                      <a:r>
                        <a:rPr sz="938" b="0">
                          <a:solidFill>
                            <a:srgbClr val="17311B"/>
                          </a:solidFill>
                          <a:latin typeface="Calibri"/>
                          <a:ea typeface="Calibri"/>
                          <a:cs typeface="Calibri"/>
                        </a:rPr>
                        <a:t>Security</a:t>
                      </a:r>
                    </a:p>
                  </a:txBody>
                  <a:tcPr marL="91440" marR="91440" marT="45720" marB="45720" anchor="ctr">
                    <a:solidFill>
                      <a:srgbClr val="F7FAF6"/>
                    </a:solidFill>
                  </a:tcPr>
                </a:tc>
                <a:tc>
                  <a:txBody>
                    <a:bodyPr>
                      <a:normAutofit/>
                    </a:bodyPr>
                    <a:lstStyle/>
                    <a:p>
                      <a:r>
                        <a:rPr sz="938" b="0">
                          <a:solidFill>
                            <a:srgbClr val="17311B"/>
                          </a:solidFill>
                          <a:latin typeface="Calibri"/>
                          <a:ea typeface="Calibri"/>
                          <a:cs typeface="Calibri"/>
                        </a:rPr>
                        <a:t>JWT, hashing, Google sign-in option</a:t>
                      </a:r>
                    </a:p>
                  </a:txBody>
                  <a:tcPr marL="91440" marR="91440" marT="45720" marB="45720" anchor="ctr">
                    <a:solidFill>
                      <a:srgbClr val="F7FAF6"/>
                    </a:solidFill>
                  </a:tcPr>
                </a:tc>
                <a:tc>
                  <a:txBody>
                    <a:bodyPr>
                      <a:normAutofit/>
                    </a:bodyPr>
                    <a:lstStyle/>
                    <a:p>
                      <a:r>
                        <a:rPr sz="938" b="0">
                          <a:solidFill>
                            <a:srgbClr val="17311B"/>
                          </a:solidFill>
                          <a:latin typeface="Calibri"/>
                          <a:ea typeface="Calibri"/>
                          <a:cs typeface="Calibri"/>
                        </a:rPr>
                        <a:t>RBAC plus institution, department, course and record ownership checks</a:t>
                      </a:r>
                    </a:p>
                  </a:txBody>
                  <a:tcPr marL="91440" marR="91440" marT="45720" marB="45720" anchor="ctr">
                    <a:solidFill>
                      <a:srgbClr val="F7FAF6"/>
                    </a:solidFill>
                  </a:tcPr>
                </a:tc>
              </a:tr>
              <a:tr h="493183">
                <a:tc>
                  <a:txBody>
                    <a:bodyPr>
                      <a:normAutofit/>
                    </a:bodyPr>
                    <a:lstStyle/>
                    <a:p>
                      <a:r>
                        <a:rPr sz="938" b="0">
                          <a:solidFill>
                            <a:srgbClr val="17311B"/>
                          </a:solidFill>
                          <a:latin typeface="Calibri"/>
                          <a:ea typeface="Calibri"/>
                          <a:cs typeface="Calibri"/>
                        </a:rPr>
                        <a:t>Assessment</a:t>
                      </a:r>
                    </a:p>
                  </a:txBody>
                  <a:tcPr marL="91440" marR="91440" marT="45720" marB="45720" anchor="ctr">
                    <a:solidFill>
                      <a:srgbClr val="FFFFFF"/>
                    </a:solidFill>
                  </a:tcPr>
                </a:tc>
                <a:tc>
                  <a:txBody>
                    <a:bodyPr>
                      <a:normAutofit/>
                    </a:bodyPr>
                    <a:lstStyle/>
                    <a:p>
                      <a:r>
                        <a:rPr sz="938" b="0">
                          <a:solidFill>
                            <a:srgbClr val="17311B"/>
                          </a:solidFill>
                          <a:latin typeface="Calibri"/>
                          <a:ea typeface="Calibri"/>
                          <a:cs typeface="Calibri"/>
                        </a:rPr>
                        <a:t>Quiz engine + isolated code runner</a:t>
                      </a:r>
                    </a:p>
                  </a:txBody>
                  <a:tcPr marL="91440" marR="91440" marT="45720" marB="45720" anchor="ctr">
                    <a:solidFill>
                      <a:srgbClr val="FFFFFF"/>
                    </a:solidFill>
                  </a:tcPr>
                </a:tc>
                <a:tc>
                  <a:txBody>
                    <a:bodyPr>
                      <a:normAutofit/>
                    </a:bodyPr>
                    <a:lstStyle/>
                    <a:p>
                      <a:r>
                        <a:rPr sz="938" b="0">
                          <a:solidFill>
                            <a:srgbClr val="17311B"/>
                          </a:solidFill>
                          <a:latin typeface="Calibri"/>
                          <a:ea typeface="Calibri"/>
                          <a:cs typeface="Calibri"/>
                        </a:rPr>
                        <a:t>Server-side MCQ scoring, faculty grading and programming test-case evidence</a:t>
                      </a:r>
                    </a:p>
                  </a:txBody>
                  <a:tcPr marL="91440" marR="91440" marT="45720" marB="45720" anchor="ctr">
                    <a:solidFill>
                      <a:srgbClr val="FFFFFF"/>
                    </a:solidFill>
                  </a:tcPr>
                </a:tc>
              </a:tr>
              <a:tr h="493183">
                <a:tc>
                  <a:txBody>
                    <a:bodyPr>
                      <a:normAutofit/>
                    </a:bodyPr>
                    <a:lstStyle/>
                    <a:p>
                      <a:r>
                        <a:rPr sz="938" b="0">
                          <a:solidFill>
                            <a:srgbClr val="17311B"/>
                          </a:solidFill>
                          <a:latin typeface="Calibri"/>
                          <a:ea typeface="Calibri"/>
                          <a:cs typeface="Calibri"/>
                        </a:rPr>
                        <a:t>Classroom</a:t>
                      </a:r>
                    </a:p>
                  </a:txBody>
                  <a:tcPr marL="91440" marR="91440" marT="45720" marB="45720" anchor="ctr">
                    <a:solidFill>
                      <a:srgbClr val="F7FAF6"/>
                    </a:solidFill>
                  </a:tcPr>
                </a:tc>
                <a:tc>
                  <a:txBody>
                    <a:bodyPr>
                      <a:normAutofit/>
                    </a:bodyPr>
                    <a:lstStyle/>
                    <a:p>
                      <a:r>
                        <a:rPr sz="938" b="0">
                          <a:solidFill>
                            <a:srgbClr val="17311B"/>
                          </a:solidFill>
                          <a:latin typeface="Calibri"/>
                          <a:ea typeface="Calibri"/>
                          <a:cs typeface="Calibri"/>
                        </a:rPr>
                        <a:t>Jitsi IFrame API / JaaS development</a:t>
                      </a:r>
                    </a:p>
                  </a:txBody>
                  <a:tcPr marL="91440" marR="91440" marT="45720" marB="45720" anchor="ctr">
                    <a:solidFill>
                      <a:srgbClr val="F7FAF6"/>
                    </a:solidFill>
                  </a:tcPr>
                </a:tc>
                <a:tc>
                  <a:txBody>
                    <a:bodyPr>
                      <a:normAutofit/>
                    </a:bodyPr>
                    <a:lstStyle/>
                    <a:p>
                      <a:r>
                        <a:rPr sz="938" b="0">
                          <a:solidFill>
                            <a:srgbClr val="17311B"/>
                          </a:solidFill>
                          <a:latin typeface="Calibri"/>
                          <a:ea typeface="Calibri"/>
                          <a:cs typeface="Calibri"/>
                        </a:rPr>
                        <a:t>Scheduled rooms, audio, screen share, chat, participation events and explicit session lifecycle</a:t>
                      </a:r>
                    </a:p>
                  </a:txBody>
                  <a:tcPr marL="91440" marR="91440" marT="45720" marB="45720" anchor="ctr">
                    <a:solidFill>
                      <a:srgbClr val="F7FAF6"/>
                    </a:solidFill>
                  </a:tcPr>
                </a:tc>
              </a:tr>
              <a:tr h="493183">
                <a:tc>
                  <a:txBody>
                    <a:bodyPr>
                      <a:normAutofit/>
                    </a:bodyPr>
                    <a:lstStyle/>
                    <a:p>
                      <a:r>
                        <a:rPr sz="938" b="0">
                          <a:solidFill>
                            <a:srgbClr val="17311B"/>
                          </a:solidFill>
                          <a:latin typeface="Calibri"/>
                          <a:ea typeface="Calibri"/>
                          <a:cs typeface="Calibri"/>
                        </a:rPr>
                        <a:t>Integration + intelligence</a:t>
                      </a:r>
                    </a:p>
                  </a:txBody>
                  <a:tcPr marL="91440" marR="91440" marT="45720" marB="45720" anchor="ctr">
                    <a:solidFill>
                      <a:srgbClr val="FFFFFF"/>
                    </a:solidFill>
                  </a:tcPr>
                </a:tc>
                <a:tc>
                  <a:txBody>
                    <a:bodyPr>
                      <a:normAutofit/>
                    </a:bodyPr>
                    <a:lstStyle/>
                    <a:p>
                      <a:r>
                        <a:rPr sz="938" b="0">
                          <a:solidFill>
                            <a:srgbClr val="17311B"/>
                          </a:solidFill>
                          <a:latin typeface="Calibri"/>
                          <a:ea typeface="Calibri"/>
                          <a:cs typeface="Calibri"/>
                        </a:rPr>
                        <a:t>REST ERP adapter + native AI</a:t>
                      </a:r>
                    </a:p>
                  </a:txBody>
                  <a:tcPr marL="91440" marR="91440" marT="45720" marB="45720" anchor="ctr">
                    <a:solidFill>
                      <a:srgbClr val="FFFFFF"/>
                    </a:solidFill>
                  </a:tcPr>
                </a:tc>
                <a:tc>
                  <a:txBody>
                    <a:bodyPr>
                      <a:normAutofit/>
                    </a:bodyPr>
                    <a:lstStyle/>
                    <a:p>
                      <a:r>
                        <a:rPr sz="938" b="0">
                          <a:solidFill>
                            <a:srgbClr val="17311B"/>
                          </a:solidFill>
                          <a:latin typeface="Calibri"/>
                          <a:ea typeface="Calibri"/>
                          <a:cs typeface="Calibri"/>
                        </a:rPr>
                        <a:t>Reviewed ERP exchange, course Q&amp;A, lecture review, CGPA roadmap and explainable progress</a:t>
                      </a:r>
                    </a:p>
                  </a:txBody>
                  <a:tcPr marL="91440" marR="91440" marT="45720" marB="45720" anchor="ctr">
                    <a:solidFill>
                      <a:srgbClr val="FFFFFF"/>
                    </a:solidFill>
                  </a:tcPr>
                </a:tc>
              </a:tr>
              <a:tr h="493183">
                <a:tc>
                  <a:txBody>
                    <a:bodyPr>
                      <a:normAutofit/>
                    </a:bodyPr>
                    <a:lstStyle/>
                    <a:p>
                      <a:r>
                        <a:rPr sz="938" b="0">
                          <a:solidFill>
                            <a:srgbClr val="17311B"/>
                          </a:solidFill>
                          <a:latin typeface="Calibri"/>
                          <a:ea typeface="Calibri"/>
                          <a:cs typeface="Calibri"/>
                        </a:rPr>
                        <a:t>Gamification research</a:t>
                      </a:r>
                    </a:p>
                  </a:txBody>
                  <a:tcPr marL="91440" marR="91440" marT="45720" marB="45720" anchor="ctr">
                    <a:solidFill>
                      <a:srgbClr val="F7FAF6"/>
                    </a:solidFill>
                  </a:tcPr>
                </a:tc>
                <a:tc>
                  <a:txBody>
                    <a:bodyPr>
                      <a:normAutofit/>
                    </a:bodyPr>
                    <a:lstStyle/>
                    <a:p>
                      <a:r>
                        <a:rPr sz="938" b="0">
                          <a:solidFill>
                            <a:srgbClr val="17311B"/>
                          </a:solidFill>
                          <a:latin typeface="Calibri"/>
                          <a:ea typeface="Calibri"/>
                          <a:cs typeface="Calibri"/>
                        </a:rPr>
                        <a:t>Verified event ledger + configurable rules</a:t>
                      </a:r>
                    </a:p>
                  </a:txBody>
                  <a:tcPr marL="91440" marR="91440" marT="45720" marB="45720" anchor="ctr">
                    <a:solidFill>
                      <a:srgbClr val="F7FAF6"/>
                    </a:solidFill>
                  </a:tcPr>
                </a:tc>
                <a:tc>
                  <a:txBody>
                    <a:bodyPr>
                      <a:normAutofit/>
                    </a:bodyPr>
                    <a:lstStyle/>
                    <a:p>
                      <a:r>
                        <a:rPr sz="938" b="0">
                          <a:solidFill>
                            <a:srgbClr val="17311B"/>
                          </a:solidFill>
                          <a:latin typeface="Calibri"/>
                          <a:ea typeface="Calibri"/>
                          <a:cs typeface="Calibri"/>
                        </a:rPr>
                        <a:t>Planned points, badges, streaks, levels and opt-in challenges</a:t>
                      </a:r>
                    </a:p>
                  </a:txBody>
                  <a:tcPr marL="91440" marR="91440" marT="45720" marB="45720" anchor="ctr">
                    <a:solidFill>
                      <a:srgbClr val="F7FAF6"/>
                    </a:solidFill>
                  </a:tcPr>
                </a:tc>
              </a:tr>
            </a:tbl>
          </a:graphicData>
        </a:graphic>
      </p:graphicFrame>
      <p:sp>
        <p:nvSpPr>
          <p:cNvPr id="4" name="">
            <a:extLst xmlns:a="http://schemas.openxmlformats.org/drawingml/2006/main">
              <a:ext uri="{FF2B5EF4-FFF2-40B4-BE49-F238E27FC236}">
                <a16:creationId xmlns:a16="http://schemas.microsoft.com/office/drawing/2014/main" id="{02877575-C223-4803-90E5-B34F2392891F}"/>
              </a:ext>
            </a:extLst>
          </p:cNvPr>
          <p:cNvSpPr>
            <a:spLocks xmlns:a="http://schemas.openxmlformats.org/drawingml/2006/main" noGrp="1"/>
          </p:cNvSpPr>
          <p:nvPr/>
        </p:nvSpPr>
        <p:spPr>
          <a:xfrm xmlns:a="http://schemas.openxmlformats.org/drawingml/2006/main">
            <a:off x="704850" y="5810250"/>
            <a:ext cx="7734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103"/>
          </a:bodyPr>
          <a:lstStyle xmlns:a="http://schemas.openxmlformats.org/drawingml/2006/main"/>
          <a:p xmlns:a="http://schemas.openxmlformats.org/drawingml/2006/main">
            <a:pPr algn="ctr">
              <a:buNone/>
              <a:defRPr sz="1125" b="1">
                <a:solidFill>
                  <a:srgbClr val="17451C"/>
                </a:solidFill>
                <a:latin typeface="Calibri"/>
                <a:ea typeface="Calibri"/>
                <a:cs typeface="Calibri"/>
              </a:defRPr>
            </a:pPr>
            <a:r>
              <a:rPr sz="1125" b="1">
                <a:solidFill>
                  <a:srgbClr val="17451C"/>
                </a:solidFill>
                <a:latin typeface="Calibri"/>
                <a:ea typeface="Calibri"/>
                <a:cs typeface="Calibri"/>
              </a:rPr>
              <a:t>Design rule: AI and gamification operate on verified records, preserve source evidence and cannot silently change official academic results.</a:t>
            </a:r>
          </a:p>
        </p:txBody>
      </p:sp>
    </p:spTree>
    <p:extLst>
      <p:ext uri="{BB962C8B-B14F-4D97-AF65-F5344CB8AC3E}">
        <p14:creationId xmlns:p14="http://schemas.microsoft.com/office/powerpoint/2010/main" val="214541949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B4A160-C043-4110-854B-C0BAD6F19EF5}"/>
              </a:ext>
            </a:extLst>
          </p:cNvPr>
          <p:cNvSpPr>
            <a:spLocks xmlns:a="http://schemas.openxmlformats.org/drawingml/2006/main" noGrp="1"/>
          </p:cNvSpPr>
          <p:nvPr>
            <p:ph type="title" idx="0"/>
          </p:nvPr>
        </p:nvSpPr>
        <p:spPr>
          <a:xfrm xmlns:a="http://schemas.openxmlformats.org/drawingml/2006/main">
            <a:off x="1809750" y="419100"/>
            <a:ext cx="5524500" cy="438150"/>
          </a:xfrm>
        </p:spPr>
        <p:txBody>
          <a:bodyPr xmlns:a="http://schemas.openxmlformats.org/drawingml/2006/main">
            <a:normAutofit fontScale="100000"/>
          </a:bodyPr>
          <a:lstStyle xmlns:a="http://schemas.openxmlformats.org/drawingml/2006/main"/>
          <a:p xmlns:a="http://schemas.openxmlformats.org/drawingml/2006/main">
            <a:pPr algn="ctr">
              <a:buNone/>
              <a:defRPr sz="2100" b="1">
                <a:solidFill>
                  <a:srgbClr val="FFFFFF"/>
                </a:solidFill>
                <a:latin typeface="Times New Roman"/>
                <a:ea typeface="Times New Roman"/>
                <a:cs typeface="Times New Roman"/>
              </a:defRPr>
            </a:pPr>
            <a:r>
              <a:rPr sz="2100" b="1">
                <a:solidFill>
                  <a:srgbClr val="FFFFFF"/>
                </a:solidFill>
                <a:effectLst>
                  <a:outerShdw blurRad="38100" dist="19050" dir="2700000" algn="tl" rotWithShape="0">
                    <a:schemeClr val="dk1">
                      <a:alpha val="40000"/>
                    </a:schemeClr>
                  </a:outerShdw>
                </a:effectLst>
                <a:latin typeface="Times New Roman"/>
                <a:ea typeface="Times New Roman"/>
                <a:cs typeface="Times New Roman"/>
              </a:rPr>
              <a:t>Block Diagram / System Flow</a:t>
            </a:r>
            <a:endParaRPr sz="3600" b="1">
              <a:solidFill>
                <a:schemeClr val="bg1"/>
              </a:solidFill>
              <a:effectLst>
                <a:outerShdw blurRad="38100" dist="19050" dir="2700000" algn="tl" rotWithShape="0">
                  <a:schemeClr val="dk1">
                    <a:alpha val="40000"/>
                  </a:schemeClr>
                </a:outerShdw>
              </a:effectLst>
              <a:latin typeface="Times New Roman"/>
              <a:ea typeface="Times New Roman"/>
              <a:cs typeface="Times New Roman"/>
            </a:endParaRPr>
          </a:p>
        </p:txBody>
      </p:sp>
      <p:sp>
        <p:nvSpPr>
          <p:cNvPr id="6" name="Oval 5">
            <a:extLst xmlns:a="http://schemas.openxmlformats.org/drawingml/2006/main">
              <a:ext uri="{FF2B5EF4-FFF2-40B4-BE49-F238E27FC236}">
                <a16:creationId xmlns:a16="http://schemas.microsoft.com/office/drawing/2014/main" id="{FD560510-28A3-4585-8A48-2A223AAF3B6F}"/>
              </a:ext>
            </a:extLst>
          </p:cNvPr>
          <p:cNvSpPr>
            <a:spLocks xmlns:a="http://schemas.openxmlformats.org/drawingml/2006/main" noGrp="1"/>
          </p:cNvSpPr>
          <p:nvPr/>
        </p:nvSpPr>
        <p:spPr>
          <a:xfrm xmlns:a="http://schemas.openxmlformats.org/drawingml/2006/main">
            <a:off x="2483768" y="6222911"/>
            <a:ext cx="288032" cy="144016"/>
          </a:xfrm>
          <a:prstGeom xmlns:a="http://schemas.openxmlformats.org/drawingml/2006/main" prst="ellipse">
            <a:avLst/>
          </a:prstGeom>
          <a:ln xmlns:a="http://schemas.openxmlformats.org/drawingml/2006/main">
            <a:solidFill>
              <a:schemeClr val="bg1"/>
            </a:solidFill>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
            <a:extLst xmlns:a="http://schemas.openxmlformats.org/drawingml/2006/main">
              <a:ext uri="{FF2B5EF4-FFF2-40B4-BE49-F238E27FC236}">
                <a16:creationId xmlns:a16="http://schemas.microsoft.com/office/drawing/2014/main" id="{E6F3B50E-886C-4E4E-B3DC-3B56ECCC6FCC}"/>
              </a:ext>
            </a:extLst>
          </p:cNvPr>
          <p:cNvSpPr>
            <a:spLocks xmlns:a="http://schemas.openxmlformats.org/drawingml/2006/main" noGrp="1"/>
          </p:cNvSpPr>
          <p:nvPr/>
        </p:nvSpPr>
        <p:spPr>
          <a:xfrm xmlns:a="http://schemas.openxmlformats.org/drawingml/2006/main">
            <a:off x="571500" y="1543050"/>
            <a:ext cx="1571625" cy="552450"/>
          </a:xfrm>
          <a:prstGeom xmlns:a="http://schemas.openxmlformats.org/drawingml/2006/main" prst="roundRect">
            <a:avLst>
              <a:gd name="adj" fmla="val 13793"/>
            </a:avLst>
          </a:prstGeom>
          <a:solidFill xmlns:a="http://schemas.openxmlformats.org/drawingml/2006/main">
            <a:srgbClr val="EEF6EB"/>
          </a:solidFill>
          <a:ln xmlns:a="http://schemas.openxmlformats.org/drawingml/2006/main" w="10478">
            <a:solidFill>
              <a:srgbClr val="3F922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17451C"/>
                </a:solidFill>
                <a:latin typeface="Calibri"/>
                <a:ea typeface="Calibri"/>
                <a:cs typeface="Calibri"/>
              </a:defRPr>
            </a:pPr>
            <a:r>
              <a:rPr sz="1200" b="1">
                <a:solidFill>
                  <a:srgbClr val="17451C"/>
                </a:solidFill>
                <a:latin typeface="Calibri"/>
                <a:ea typeface="Calibri"/>
                <a:cs typeface="Calibri"/>
              </a:rPr>
              <a:t>STUDENT</a:t>
            </a:r>
          </a:p>
        </p:txBody>
      </p:sp>
      <p:sp>
        <p:nvSpPr>
          <p:cNvPr id="8" name="">
            <a:extLst xmlns:a="http://schemas.openxmlformats.org/drawingml/2006/main">
              <a:ext uri="{FF2B5EF4-FFF2-40B4-BE49-F238E27FC236}">
                <a16:creationId xmlns:a16="http://schemas.microsoft.com/office/drawing/2014/main" id="{947EEFFC-E782-44ED-9F1A-C08BB7AF7242}"/>
              </a:ext>
            </a:extLst>
          </p:cNvPr>
          <p:cNvSpPr>
            <a:spLocks xmlns:a="http://schemas.openxmlformats.org/drawingml/2006/main" noGrp="1"/>
          </p:cNvSpPr>
          <p:nvPr/>
        </p:nvSpPr>
        <p:spPr>
          <a:xfrm xmlns:a="http://schemas.openxmlformats.org/drawingml/2006/main">
            <a:off x="1200150" y="2133600"/>
            <a:ext cx="304800" cy="342900"/>
          </a:xfrm>
          <a:prstGeom xmlns:a="http://schemas.openxmlformats.org/drawingml/2006/main" prst="downArrow">
            <a:avLst/>
          </a:prstGeom>
          <a:solidFill xmlns:a="http://schemas.openxmlformats.org/drawingml/2006/main">
            <a:srgbClr val="3F922F"/>
          </a:solidFill>
          <a:ln xmlns:a="http://schemas.openxmlformats.org/drawingml/2006/main" w="0">
            <a:solidFill>
              <a:srgbClr val="3F922F"/>
            </a:solidFill>
          </a:ln>
        </p:spPr>
      </p:sp>
      <p:sp>
        <p:nvSpPr>
          <p:cNvPr id="9" name="">
            <a:extLst xmlns:a="http://schemas.openxmlformats.org/drawingml/2006/main">
              <a:ext uri="{FF2B5EF4-FFF2-40B4-BE49-F238E27FC236}">
                <a16:creationId xmlns:a16="http://schemas.microsoft.com/office/drawing/2014/main" id="{25D53750-6E42-4E67-BAA3-1250963CDEBB}"/>
              </a:ext>
            </a:extLst>
          </p:cNvPr>
          <p:cNvSpPr>
            <a:spLocks xmlns:a="http://schemas.openxmlformats.org/drawingml/2006/main" noGrp="1"/>
          </p:cNvSpPr>
          <p:nvPr/>
        </p:nvSpPr>
        <p:spPr>
          <a:xfrm xmlns:a="http://schemas.openxmlformats.org/drawingml/2006/main">
            <a:off x="2714625" y="1543050"/>
            <a:ext cx="1571625" cy="552450"/>
          </a:xfrm>
          <a:prstGeom xmlns:a="http://schemas.openxmlformats.org/drawingml/2006/main" prst="roundRect">
            <a:avLst>
              <a:gd name="adj" fmla="val 13793"/>
            </a:avLst>
          </a:prstGeom>
          <a:solidFill xmlns:a="http://schemas.openxmlformats.org/drawingml/2006/main">
            <a:srgbClr val="EEF6EB"/>
          </a:solidFill>
          <a:ln xmlns:a="http://schemas.openxmlformats.org/drawingml/2006/main" w="10478">
            <a:solidFill>
              <a:srgbClr val="3F922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17451C"/>
                </a:solidFill>
                <a:latin typeface="Calibri"/>
                <a:ea typeface="Calibri"/>
                <a:cs typeface="Calibri"/>
              </a:defRPr>
            </a:pPr>
            <a:r>
              <a:rPr sz="1200" b="1">
                <a:solidFill>
                  <a:srgbClr val="17451C"/>
                </a:solidFill>
                <a:latin typeface="Calibri"/>
                <a:ea typeface="Calibri"/>
                <a:cs typeface="Calibri"/>
              </a:rPr>
              <a:t>FACULTY</a:t>
            </a:r>
          </a:p>
        </p:txBody>
      </p:sp>
      <p:sp>
        <p:nvSpPr>
          <p:cNvPr id="10" name="">
            <a:extLst xmlns:a="http://schemas.openxmlformats.org/drawingml/2006/main">
              <a:ext uri="{FF2B5EF4-FFF2-40B4-BE49-F238E27FC236}">
                <a16:creationId xmlns:a16="http://schemas.microsoft.com/office/drawing/2014/main" id="{CDEF1201-BBAC-4B76-BD4A-47A3F7C0652A}"/>
              </a:ext>
            </a:extLst>
          </p:cNvPr>
          <p:cNvSpPr>
            <a:spLocks xmlns:a="http://schemas.openxmlformats.org/drawingml/2006/main" noGrp="1"/>
          </p:cNvSpPr>
          <p:nvPr/>
        </p:nvSpPr>
        <p:spPr>
          <a:xfrm xmlns:a="http://schemas.openxmlformats.org/drawingml/2006/main">
            <a:off x="3343275" y="2133600"/>
            <a:ext cx="304800" cy="342900"/>
          </a:xfrm>
          <a:prstGeom xmlns:a="http://schemas.openxmlformats.org/drawingml/2006/main" prst="downArrow">
            <a:avLst/>
          </a:prstGeom>
          <a:solidFill xmlns:a="http://schemas.openxmlformats.org/drawingml/2006/main">
            <a:srgbClr val="3F922F"/>
          </a:solidFill>
          <a:ln xmlns:a="http://schemas.openxmlformats.org/drawingml/2006/main" w="0">
            <a:solidFill>
              <a:srgbClr val="3F922F"/>
            </a:solidFill>
          </a:ln>
        </p:spPr>
      </p:sp>
      <p:sp>
        <p:nvSpPr>
          <p:cNvPr id="11" name="">
            <a:extLst xmlns:a="http://schemas.openxmlformats.org/drawingml/2006/main">
              <a:ext uri="{FF2B5EF4-FFF2-40B4-BE49-F238E27FC236}">
                <a16:creationId xmlns:a16="http://schemas.microsoft.com/office/drawing/2014/main" id="{C18C5735-4602-426C-B9A4-F8EFD90D3C1F}"/>
              </a:ext>
            </a:extLst>
          </p:cNvPr>
          <p:cNvSpPr>
            <a:spLocks xmlns:a="http://schemas.openxmlformats.org/drawingml/2006/main" noGrp="1"/>
          </p:cNvSpPr>
          <p:nvPr/>
        </p:nvSpPr>
        <p:spPr>
          <a:xfrm xmlns:a="http://schemas.openxmlformats.org/drawingml/2006/main">
            <a:off x="4857750" y="1543050"/>
            <a:ext cx="1571625" cy="552450"/>
          </a:xfrm>
          <a:prstGeom xmlns:a="http://schemas.openxmlformats.org/drawingml/2006/main" prst="roundRect">
            <a:avLst>
              <a:gd name="adj" fmla="val 13793"/>
            </a:avLst>
          </a:prstGeom>
          <a:solidFill xmlns:a="http://schemas.openxmlformats.org/drawingml/2006/main">
            <a:srgbClr val="EEF6EB"/>
          </a:solidFill>
          <a:ln xmlns:a="http://schemas.openxmlformats.org/drawingml/2006/main" w="10478">
            <a:solidFill>
              <a:srgbClr val="3F922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17451C"/>
                </a:solidFill>
                <a:latin typeface="Calibri"/>
                <a:ea typeface="Calibri"/>
                <a:cs typeface="Calibri"/>
              </a:defRPr>
            </a:pPr>
            <a:r>
              <a:rPr sz="1200" b="1">
                <a:solidFill>
                  <a:srgbClr val="17451C"/>
                </a:solidFill>
                <a:latin typeface="Calibri"/>
                <a:ea typeface="Calibri"/>
                <a:cs typeface="Calibri"/>
              </a:rPr>
              <a:t>HOD</a:t>
            </a:r>
          </a:p>
        </p:txBody>
      </p:sp>
      <p:sp>
        <p:nvSpPr>
          <p:cNvPr id="12" name="">
            <a:extLst xmlns:a="http://schemas.openxmlformats.org/drawingml/2006/main">
              <a:ext uri="{FF2B5EF4-FFF2-40B4-BE49-F238E27FC236}">
                <a16:creationId xmlns:a16="http://schemas.microsoft.com/office/drawing/2014/main" id="{67867A2E-3EA4-4CE4-ADDC-FDC8EEEE7649}"/>
              </a:ext>
            </a:extLst>
          </p:cNvPr>
          <p:cNvSpPr>
            <a:spLocks xmlns:a="http://schemas.openxmlformats.org/drawingml/2006/main" noGrp="1"/>
          </p:cNvSpPr>
          <p:nvPr/>
        </p:nvSpPr>
        <p:spPr>
          <a:xfrm xmlns:a="http://schemas.openxmlformats.org/drawingml/2006/main">
            <a:off x="5486400" y="2133600"/>
            <a:ext cx="304800" cy="342900"/>
          </a:xfrm>
          <a:prstGeom xmlns:a="http://schemas.openxmlformats.org/drawingml/2006/main" prst="downArrow">
            <a:avLst/>
          </a:prstGeom>
          <a:solidFill xmlns:a="http://schemas.openxmlformats.org/drawingml/2006/main">
            <a:srgbClr val="3F922F"/>
          </a:solidFill>
          <a:ln xmlns:a="http://schemas.openxmlformats.org/drawingml/2006/main" w="0">
            <a:solidFill>
              <a:srgbClr val="3F922F"/>
            </a:solidFill>
          </a:ln>
        </p:spPr>
      </p:sp>
      <p:sp>
        <p:nvSpPr>
          <p:cNvPr id="13" name="">
            <a:extLst xmlns:a="http://schemas.openxmlformats.org/drawingml/2006/main">
              <a:ext uri="{FF2B5EF4-FFF2-40B4-BE49-F238E27FC236}">
                <a16:creationId xmlns:a16="http://schemas.microsoft.com/office/drawing/2014/main" id="{0660DECA-2426-4C20-8D48-48CCAD07DE26}"/>
              </a:ext>
            </a:extLst>
          </p:cNvPr>
          <p:cNvSpPr>
            <a:spLocks xmlns:a="http://schemas.openxmlformats.org/drawingml/2006/main" noGrp="1"/>
          </p:cNvSpPr>
          <p:nvPr/>
        </p:nvSpPr>
        <p:spPr>
          <a:xfrm xmlns:a="http://schemas.openxmlformats.org/drawingml/2006/main">
            <a:off x="7000875" y="1543050"/>
            <a:ext cx="1571625" cy="552450"/>
          </a:xfrm>
          <a:prstGeom xmlns:a="http://schemas.openxmlformats.org/drawingml/2006/main" prst="roundRect">
            <a:avLst>
              <a:gd name="adj" fmla="val 13793"/>
            </a:avLst>
          </a:prstGeom>
          <a:solidFill xmlns:a="http://schemas.openxmlformats.org/drawingml/2006/main">
            <a:srgbClr val="EEF6EB"/>
          </a:solidFill>
          <a:ln xmlns:a="http://schemas.openxmlformats.org/drawingml/2006/main" w="10478">
            <a:solidFill>
              <a:srgbClr val="3F922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17451C"/>
                </a:solidFill>
                <a:latin typeface="Calibri"/>
                <a:ea typeface="Calibri"/>
                <a:cs typeface="Calibri"/>
              </a:defRPr>
            </a:pPr>
            <a:r>
              <a:rPr sz="1200" b="1">
                <a:solidFill>
                  <a:srgbClr val="17451C"/>
                </a:solidFill>
                <a:latin typeface="Calibri"/>
                <a:ea typeface="Calibri"/>
                <a:cs typeface="Calibri"/>
              </a:rPr>
              <a:t>ADMIN</a:t>
            </a:r>
          </a:p>
        </p:txBody>
      </p:sp>
      <p:sp>
        <p:nvSpPr>
          <p:cNvPr id="14" name="">
            <a:extLst xmlns:a="http://schemas.openxmlformats.org/drawingml/2006/main">
              <a:ext uri="{FF2B5EF4-FFF2-40B4-BE49-F238E27FC236}">
                <a16:creationId xmlns:a16="http://schemas.microsoft.com/office/drawing/2014/main" id="{D1977957-6919-4F50-9AC8-CF2E721319BD}"/>
              </a:ext>
            </a:extLst>
          </p:cNvPr>
          <p:cNvSpPr>
            <a:spLocks xmlns:a="http://schemas.openxmlformats.org/drawingml/2006/main" noGrp="1"/>
          </p:cNvSpPr>
          <p:nvPr/>
        </p:nvSpPr>
        <p:spPr>
          <a:xfrm xmlns:a="http://schemas.openxmlformats.org/drawingml/2006/main">
            <a:off x="7629525" y="2133600"/>
            <a:ext cx="304800" cy="342900"/>
          </a:xfrm>
          <a:prstGeom xmlns:a="http://schemas.openxmlformats.org/drawingml/2006/main" prst="downArrow">
            <a:avLst/>
          </a:prstGeom>
          <a:solidFill xmlns:a="http://schemas.openxmlformats.org/drawingml/2006/main">
            <a:srgbClr val="3F922F"/>
          </a:solidFill>
          <a:ln xmlns:a="http://schemas.openxmlformats.org/drawingml/2006/main" w="0">
            <a:solidFill>
              <a:srgbClr val="3F922F"/>
            </a:solidFill>
          </a:ln>
        </p:spPr>
      </p:sp>
      <p:sp>
        <p:nvSpPr>
          <p:cNvPr id="15" name="">
            <a:extLst xmlns:a="http://schemas.openxmlformats.org/drawingml/2006/main">
              <a:ext uri="{FF2B5EF4-FFF2-40B4-BE49-F238E27FC236}">
                <a16:creationId xmlns:a16="http://schemas.microsoft.com/office/drawing/2014/main" id="{694C703B-E5AE-4A43-8275-A9C3058DDA31}"/>
              </a:ext>
            </a:extLst>
          </p:cNvPr>
          <p:cNvSpPr>
            <a:spLocks xmlns:a="http://schemas.openxmlformats.org/drawingml/2006/main" noGrp="1"/>
          </p:cNvSpPr>
          <p:nvPr/>
        </p:nvSpPr>
        <p:spPr>
          <a:xfrm xmlns:a="http://schemas.openxmlformats.org/drawingml/2006/main">
            <a:off x="1952625" y="2533650"/>
            <a:ext cx="5238750" cy="666750"/>
          </a:xfrm>
          <a:prstGeom xmlns:a="http://schemas.openxmlformats.org/drawingml/2006/main" prst="roundRect">
            <a:avLst>
              <a:gd name="adj" fmla="val 11429"/>
            </a:avLst>
          </a:prstGeom>
          <a:solidFill xmlns:a="http://schemas.openxmlformats.org/drawingml/2006/main">
            <a:srgbClr val="E8F1F7"/>
          </a:solidFill>
          <a:ln xmlns:a="http://schemas.openxmlformats.org/drawingml/2006/main" w="10478">
            <a:solidFill>
              <a:srgbClr val="78A6C5"/>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74A6B"/>
                </a:solidFill>
                <a:latin typeface="Calibri"/>
                <a:ea typeface="Calibri"/>
                <a:cs typeface="Calibri"/>
              </a:defRPr>
            </a:pPr>
            <a:r>
              <a:rPr sz="1275" b="1">
                <a:solidFill>
                  <a:srgbClr val="174A6B"/>
                </a:solidFill>
                <a:latin typeface="Calibri"/>
                <a:ea typeface="Calibri"/>
                <a:cs typeface="Calibri"/>
              </a:rPr>
              <a:t>FASTAPI APPLICATION LAYER</a:t>
            </a:r>
          </a:p>
          <a:p xmlns:a="http://schemas.openxmlformats.org/drawingml/2006/main">
            <a:pPr algn="ctr">
              <a:buNone/>
              <a:defRPr sz="1275" b="1">
                <a:solidFill>
                  <a:srgbClr val="174A6B"/>
                </a:solidFill>
                <a:latin typeface="Calibri"/>
                <a:ea typeface="Calibri"/>
                <a:cs typeface="Calibri"/>
              </a:defRPr>
            </a:pPr>
            <a:r>
              <a:rPr sz="1275" b="1">
                <a:solidFill>
                  <a:srgbClr val="174A6B"/>
                </a:solidFill>
                <a:latin typeface="Calibri"/>
                <a:ea typeface="Calibri"/>
                <a:cs typeface="Calibri"/>
              </a:rPr>
              <a:t>JWT authentication • institution isolation • role / ownership checks</a:t>
            </a:r>
          </a:p>
        </p:txBody>
      </p:sp>
      <p:sp>
        <p:nvSpPr>
          <p:cNvPr id="16" name="">
            <a:extLst xmlns:a="http://schemas.openxmlformats.org/drawingml/2006/main">
              <a:ext uri="{FF2B5EF4-FFF2-40B4-BE49-F238E27FC236}">
                <a16:creationId xmlns:a16="http://schemas.microsoft.com/office/drawing/2014/main" id="{A6E7E29A-8342-459E-B290-7222962C8BD6}"/>
              </a:ext>
            </a:extLst>
          </p:cNvPr>
          <p:cNvSpPr>
            <a:spLocks xmlns:a="http://schemas.openxmlformats.org/drawingml/2006/main" noGrp="1"/>
          </p:cNvSpPr>
          <p:nvPr/>
        </p:nvSpPr>
        <p:spPr>
          <a:xfrm xmlns:a="http://schemas.openxmlformats.org/drawingml/2006/main">
            <a:off x="1247775" y="3238500"/>
            <a:ext cx="304800" cy="323850"/>
          </a:xfrm>
          <a:prstGeom xmlns:a="http://schemas.openxmlformats.org/drawingml/2006/main" prst="downArrow">
            <a:avLst/>
          </a:prstGeom>
          <a:solidFill xmlns:a="http://schemas.openxmlformats.org/drawingml/2006/main">
            <a:srgbClr val="24649A"/>
          </a:solidFill>
          <a:ln xmlns:a="http://schemas.openxmlformats.org/drawingml/2006/main" w="0">
            <a:solidFill>
              <a:srgbClr val="24649A"/>
            </a:solidFill>
          </a:ln>
        </p:spPr>
      </p:sp>
      <p:sp>
        <p:nvSpPr>
          <p:cNvPr id="17" name="">
            <a:extLst xmlns:a="http://schemas.openxmlformats.org/drawingml/2006/main">
              <a:ext uri="{FF2B5EF4-FFF2-40B4-BE49-F238E27FC236}">
                <a16:creationId xmlns:a16="http://schemas.microsoft.com/office/drawing/2014/main" id="{00FF4D17-F583-46D2-9C9B-1D43DBDF32C8}"/>
              </a:ext>
            </a:extLst>
          </p:cNvPr>
          <p:cNvSpPr>
            <a:spLocks xmlns:a="http://schemas.openxmlformats.org/drawingml/2006/main" noGrp="1"/>
          </p:cNvSpPr>
          <p:nvPr/>
        </p:nvSpPr>
        <p:spPr>
          <a:xfrm xmlns:a="http://schemas.openxmlformats.org/drawingml/2006/main">
            <a:off x="457200" y="3619500"/>
            <a:ext cx="1847850" cy="685800"/>
          </a:xfrm>
          <a:prstGeom xmlns:a="http://schemas.openxmlformats.org/drawingml/2006/main" prst="roundRect">
            <a:avLst>
              <a:gd name="adj" fmla="val 11111"/>
            </a:avLst>
          </a:prstGeom>
          <a:solidFill xmlns:a="http://schemas.openxmlformats.org/drawingml/2006/main">
            <a:srgbClr val="F7FAF6"/>
          </a:solidFill>
          <a:ln xmlns:a="http://schemas.openxmlformats.org/drawingml/2006/main" w="10478">
            <a:solidFill>
              <a:srgbClr val="CFDDC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17311B"/>
                </a:solidFill>
                <a:latin typeface="Calibri"/>
                <a:ea typeface="Calibri"/>
                <a:cs typeface="Calibri"/>
              </a:defRPr>
            </a:pPr>
            <a:r>
              <a:rPr sz="1200" b="1">
                <a:solidFill>
                  <a:srgbClr val="17311B"/>
                </a:solidFill>
                <a:latin typeface="Calibri"/>
                <a:ea typeface="Calibri"/>
                <a:cs typeface="Calibri"/>
              </a:rPr>
              <a:t>Courses &amp;</a:t>
            </a:r>
          </a:p>
          <a:p xmlns:a="http://schemas.openxmlformats.org/drawingml/2006/main">
            <a:pPr algn="ctr">
              <a:buNone/>
              <a:defRPr sz="1200" b="1">
                <a:solidFill>
                  <a:srgbClr val="17311B"/>
                </a:solidFill>
                <a:latin typeface="Calibri"/>
                <a:ea typeface="Calibri"/>
                <a:cs typeface="Calibri"/>
              </a:defRPr>
            </a:pPr>
            <a:r>
              <a:rPr sz="1200" b="1">
                <a:solidFill>
                  <a:srgbClr val="17311B"/>
                </a:solidFill>
                <a:latin typeface="Calibri"/>
                <a:ea typeface="Calibri"/>
                <a:cs typeface="Calibri"/>
              </a:rPr>
              <a:t>Content</a:t>
            </a:r>
          </a:p>
        </p:txBody>
      </p:sp>
      <p:sp>
        <p:nvSpPr>
          <p:cNvPr id="18" name="">
            <a:extLst xmlns:a="http://schemas.openxmlformats.org/drawingml/2006/main">
              <a:ext uri="{FF2B5EF4-FFF2-40B4-BE49-F238E27FC236}">
                <a16:creationId xmlns:a16="http://schemas.microsoft.com/office/drawing/2014/main" id="{C93ECD42-C26F-44F8-9BCA-7E249185C941}"/>
              </a:ext>
            </a:extLst>
          </p:cNvPr>
          <p:cNvSpPr>
            <a:spLocks xmlns:a="http://schemas.openxmlformats.org/drawingml/2006/main" noGrp="1"/>
          </p:cNvSpPr>
          <p:nvPr/>
        </p:nvSpPr>
        <p:spPr>
          <a:xfrm xmlns:a="http://schemas.openxmlformats.org/drawingml/2006/main">
            <a:off x="3419475" y="3238500"/>
            <a:ext cx="304800" cy="323850"/>
          </a:xfrm>
          <a:prstGeom xmlns:a="http://schemas.openxmlformats.org/drawingml/2006/main" prst="downArrow">
            <a:avLst/>
          </a:prstGeom>
          <a:solidFill xmlns:a="http://schemas.openxmlformats.org/drawingml/2006/main">
            <a:srgbClr val="24649A"/>
          </a:solidFill>
          <a:ln xmlns:a="http://schemas.openxmlformats.org/drawingml/2006/main" w="0">
            <a:solidFill>
              <a:srgbClr val="24649A"/>
            </a:solidFill>
          </a:ln>
        </p:spPr>
      </p:sp>
      <p:sp>
        <p:nvSpPr>
          <p:cNvPr id="19" name="">
            <a:extLst xmlns:a="http://schemas.openxmlformats.org/drawingml/2006/main">
              <a:ext uri="{FF2B5EF4-FFF2-40B4-BE49-F238E27FC236}">
                <a16:creationId xmlns:a16="http://schemas.microsoft.com/office/drawing/2014/main" id="{C925523E-C450-4C30-8B1C-112518933669}"/>
              </a:ext>
            </a:extLst>
          </p:cNvPr>
          <p:cNvSpPr>
            <a:spLocks xmlns:a="http://schemas.openxmlformats.org/drawingml/2006/main" noGrp="1"/>
          </p:cNvSpPr>
          <p:nvPr/>
        </p:nvSpPr>
        <p:spPr>
          <a:xfrm xmlns:a="http://schemas.openxmlformats.org/drawingml/2006/main">
            <a:off x="2628900" y="3619500"/>
            <a:ext cx="1847850" cy="685800"/>
          </a:xfrm>
          <a:prstGeom xmlns:a="http://schemas.openxmlformats.org/drawingml/2006/main" prst="roundRect">
            <a:avLst>
              <a:gd name="adj" fmla="val 11111"/>
            </a:avLst>
          </a:prstGeom>
          <a:solidFill xmlns:a="http://schemas.openxmlformats.org/drawingml/2006/main">
            <a:srgbClr val="F7FAF6"/>
          </a:solidFill>
          <a:ln xmlns:a="http://schemas.openxmlformats.org/drawingml/2006/main" w="10478">
            <a:solidFill>
              <a:srgbClr val="CFDDC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17311B"/>
                </a:solidFill>
                <a:latin typeface="Calibri"/>
                <a:ea typeface="Calibri"/>
                <a:cs typeface="Calibri"/>
              </a:defRPr>
            </a:pPr>
            <a:r>
              <a:rPr sz="1200" b="1">
                <a:solidFill>
                  <a:srgbClr val="17311B"/>
                </a:solidFill>
                <a:latin typeface="Calibri"/>
                <a:ea typeface="Calibri"/>
                <a:cs typeface="Calibri"/>
              </a:rPr>
              <a:t>Assessment &amp;</a:t>
            </a:r>
          </a:p>
          <a:p xmlns:a="http://schemas.openxmlformats.org/drawingml/2006/main">
            <a:pPr algn="ctr">
              <a:buNone/>
              <a:defRPr sz="1200" b="1">
                <a:solidFill>
                  <a:srgbClr val="17311B"/>
                </a:solidFill>
                <a:latin typeface="Calibri"/>
                <a:ea typeface="Calibri"/>
                <a:cs typeface="Calibri"/>
              </a:defRPr>
            </a:pPr>
            <a:r>
              <a:rPr sz="1200" b="1">
                <a:solidFill>
                  <a:srgbClr val="17311B"/>
                </a:solidFill>
                <a:latin typeface="Calibri"/>
                <a:ea typeface="Calibri"/>
                <a:cs typeface="Calibri"/>
              </a:rPr>
              <a:t>Programming</a:t>
            </a:r>
          </a:p>
        </p:txBody>
      </p:sp>
      <p:sp>
        <p:nvSpPr>
          <p:cNvPr id="20" name="">
            <a:extLst xmlns:a="http://schemas.openxmlformats.org/drawingml/2006/main">
              <a:ext uri="{FF2B5EF4-FFF2-40B4-BE49-F238E27FC236}">
                <a16:creationId xmlns:a16="http://schemas.microsoft.com/office/drawing/2014/main" id="{1E283327-7078-4EF8-A42D-2AA2D5BE6E28}"/>
              </a:ext>
            </a:extLst>
          </p:cNvPr>
          <p:cNvSpPr>
            <a:spLocks xmlns:a="http://schemas.openxmlformats.org/drawingml/2006/main" noGrp="1"/>
          </p:cNvSpPr>
          <p:nvPr/>
        </p:nvSpPr>
        <p:spPr>
          <a:xfrm xmlns:a="http://schemas.openxmlformats.org/drawingml/2006/main">
            <a:off x="5591175" y="3238500"/>
            <a:ext cx="304800" cy="323850"/>
          </a:xfrm>
          <a:prstGeom xmlns:a="http://schemas.openxmlformats.org/drawingml/2006/main" prst="downArrow">
            <a:avLst/>
          </a:prstGeom>
          <a:solidFill xmlns:a="http://schemas.openxmlformats.org/drawingml/2006/main">
            <a:srgbClr val="24649A"/>
          </a:solidFill>
          <a:ln xmlns:a="http://schemas.openxmlformats.org/drawingml/2006/main" w="0">
            <a:solidFill>
              <a:srgbClr val="24649A"/>
            </a:solidFill>
          </a:ln>
        </p:spPr>
      </p:sp>
      <p:sp>
        <p:nvSpPr>
          <p:cNvPr id="21" name="">
            <a:extLst xmlns:a="http://schemas.openxmlformats.org/drawingml/2006/main">
              <a:ext uri="{FF2B5EF4-FFF2-40B4-BE49-F238E27FC236}">
                <a16:creationId xmlns:a16="http://schemas.microsoft.com/office/drawing/2014/main" id="{78F7E482-E016-45BC-9614-1A35552ECA69}"/>
              </a:ext>
            </a:extLst>
          </p:cNvPr>
          <p:cNvSpPr>
            <a:spLocks xmlns:a="http://schemas.openxmlformats.org/drawingml/2006/main" noGrp="1"/>
          </p:cNvSpPr>
          <p:nvPr/>
        </p:nvSpPr>
        <p:spPr>
          <a:xfrm xmlns:a="http://schemas.openxmlformats.org/drawingml/2006/main">
            <a:off x="4800600" y="3619500"/>
            <a:ext cx="1847850" cy="685800"/>
          </a:xfrm>
          <a:prstGeom xmlns:a="http://schemas.openxmlformats.org/drawingml/2006/main" prst="roundRect">
            <a:avLst>
              <a:gd name="adj" fmla="val 11111"/>
            </a:avLst>
          </a:prstGeom>
          <a:solidFill xmlns:a="http://schemas.openxmlformats.org/drawingml/2006/main">
            <a:srgbClr val="F7FAF6"/>
          </a:solidFill>
          <a:ln xmlns:a="http://schemas.openxmlformats.org/drawingml/2006/main" w="10478">
            <a:solidFill>
              <a:srgbClr val="CFDDC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17311B"/>
                </a:solidFill>
                <a:latin typeface="Calibri"/>
                <a:ea typeface="Calibri"/>
                <a:cs typeface="Calibri"/>
              </a:defRPr>
            </a:pPr>
            <a:r>
              <a:rPr sz="1200" b="1">
                <a:solidFill>
                  <a:srgbClr val="17311B"/>
                </a:solidFill>
                <a:latin typeface="Calibri"/>
                <a:ea typeface="Calibri"/>
                <a:cs typeface="Calibri"/>
              </a:rPr>
              <a:t>Live Class &amp;</a:t>
            </a:r>
          </a:p>
          <a:p xmlns:a="http://schemas.openxmlformats.org/drawingml/2006/main">
            <a:pPr algn="ctr">
              <a:buNone/>
              <a:defRPr sz="1200" b="1">
                <a:solidFill>
                  <a:srgbClr val="17311B"/>
                </a:solidFill>
                <a:latin typeface="Calibri"/>
                <a:ea typeface="Calibri"/>
                <a:cs typeface="Calibri"/>
              </a:defRPr>
            </a:pPr>
            <a:r>
              <a:rPr sz="1200" b="1">
                <a:solidFill>
                  <a:srgbClr val="17311B"/>
                </a:solidFill>
                <a:latin typeface="Calibri"/>
                <a:ea typeface="Calibri"/>
                <a:cs typeface="Calibri"/>
              </a:rPr>
              <a:t>Attendance</a:t>
            </a:r>
          </a:p>
        </p:txBody>
      </p:sp>
      <p:sp>
        <p:nvSpPr>
          <p:cNvPr id="22" name="">
            <a:extLst xmlns:a="http://schemas.openxmlformats.org/drawingml/2006/main">
              <a:ext uri="{FF2B5EF4-FFF2-40B4-BE49-F238E27FC236}">
                <a16:creationId xmlns:a16="http://schemas.microsoft.com/office/drawing/2014/main" id="{FD828F99-10DC-4B34-AE59-9FAAC3BCE660}"/>
              </a:ext>
            </a:extLst>
          </p:cNvPr>
          <p:cNvSpPr>
            <a:spLocks xmlns:a="http://schemas.openxmlformats.org/drawingml/2006/main" noGrp="1"/>
          </p:cNvSpPr>
          <p:nvPr/>
        </p:nvSpPr>
        <p:spPr>
          <a:xfrm xmlns:a="http://schemas.openxmlformats.org/drawingml/2006/main">
            <a:off x="7762875" y="3238500"/>
            <a:ext cx="304800" cy="323850"/>
          </a:xfrm>
          <a:prstGeom xmlns:a="http://schemas.openxmlformats.org/drawingml/2006/main" prst="downArrow">
            <a:avLst/>
          </a:prstGeom>
          <a:solidFill xmlns:a="http://schemas.openxmlformats.org/drawingml/2006/main">
            <a:srgbClr val="24649A"/>
          </a:solidFill>
          <a:ln xmlns:a="http://schemas.openxmlformats.org/drawingml/2006/main" w="0">
            <a:solidFill>
              <a:srgbClr val="24649A"/>
            </a:solidFill>
          </a:ln>
        </p:spPr>
      </p:sp>
      <p:sp>
        <p:nvSpPr>
          <p:cNvPr id="23" name="">
            <a:extLst xmlns:a="http://schemas.openxmlformats.org/drawingml/2006/main">
              <a:ext uri="{FF2B5EF4-FFF2-40B4-BE49-F238E27FC236}">
                <a16:creationId xmlns:a16="http://schemas.microsoft.com/office/drawing/2014/main" id="{50093262-7729-45C5-8F10-68EA209A08F2}"/>
              </a:ext>
            </a:extLst>
          </p:cNvPr>
          <p:cNvSpPr>
            <a:spLocks xmlns:a="http://schemas.openxmlformats.org/drawingml/2006/main" noGrp="1"/>
          </p:cNvSpPr>
          <p:nvPr/>
        </p:nvSpPr>
        <p:spPr>
          <a:xfrm xmlns:a="http://schemas.openxmlformats.org/drawingml/2006/main">
            <a:off x="6972300" y="3619500"/>
            <a:ext cx="1847850" cy="685800"/>
          </a:xfrm>
          <a:prstGeom xmlns:a="http://schemas.openxmlformats.org/drawingml/2006/main" prst="roundRect">
            <a:avLst>
              <a:gd name="adj" fmla="val 11111"/>
            </a:avLst>
          </a:prstGeom>
          <a:solidFill xmlns:a="http://schemas.openxmlformats.org/drawingml/2006/main">
            <a:srgbClr val="F7FAF6"/>
          </a:solidFill>
          <a:ln xmlns:a="http://schemas.openxmlformats.org/drawingml/2006/main" w="10478">
            <a:solidFill>
              <a:srgbClr val="CFDDC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17311B"/>
                </a:solidFill>
                <a:latin typeface="Calibri"/>
                <a:ea typeface="Calibri"/>
                <a:cs typeface="Calibri"/>
              </a:defRPr>
            </a:pPr>
            <a:r>
              <a:rPr sz="1200" b="1">
                <a:solidFill>
                  <a:srgbClr val="17311B"/>
                </a:solidFill>
                <a:latin typeface="Calibri"/>
                <a:ea typeface="Calibri"/>
                <a:cs typeface="Calibri"/>
              </a:rPr>
              <a:t>Analytics, AI &amp;</a:t>
            </a:r>
          </a:p>
          <a:p xmlns:a="http://schemas.openxmlformats.org/drawingml/2006/main">
            <a:pPr algn="ctr">
              <a:buNone/>
              <a:defRPr sz="1200" b="1">
                <a:solidFill>
                  <a:srgbClr val="17311B"/>
                </a:solidFill>
                <a:latin typeface="Calibri"/>
                <a:ea typeface="Calibri"/>
                <a:cs typeface="Calibri"/>
              </a:defRPr>
            </a:pPr>
            <a:r>
              <a:rPr sz="1200" b="1">
                <a:solidFill>
                  <a:srgbClr val="17311B"/>
                </a:solidFill>
                <a:latin typeface="Calibri"/>
                <a:ea typeface="Calibri"/>
                <a:cs typeface="Calibri"/>
              </a:rPr>
              <a:t>Gamification</a:t>
            </a:r>
          </a:p>
        </p:txBody>
      </p:sp>
      <p:sp>
        <p:nvSpPr>
          <p:cNvPr id="24" name="">
            <a:extLst xmlns:a="http://schemas.openxmlformats.org/drawingml/2006/main">
              <a:ext uri="{FF2B5EF4-FFF2-40B4-BE49-F238E27FC236}">
                <a16:creationId xmlns:a16="http://schemas.microsoft.com/office/drawing/2014/main" id="{302C1407-6D27-4230-A2C9-F7761ED86803}"/>
              </a:ext>
            </a:extLst>
          </p:cNvPr>
          <p:cNvSpPr>
            <a:spLocks xmlns:a="http://schemas.openxmlformats.org/drawingml/2006/main" noGrp="1"/>
          </p:cNvSpPr>
          <p:nvPr/>
        </p:nvSpPr>
        <p:spPr>
          <a:xfrm xmlns:a="http://schemas.openxmlformats.org/drawingml/2006/main">
            <a:off x="1843088" y="4381500"/>
            <a:ext cx="304800" cy="323850"/>
          </a:xfrm>
          <a:prstGeom xmlns:a="http://schemas.openxmlformats.org/drawingml/2006/main" prst="downArrow">
            <a:avLst/>
          </a:prstGeom>
          <a:solidFill xmlns:a="http://schemas.openxmlformats.org/drawingml/2006/main">
            <a:srgbClr val="3F922F"/>
          </a:solidFill>
          <a:ln xmlns:a="http://schemas.openxmlformats.org/drawingml/2006/main" w="0">
            <a:solidFill>
              <a:srgbClr val="3F922F"/>
            </a:solidFill>
          </a:ln>
        </p:spPr>
      </p:sp>
      <p:sp>
        <p:nvSpPr>
          <p:cNvPr id="25" name="">
            <a:extLst xmlns:a="http://schemas.openxmlformats.org/drawingml/2006/main">
              <a:ext uri="{FF2B5EF4-FFF2-40B4-BE49-F238E27FC236}">
                <a16:creationId xmlns:a16="http://schemas.microsoft.com/office/drawing/2014/main" id="{A0C98D13-1094-4CF3-BBBB-5175A64E530E}"/>
              </a:ext>
            </a:extLst>
          </p:cNvPr>
          <p:cNvSpPr>
            <a:spLocks xmlns:a="http://schemas.openxmlformats.org/drawingml/2006/main" noGrp="1"/>
          </p:cNvSpPr>
          <p:nvPr/>
        </p:nvSpPr>
        <p:spPr>
          <a:xfrm xmlns:a="http://schemas.openxmlformats.org/drawingml/2006/main">
            <a:off x="781050" y="4762500"/>
            <a:ext cx="2428875" cy="800100"/>
          </a:xfrm>
          <a:prstGeom xmlns:a="http://schemas.openxmlformats.org/drawingml/2006/main" prst="roundRect">
            <a:avLst>
              <a:gd name="adj" fmla="val 9524"/>
            </a:avLst>
          </a:prstGeom>
          <a:solidFill xmlns:a="http://schemas.openxmlformats.org/drawingml/2006/main">
            <a:srgbClr val="EEF6EB"/>
          </a:solidFill>
          <a:ln xmlns:a="http://schemas.openxmlformats.org/drawingml/2006/main" w="10478">
            <a:solidFill>
              <a:srgbClr val="3F922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17451C"/>
                </a:solidFill>
                <a:latin typeface="Calibri"/>
                <a:ea typeface="Calibri"/>
                <a:cs typeface="Calibri"/>
              </a:defRPr>
            </a:pPr>
            <a:r>
              <a:rPr sz="1125" b="1">
                <a:solidFill>
                  <a:srgbClr val="17451C"/>
                </a:solidFill>
                <a:latin typeface="Calibri"/>
                <a:ea typeface="Calibri"/>
                <a:cs typeface="Calibri"/>
              </a:rPr>
              <a:t>PostgreSQL</a:t>
            </a:r>
          </a:p>
          <a:p xmlns:a="http://schemas.openxmlformats.org/drawingml/2006/main">
            <a:pPr algn="ctr">
              <a:buNone/>
              <a:defRPr sz="1125" b="1">
                <a:solidFill>
                  <a:srgbClr val="17451C"/>
                </a:solidFill>
                <a:latin typeface="Calibri"/>
                <a:ea typeface="Calibri"/>
                <a:cs typeface="Calibri"/>
              </a:defRPr>
            </a:pPr>
            <a:r>
              <a:rPr sz="1125" b="1">
                <a:solidFill>
                  <a:srgbClr val="17451C"/>
                </a:solidFill>
                <a:latin typeface="Calibri"/>
                <a:ea typeface="Calibri"/>
                <a:cs typeface="Calibri"/>
              </a:rPr>
              <a:t>Evidence ledger • audit • tenant data</a:t>
            </a:r>
          </a:p>
        </p:txBody>
      </p:sp>
      <p:sp>
        <p:nvSpPr>
          <p:cNvPr id="26" name="">
            <a:extLst xmlns:a="http://schemas.openxmlformats.org/drawingml/2006/main">
              <a:ext uri="{FF2B5EF4-FFF2-40B4-BE49-F238E27FC236}">
                <a16:creationId xmlns:a16="http://schemas.microsoft.com/office/drawing/2014/main" id="{100EA961-888C-4550-B5B4-1C68CFD07495}"/>
              </a:ext>
            </a:extLst>
          </p:cNvPr>
          <p:cNvSpPr>
            <a:spLocks xmlns:a="http://schemas.openxmlformats.org/drawingml/2006/main" noGrp="1"/>
          </p:cNvSpPr>
          <p:nvPr/>
        </p:nvSpPr>
        <p:spPr>
          <a:xfrm xmlns:a="http://schemas.openxmlformats.org/drawingml/2006/main">
            <a:off x="4424363" y="4381500"/>
            <a:ext cx="304800" cy="323850"/>
          </a:xfrm>
          <a:prstGeom xmlns:a="http://schemas.openxmlformats.org/drawingml/2006/main" prst="downArrow">
            <a:avLst/>
          </a:prstGeom>
          <a:solidFill xmlns:a="http://schemas.openxmlformats.org/drawingml/2006/main">
            <a:srgbClr val="3F922F"/>
          </a:solidFill>
          <a:ln xmlns:a="http://schemas.openxmlformats.org/drawingml/2006/main" w="0">
            <a:solidFill>
              <a:srgbClr val="3F922F"/>
            </a:solidFill>
          </a:ln>
        </p:spPr>
      </p:sp>
      <p:sp>
        <p:nvSpPr>
          <p:cNvPr id="27" name="">
            <a:extLst xmlns:a="http://schemas.openxmlformats.org/drawingml/2006/main">
              <a:ext uri="{FF2B5EF4-FFF2-40B4-BE49-F238E27FC236}">
                <a16:creationId xmlns:a16="http://schemas.microsoft.com/office/drawing/2014/main" id="{C761AFCC-2E21-4F6F-9087-D501A82B3AE5}"/>
              </a:ext>
            </a:extLst>
          </p:cNvPr>
          <p:cNvSpPr>
            <a:spLocks xmlns:a="http://schemas.openxmlformats.org/drawingml/2006/main" noGrp="1"/>
          </p:cNvSpPr>
          <p:nvPr/>
        </p:nvSpPr>
        <p:spPr>
          <a:xfrm xmlns:a="http://schemas.openxmlformats.org/drawingml/2006/main">
            <a:off x="3362325" y="4762500"/>
            <a:ext cx="2428875" cy="800100"/>
          </a:xfrm>
          <a:prstGeom xmlns:a="http://schemas.openxmlformats.org/drawingml/2006/main" prst="roundRect">
            <a:avLst>
              <a:gd name="adj" fmla="val 9524"/>
            </a:avLst>
          </a:prstGeom>
          <a:solidFill xmlns:a="http://schemas.openxmlformats.org/drawingml/2006/main">
            <a:srgbClr val="EEF6EB"/>
          </a:solidFill>
          <a:ln xmlns:a="http://schemas.openxmlformats.org/drawingml/2006/main" w="10478">
            <a:solidFill>
              <a:srgbClr val="3F922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17451C"/>
                </a:solidFill>
                <a:latin typeface="Calibri"/>
                <a:ea typeface="Calibri"/>
                <a:cs typeface="Calibri"/>
              </a:defRPr>
            </a:pPr>
            <a:r>
              <a:rPr sz="1125" b="1">
                <a:solidFill>
                  <a:srgbClr val="17451C"/>
                </a:solidFill>
                <a:latin typeface="Calibri"/>
                <a:ea typeface="Calibri"/>
                <a:cs typeface="Calibri"/>
              </a:rPr>
              <a:t>University ERP Connector</a:t>
            </a:r>
          </a:p>
          <a:p xmlns:a="http://schemas.openxmlformats.org/drawingml/2006/main">
            <a:pPr algn="ctr">
              <a:buNone/>
              <a:defRPr sz="1125" b="1">
                <a:solidFill>
                  <a:srgbClr val="17451C"/>
                </a:solidFill>
                <a:latin typeface="Calibri"/>
                <a:ea typeface="Calibri"/>
                <a:cs typeface="Calibri"/>
              </a:defRPr>
            </a:pPr>
            <a:r>
              <a:rPr sz="1125" b="1">
                <a:solidFill>
                  <a:srgbClr val="17451C"/>
                </a:solidFill>
                <a:latin typeface="Calibri"/>
                <a:ea typeface="Calibri"/>
                <a:cs typeface="Calibri"/>
              </a:rPr>
              <a:t>Reviewed users ⇄ courses / attendance</a:t>
            </a:r>
          </a:p>
        </p:txBody>
      </p:sp>
      <p:sp>
        <p:nvSpPr>
          <p:cNvPr id="28" name="">
            <a:extLst xmlns:a="http://schemas.openxmlformats.org/drawingml/2006/main">
              <a:ext uri="{FF2B5EF4-FFF2-40B4-BE49-F238E27FC236}">
                <a16:creationId xmlns:a16="http://schemas.microsoft.com/office/drawing/2014/main" id="{B8A0823C-FF05-498C-98A7-666DCC7AB29C}"/>
              </a:ext>
            </a:extLst>
          </p:cNvPr>
          <p:cNvSpPr>
            <a:spLocks xmlns:a="http://schemas.openxmlformats.org/drawingml/2006/main" noGrp="1"/>
          </p:cNvSpPr>
          <p:nvPr/>
        </p:nvSpPr>
        <p:spPr>
          <a:xfrm xmlns:a="http://schemas.openxmlformats.org/drawingml/2006/main">
            <a:off x="7005638" y="4381500"/>
            <a:ext cx="304800" cy="323850"/>
          </a:xfrm>
          <a:prstGeom xmlns:a="http://schemas.openxmlformats.org/drawingml/2006/main" prst="downArrow">
            <a:avLst/>
          </a:prstGeom>
          <a:solidFill xmlns:a="http://schemas.openxmlformats.org/drawingml/2006/main">
            <a:srgbClr val="3F922F"/>
          </a:solidFill>
          <a:ln xmlns:a="http://schemas.openxmlformats.org/drawingml/2006/main" w="0">
            <a:solidFill>
              <a:srgbClr val="3F922F"/>
            </a:solidFill>
          </a:ln>
        </p:spPr>
      </p:sp>
      <p:sp>
        <p:nvSpPr>
          <p:cNvPr id="29" name="">
            <a:extLst xmlns:a="http://schemas.openxmlformats.org/drawingml/2006/main">
              <a:ext uri="{FF2B5EF4-FFF2-40B4-BE49-F238E27FC236}">
                <a16:creationId xmlns:a16="http://schemas.microsoft.com/office/drawing/2014/main" id="{8814238C-E6BC-4A9D-8D17-236113B8B4B5}"/>
              </a:ext>
            </a:extLst>
          </p:cNvPr>
          <p:cNvSpPr>
            <a:spLocks xmlns:a="http://schemas.openxmlformats.org/drawingml/2006/main" noGrp="1"/>
          </p:cNvSpPr>
          <p:nvPr/>
        </p:nvSpPr>
        <p:spPr>
          <a:xfrm xmlns:a="http://schemas.openxmlformats.org/drawingml/2006/main">
            <a:off x="5943600" y="4762500"/>
            <a:ext cx="2428875" cy="800100"/>
          </a:xfrm>
          <a:prstGeom xmlns:a="http://schemas.openxmlformats.org/drawingml/2006/main" prst="roundRect">
            <a:avLst>
              <a:gd name="adj" fmla="val 9524"/>
            </a:avLst>
          </a:prstGeom>
          <a:solidFill xmlns:a="http://schemas.openxmlformats.org/drawingml/2006/main">
            <a:srgbClr val="EEF6EB"/>
          </a:solidFill>
          <a:ln xmlns:a="http://schemas.openxmlformats.org/drawingml/2006/main" w="10478">
            <a:solidFill>
              <a:srgbClr val="3F922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17451C"/>
                </a:solidFill>
                <a:latin typeface="Calibri"/>
                <a:ea typeface="Calibri"/>
                <a:cs typeface="Calibri"/>
              </a:defRPr>
            </a:pPr>
            <a:r>
              <a:rPr sz="1125" b="1">
                <a:solidFill>
                  <a:srgbClr val="17451C"/>
                </a:solidFill>
                <a:latin typeface="Calibri"/>
                <a:ea typeface="Calibri"/>
                <a:cs typeface="Calibri"/>
              </a:rPr>
              <a:t>Jitsi / JaaS</a:t>
            </a:r>
          </a:p>
          <a:p xmlns:a="http://schemas.openxmlformats.org/drawingml/2006/main">
            <a:pPr algn="ctr">
              <a:buNone/>
              <a:defRPr sz="1125" b="1">
                <a:solidFill>
                  <a:srgbClr val="17451C"/>
                </a:solidFill>
                <a:latin typeface="Calibri"/>
                <a:ea typeface="Calibri"/>
                <a:cs typeface="Calibri"/>
              </a:defRPr>
            </a:pPr>
            <a:r>
              <a:rPr sz="1125" b="1">
                <a:solidFill>
                  <a:srgbClr val="17451C"/>
                </a:solidFill>
                <a:latin typeface="Calibri"/>
                <a:ea typeface="Calibri"/>
                <a:cs typeface="Calibri"/>
              </a:rPr>
              <a:t>Media room + meeting events</a:t>
            </a:r>
          </a:p>
        </p:txBody>
      </p:sp>
      <p:sp>
        <p:nvSpPr>
          <p:cNvPr id="30" name="">
            <a:extLst xmlns:a="http://schemas.openxmlformats.org/drawingml/2006/main">
              <a:ext uri="{FF2B5EF4-FFF2-40B4-BE49-F238E27FC236}">
                <a16:creationId xmlns:a16="http://schemas.microsoft.com/office/drawing/2014/main" id="{6CBB5020-0C02-49ED-901A-D56B1251C443}"/>
              </a:ext>
            </a:extLst>
          </p:cNvPr>
          <p:cNvSpPr>
            <a:spLocks xmlns:a="http://schemas.openxmlformats.org/drawingml/2006/main" noGrp="1"/>
          </p:cNvSpPr>
          <p:nvPr/>
        </p:nvSpPr>
        <p:spPr>
          <a:xfrm xmlns:a="http://schemas.openxmlformats.org/drawingml/2006/main">
            <a:off x="857250" y="5791200"/>
            <a:ext cx="742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889"/>
          </a:bodyPr>
          <a:lstStyle xmlns:a="http://schemas.openxmlformats.org/drawingml/2006/main"/>
          <a:p xmlns:a="http://schemas.openxmlformats.org/drawingml/2006/main">
            <a:pPr algn="ctr">
              <a:buNone/>
              <a:defRPr sz="1125" b="1">
                <a:solidFill>
                  <a:srgbClr val="17451C"/>
                </a:solidFill>
                <a:latin typeface="Calibri"/>
                <a:ea typeface="Calibri"/>
                <a:cs typeface="Calibri"/>
              </a:defRPr>
            </a:pPr>
            <a:r>
              <a:rPr sz="1125" b="1">
                <a:solidFill>
                  <a:srgbClr val="17451C"/>
                </a:solidFill>
                <a:latin typeface="Calibri"/>
                <a:ea typeface="Calibri"/>
                <a:cs typeface="Calibri"/>
              </a:rPr>
              <a:t>Every action passes through institution and role checks. Courses connect content, schedules, meetings, assessment, attendance and support evidence; official decisions remain human-controlled.</a:t>
            </a:r>
          </a:p>
        </p:txBody>
      </p:sp>
    </p:spTree>
    <p:extLst>
      <p:ext uri="{BB962C8B-B14F-4D97-AF65-F5344CB8AC3E}">
        <p14:creationId xmlns:p14="http://schemas.microsoft.com/office/powerpoint/2010/main" val="117277563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564CBA2-A05E-4AA6-9433-E22878B246E8}"/>
              </a:ext>
            </a:extLst>
          </p:cNvPr>
          <p:cNvSpPr>
            <a:spLocks xmlns:a="http://schemas.openxmlformats.org/drawingml/2006/main" noGrp="1"/>
          </p:cNvSpPr>
          <p:nvPr>
            <p:ph type="title" idx="0"/>
          </p:nvPr>
        </p:nvSpPr>
        <p:spPr>
          <a:xfrm xmlns:a="http://schemas.openxmlformats.org/drawingml/2006/main">
            <a:off x="457200" y="274955"/>
            <a:ext cx="8229600" cy="619125"/>
          </a:xfrm>
        </p:spPr>
        <p:txBody>
          <a:bodyPr xmlns:a="http://schemas.openxmlformats.org/drawingml/2006/main">
            <a:normAutofit fontScale="100000"/>
          </a:bodyPr>
          <a:lstStyle xmlns:a="http://schemas.openxmlformats.org/drawingml/2006/main"/>
          <a:p xmlns:a="http://schemas.openxmlformats.org/drawingml/2006/main">
            <a:pPr algn="ctr">
              <a:buNone/>
              <a:defRPr sz="1875" b="1">
                <a:solidFill>
                  <a:srgbClr val="FFFFFF"/>
                </a:solidFill>
                <a:latin typeface="Times New Roman"/>
                <a:ea typeface="Times New Roman"/>
                <a:cs typeface="Times New Roman"/>
              </a:defRPr>
            </a:pPr>
            <a:r>
              <a:rPr sz="1875" b="1">
                <a:solidFill>
                  <a:srgbClr val="FFFFFF"/>
                </a:solidFill>
                <a:latin typeface="Times New Roman"/>
                <a:ea typeface="Times New Roman"/>
                <a:cs typeface="Times New Roman"/>
              </a:rPr>
              <a:t>Implementation Status / Progress Evidence</a:t>
            </a:r>
            <a:endParaRPr b="1">
              <a:solidFill>
                <a:schemeClr val="bg1"/>
              </a:solidFill>
            </a:endParaRPr>
          </a:p>
        </p:txBody>
      </p:sp>
      <p:graphicFrame>
        <p:nvGraphicFramePr>
          <p:cNvPr id="8" name=""/>
          <p:cNvGraphicFramePr/>
          <p:nvPr/>
        </p:nvGraphicFramePr>
        <p:xfrm>
          <a:off xmlns:a="http://schemas.openxmlformats.org/drawingml/2006/main" x="400050" y="1238250"/>
          <a:ext xmlns:a="http://schemas.openxmlformats.org/drawingml/2006/main" cx="8343900" cy="4171950"/>
        </p:xfrm>
        <a:graphic xmlns:a="http://schemas.openxmlformats.org/drawingml/2006/main">
          <a:graphicData uri="http://schemas.openxmlformats.org/drawingml/2006/table">
            <a:tbl>
              <a:tblPr/>
              <a:tblGrid>
                <a:gridCol w="2047875"/>
                <a:gridCol w="1095375"/>
                <a:gridCol w="5200650"/>
              </a:tblGrid>
              <a:tr h="521494">
                <a:tc>
                  <a:txBody>
                    <a:bodyPr>
                      <a:normAutofit/>
                    </a:bodyPr>
                    <a:lstStyle/>
                    <a:p>
                      <a:r>
                        <a:rPr sz="1050" b="1">
                          <a:solidFill>
                            <a:srgbClr val="FFFFFF"/>
                          </a:solidFill>
                          <a:latin typeface="Calibri"/>
                          <a:ea typeface="Calibri"/>
                          <a:cs typeface="Calibri"/>
                        </a:rPr>
                        <a:t>Work package</a:t>
                      </a:r>
                    </a:p>
                  </a:txBody>
                  <a:tcPr marL="91440" marR="91440" marT="45720" marB="45720" anchor="ctr">
                    <a:solidFill>
                      <a:srgbClr val="3F922F"/>
                    </a:solidFill>
                  </a:tcPr>
                </a:tc>
                <a:tc>
                  <a:txBody>
                    <a:bodyPr>
                      <a:normAutofit/>
                    </a:bodyPr>
                    <a:lstStyle/>
                    <a:p>
                      <a:r>
                        <a:rPr sz="1050" b="1">
                          <a:solidFill>
                            <a:srgbClr val="FFFFFF"/>
                          </a:solidFill>
                          <a:latin typeface="Calibri"/>
                          <a:ea typeface="Calibri"/>
                          <a:cs typeface="Calibri"/>
                        </a:rPr>
                        <a:t>Status</a:t>
                      </a:r>
                    </a:p>
                  </a:txBody>
                  <a:tcPr marL="91440" marR="91440" marT="45720" marB="45720" anchor="ctr">
                    <a:solidFill>
                      <a:srgbClr val="3F922F"/>
                    </a:solidFill>
                  </a:tcPr>
                </a:tc>
                <a:tc>
                  <a:txBody>
                    <a:bodyPr>
                      <a:normAutofit/>
                    </a:bodyPr>
                    <a:lstStyle/>
                    <a:p>
                      <a:r>
                        <a:rPr sz="1050" b="1">
                          <a:solidFill>
                            <a:srgbClr val="FFFFFF"/>
                          </a:solidFill>
                          <a:latin typeface="Calibri"/>
                          <a:ea typeface="Calibri"/>
                          <a:cs typeface="Calibri"/>
                        </a:rPr>
                        <a:t>Evidence available in the project</a:t>
                      </a:r>
                    </a:p>
                  </a:txBody>
                  <a:tcPr marL="91440" marR="91440" marT="45720" marB="45720" anchor="ctr">
                    <a:solidFill>
                      <a:srgbClr val="3F922F"/>
                    </a:solidFill>
                  </a:tcPr>
                </a:tc>
              </a:tr>
              <a:tr h="521494">
                <a:tc>
                  <a:txBody>
                    <a:bodyPr>
                      <a:normAutofit/>
                    </a:bodyPr>
                    <a:lstStyle/>
                    <a:p>
                      <a:r>
                        <a:rPr sz="960" b="0">
                          <a:solidFill>
                            <a:srgbClr val="17311B"/>
                          </a:solidFill>
                          <a:latin typeface="Calibri"/>
                          <a:ea typeface="Calibri"/>
                          <a:cs typeface="Calibri"/>
                        </a:rPr>
                        <a:t>Institution + account administration</a:t>
                      </a:r>
                    </a:p>
                  </a:txBody>
                  <a:tcPr marL="91440" marR="91440" marT="45720" marB="45720" anchor="ctr">
                    <a:solidFill>
                      <a:srgbClr val="FFFFFF"/>
                    </a:solidFill>
                  </a:tcPr>
                </a:tc>
                <a:tc>
                  <a:txBody>
                    <a:bodyPr>
                      <a:normAutofit/>
                    </a:bodyPr>
                    <a:lstStyle/>
                    <a:p>
                      <a:r>
                        <a:rPr sz="960" b="0">
                          <a:solidFill>
                            <a:srgbClr val="17311B"/>
                          </a:solidFill>
                          <a:latin typeface="Calibri"/>
                          <a:ea typeface="Calibri"/>
                          <a:cs typeface="Calibri"/>
                        </a:rPr>
                        <a:t>BUILT</a:t>
                      </a:r>
                    </a:p>
                  </a:txBody>
                  <a:tcPr marL="91440" marR="91440" marT="45720" marB="45720" anchor="ctr">
                    <a:solidFill>
                      <a:srgbClr val="FFFFFF"/>
                    </a:solidFill>
                  </a:tcPr>
                </a:tc>
                <a:tc>
                  <a:txBody>
                    <a:bodyPr>
                      <a:normAutofit/>
                    </a:bodyPr>
                    <a:lstStyle/>
                    <a:p>
                      <a:r>
                        <a:rPr sz="960" b="0">
                          <a:solidFill>
                            <a:srgbClr val="17311B"/>
                          </a:solidFill>
                          <a:latin typeface="Calibri"/>
                          <a:ea typeface="Calibri"/>
                          <a:cs typeface="Calibri"/>
                        </a:rPr>
                        <a:t>Onboarding, logo/profile, operator review, manual/bulk users, password recovery and role controls</a:t>
                      </a:r>
                    </a:p>
                  </a:txBody>
                  <a:tcPr marL="91440" marR="91440" marT="45720" marB="45720" anchor="ctr">
                    <a:solidFill>
                      <a:srgbClr val="FFFFFF"/>
                    </a:solidFill>
                  </a:tcPr>
                </a:tc>
              </a:tr>
              <a:tr h="521494">
                <a:tc>
                  <a:txBody>
                    <a:bodyPr>
                      <a:normAutofit/>
                    </a:bodyPr>
                    <a:lstStyle/>
                    <a:p>
                      <a:r>
                        <a:rPr sz="960" b="0">
                          <a:solidFill>
                            <a:srgbClr val="17311B"/>
                          </a:solidFill>
                          <a:latin typeface="Calibri"/>
                          <a:ea typeface="Calibri"/>
                          <a:cs typeface="Calibri"/>
                        </a:rPr>
                        <a:t>Academic structure + course workspaces</a:t>
                      </a:r>
                    </a:p>
                  </a:txBody>
                  <a:tcPr marL="91440" marR="91440" marT="45720" marB="45720" anchor="ctr">
                    <a:solidFill>
                      <a:srgbClr val="F7FAF6"/>
                    </a:solidFill>
                  </a:tcPr>
                </a:tc>
                <a:tc>
                  <a:txBody>
                    <a:bodyPr>
                      <a:normAutofit/>
                    </a:bodyPr>
                    <a:lstStyle/>
                    <a:p>
                      <a:r>
                        <a:rPr sz="960" b="0">
                          <a:solidFill>
                            <a:srgbClr val="17311B"/>
                          </a:solidFill>
                          <a:latin typeface="Calibri"/>
                          <a:ea typeface="Calibri"/>
                          <a:cs typeface="Calibri"/>
                        </a:rPr>
                        <a:t>BUILT</a:t>
                      </a:r>
                    </a:p>
                  </a:txBody>
                  <a:tcPr marL="91440" marR="91440" marT="45720" marB="45720" anchor="ctr">
                    <a:solidFill>
                      <a:srgbClr val="F7FAF6"/>
                    </a:solidFill>
                  </a:tcPr>
                </a:tc>
                <a:tc>
                  <a:txBody>
                    <a:bodyPr>
                      <a:normAutofit/>
                    </a:bodyPr>
                    <a:lstStyle/>
                    <a:p>
                      <a:r>
                        <a:rPr sz="960" b="0">
                          <a:solidFill>
                            <a:srgbClr val="17311B"/>
                          </a:solidFill>
                          <a:latin typeface="Calibri"/>
                          <a:ea typeface="Calibri"/>
                          <a:cs typeface="Calibri"/>
                        </a:rPr>
                        <a:t>Departments, HOD scope, cohort targeting, course types, enrolment, roster and course pages</a:t>
                      </a:r>
                    </a:p>
                  </a:txBody>
                  <a:tcPr marL="91440" marR="91440" marT="45720" marB="45720" anchor="ctr">
                    <a:solidFill>
                      <a:srgbClr val="F7FAF6"/>
                    </a:solidFill>
                  </a:tcPr>
                </a:tc>
              </a:tr>
              <a:tr h="521494">
                <a:tc>
                  <a:txBody>
                    <a:bodyPr>
                      <a:normAutofit/>
                    </a:bodyPr>
                    <a:lstStyle/>
                    <a:p>
                      <a:r>
                        <a:rPr sz="960" b="0">
                          <a:solidFill>
                            <a:srgbClr val="17311B"/>
                          </a:solidFill>
                          <a:latin typeface="Calibri"/>
                          <a:ea typeface="Calibri"/>
                          <a:cs typeface="Calibri"/>
                        </a:rPr>
                        <a:t>Content + assessment</a:t>
                      </a:r>
                    </a:p>
                  </a:txBody>
                  <a:tcPr marL="91440" marR="91440" marT="45720" marB="45720" anchor="ctr">
                    <a:solidFill>
                      <a:srgbClr val="FFFFFF"/>
                    </a:solidFill>
                  </a:tcPr>
                </a:tc>
                <a:tc>
                  <a:txBody>
                    <a:bodyPr>
                      <a:normAutofit/>
                    </a:bodyPr>
                    <a:lstStyle/>
                    <a:p>
                      <a:r>
                        <a:rPr sz="960" b="0">
                          <a:solidFill>
                            <a:srgbClr val="17311B"/>
                          </a:solidFill>
                          <a:latin typeface="Calibri"/>
                          <a:ea typeface="Calibri"/>
                          <a:cs typeface="Calibri"/>
                        </a:rPr>
                        <a:t>BUILT</a:t>
                      </a:r>
                    </a:p>
                  </a:txBody>
                  <a:tcPr marL="91440" marR="91440" marT="45720" marB="45720" anchor="ctr">
                    <a:solidFill>
                      <a:srgbClr val="FFFFFF"/>
                    </a:solidFill>
                  </a:tcPr>
                </a:tc>
                <a:tc>
                  <a:txBody>
                    <a:bodyPr>
                      <a:normAutofit/>
                    </a:bodyPr>
                    <a:lstStyle/>
                    <a:p>
                      <a:r>
                        <a:rPr sz="960" b="0">
                          <a:solidFill>
                            <a:srgbClr val="17311B"/>
                          </a:solidFill>
                          <a:latin typeface="Calibri"/>
                          <a:ea typeface="Calibri"/>
                          <a:cs typeface="Calibri"/>
                        </a:rPr>
                        <a:t>Syllabus/materials/PYQs, assignments, submissions, grading, quizzes, marks and programming tests</a:t>
                      </a:r>
                    </a:p>
                  </a:txBody>
                  <a:tcPr marL="91440" marR="91440" marT="45720" marB="45720" anchor="ctr">
                    <a:solidFill>
                      <a:srgbClr val="FFFFFF"/>
                    </a:solidFill>
                  </a:tcPr>
                </a:tc>
              </a:tr>
              <a:tr h="521494">
                <a:tc>
                  <a:txBody>
                    <a:bodyPr>
                      <a:normAutofit/>
                    </a:bodyPr>
                    <a:lstStyle/>
                    <a:p>
                      <a:r>
                        <a:rPr sz="960" b="0">
                          <a:solidFill>
                            <a:srgbClr val="17311B"/>
                          </a:solidFill>
                          <a:latin typeface="Calibri"/>
                          <a:ea typeface="Calibri"/>
                          <a:cs typeface="Calibri"/>
                        </a:rPr>
                        <a:t>Schedule + classroom + attendance</a:t>
                      </a:r>
                    </a:p>
                  </a:txBody>
                  <a:tcPr marL="91440" marR="91440" marT="45720" marB="45720" anchor="ctr">
                    <a:solidFill>
                      <a:srgbClr val="F7FAF6"/>
                    </a:solidFill>
                  </a:tcPr>
                </a:tc>
                <a:tc>
                  <a:txBody>
                    <a:bodyPr>
                      <a:normAutofit/>
                    </a:bodyPr>
                    <a:lstStyle/>
                    <a:p>
                      <a:r>
                        <a:rPr sz="960" b="0">
                          <a:solidFill>
                            <a:srgbClr val="17311B"/>
                          </a:solidFill>
                          <a:latin typeface="Calibri"/>
                          <a:ea typeface="Calibri"/>
                          <a:cs typeface="Calibri"/>
                        </a:rPr>
                        <a:t>BUILT</a:t>
                      </a:r>
                    </a:p>
                  </a:txBody>
                  <a:tcPr marL="91440" marR="91440" marT="45720" marB="45720" anchor="ctr">
                    <a:solidFill>
                      <a:srgbClr val="F7FAF6"/>
                    </a:solidFill>
                  </a:tcPr>
                </a:tc>
                <a:tc>
                  <a:txBody>
                    <a:bodyPr>
                      <a:normAutofit/>
                    </a:bodyPr>
                    <a:lstStyle/>
                    <a:p>
                      <a:r>
                        <a:rPr sz="960" b="0">
                          <a:solidFill>
                            <a:srgbClr val="17311B"/>
                          </a:solidFill>
                          <a:latin typeface="Calibri"/>
                          <a:ea typeface="Calibri"/>
                          <a:cs typeface="Calibri"/>
                        </a:rPr>
                        <a:t>Calendars, deadlines, scheduled/start/end sessions, Jitsi embed, real duration and history</a:t>
                      </a:r>
                    </a:p>
                  </a:txBody>
                  <a:tcPr marL="91440" marR="91440" marT="45720" marB="45720" anchor="ctr">
                    <a:solidFill>
                      <a:srgbClr val="F7FAF6"/>
                    </a:solidFill>
                  </a:tcPr>
                </a:tc>
              </a:tr>
              <a:tr h="521494">
                <a:tc>
                  <a:txBody>
                    <a:bodyPr>
                      <a:normAutofit/>
                    </a:bodyPr>
                    <a:lstStyle/>
                    <a:p>
                      <a:r>
                        <a:rPr sz="960" b="0">
                          <a:solidFill>
                            <a:srgbClr val="17311B"/>
                          </a:solidFill>
                          <a:latin typeface="Calibri"/>
                          <a:ea typeface="Calibri"/>
                          <a:cs typeface="Calibri"/>
                        </a:rPr>
                        <a:t>ERP interoperability</a:t>
                      </a:r>
                    </a:p>
                  </a:txBody>
                  <a:tcPr marL="91440" marR="91440" marT="45720" marB="45720" anchor="ctr">
                    <a:solidFill>
                      <a:srgbClr val="FFFFFF"/>
                    </a:solidFill>
                  </a:tcPr>
                </a:tc>
                <a:tc>
                  <a:txBody>
                    <a:bodyPr>
                      <a:normAutofit/>
                    </a:bodyPr>
                    <a:lstStyle/>
                    <a:p>
                      <a:r>
                        <a:rPr sz="960" b="0">
                          <a:solidFill>
                            <a:srgbClr val="17311B"/>
                          </a:solidFill>
                          <a:latin typeface="Calibri"/>
                          <a:ea typeface="Calibri"/>
                          <a:cs typeface="Calibri"/>
                        </a:rPr>
                        <a:t>BUILT / PILOT</a:t>
                      </a:r>
                    </a:p>
                  </a:txBody>
                  <a:tcPr marL="91440" marR="91440" marT="45720" marB="45720" anchor="ctr">
                    <a:solidFill>
                      <a:srgbClr val="FFFFFF"/>
                    </a:solidFill>
                  </a:tcPr>
                </a:tc>
                <a:tc>
                  <a:txBody>
                    <a:bodyPr>
                      <a:normAutofit/>
                    </a:bodyPr>
                    <a:lstStyle/>
                    <a:p>
                      <a:r>
                        <a:rPr sz="960" b="0">
                          <a:solidFill>
                            <a:srgbClr val="17311B"/>
                          </a:solidFill>
                          <a:latin typeface="Calibri"/>
                          <a:ea typeface="Calibri"/>
                          <a:cs typeface="Calibri"/>
                        </a:rPr>
                        <a:t>Reviewed user import, course/attendance export, idempotent sync and sandbox; real ERP pending</a:t>
                      </a:r>
                    </a:p>
                  </a:txBody>
                  <a:tcPr marL="91440" marR="91440" marT="45720" marB="45720" anchor="ctr">
                    <a:solidFill>
                      <a:srgbClr val="FFFFFF"/>
                    </a:solidFill>
                  </a:tcPr>
                </a:tc>
              </a:tr>
              <a:tr h="521494">
                <a:tc>
                  <a:txBody>
                    <a:bodyPr>
                      <a:normAutofit/>
                    </a:bodyPr>
                    <a:lstStyle/>
                    <a:p>
                      <a:r>
                        <a:rPr sz="960" b="0">
                          <a:solidFill>
                            <a:srgbClr val="17311B"/>
                          </a:solidFill>
                          <a:latin typeface="Calibri"/>
                          <a:ea typeface="Calibri"/>
                          <a:cs typeface="Calibri"/>
                        </a:rPr>
                        <a:t>Dashboards + native AI support</a:t>
                      </a:r>
                    </a:p>
                  </a:txBody>
                  <a:tcPr marL="91440" marR="91440" marT="45720" marB="45720" anchor="ctr">
                    <a:solidFill>
                      <a:srgbClr val="F7FAF6"/>
                    </a:solidFill>
                  </a:tcPr>
                </a:tc>
                <a:tc>
                  <a:txBody>
                    <a:bodyPr>
                      <a:normAutofit/>
                    </a:bodyPr>
                    <a:lstStyle/>
                    <a:p>
                      <a:r>
                        <a:rPr sz="960" b="0">
                          <a:solidFill>
                            <a:srgbClr val="17311B"/>
                          </a:solidFill>
                          <a:latin typeface="Calibri"/>
                          <a:ea typeface="Calibri"/>
                          <a:cs typeface="Calibri"/>
                        </a:rPr>
                        <a:t>BUILT / PARTIAL</a:t>
                      </a:r>
                    </a:p>
                  </a:txBody>
                  <a:tcPr marL="91440" marR="91440" marT="45720" marB="45720" anchor="ctr">
                    <a:solidFill>
                      <a:srgbClr val="F7FAF6"/>
                    </a:solidFill>
                  </a:tcPr>
                </a:tc>
                <a:tc>
                  <a:txBody>
                    <a:bodyPr>
                      <a:normAutofit/>
                    </a:bodyPr>
                    <a:lstStyle/>
                    <a:p>
                      <a:r>
                        <a:rPr sz="960" b="0">
                          <a:solidFill>
                            <a:srgbClr val="17311B"/>
                          </a:solidFill>
                          <a:latin typeface="Calibri"/>
                          <a:ea typeface="Calibri"/>
                          <a:cs typeface="Calibri"/>
                        </a:rPr>
                        <a:t>Role views, marks, at-risk evidence, commands, course Q&amp;A, reviewed notes, CGPA roadmap and explainable progress; trained media models pending</a:t>
                      </a:r>
                    </a:p>
                  </a:txBody>
                  <a:tcPr marL="91440" marR="91440" marT="45720" marB="45720" anchor="ctr">
                    <a:solidFill>
                      <a:srgbClr val="F7FAF6"/>
                    </a:solidFill>
                  </a:tcPr>
                </a:tc>
              </a:tr>
              <a:tr h="521494">
                <a:tc>
                  <a:txBody>
                    <a:bodyPr>
                      <a:normAutofit/>
                    </a:bodyPr>
                    <a:lstStyle/>
                    <a:p>
                      <a:r>
                        <a:rPr sz="960" b="0">
                          <a:solidFill>
                            <a:srgbClr val="17311B"/>
                          </a:solidFill>
                          <a:latin typeface="Calibri"/>
                          <a:ea typeface="Calibri"/>
                          <a:cs typeface="Calibri"/>
                        </a:rPr>
                        <a:t>Gamification + production capacity</a:t>
                      </a:r>
                    </a:p>
                  </a:txBody>
                  <a:tcPr marL="91440" marR="91440" marT="45720" marB="45720" anchor="ctr">
                    <a:solidFill>
                      <a:srgbClr val="FFFFFF"/>
                    </a:solidFill>
                  </a:tcPr>
                </a:tc>
                <a:tc>
                  <a:txBody>
                    <a:bodyPr>
                      <a:normAutofit/>
                    </a:bodyPr>
                    <a:lstStyle/>
                    <a:p>
                      <a:r>
                        <a:rPr sz="960" b="0">
                          <a:solidFill>
                            <a:srgbClr val="17311B"/>
                          </a:solidFill>
                          <a:latin typeface="Calibri"/>
                          <a:ea typeface="Calibri"/>
                          <a:cs typeface="Calibri"/>
                        </a:rPr>
                        <a:t>PARTIAL / PENDING</a:t>
                      </a:r>
                    </a:p>
                  </a:txBody>
                  <a:tcPr marL="91440" marR="91440" marT="45720" marB="45720" anchor="ctr">
                    <a:solidFill>
                      <a:srgbClr val="FFFFFF"/>
                    </a:solidFill>
                  </a:tcPr>
                </a:tc>
                <a:tc>
                  <a:txBody>
                    <a:bodyPr>
                      <a:normAutofit/>
                    </a:bodyPr>
                    <a:lstStyle/>
                    <a:p>
                      <a:r>
                        <a:rPr sz="960" b="0">
                          <a:solidFill>
                            <a:srgbClr val="17311B"/>
                          </a:solidFill>
                          <a:latin typeface="Calibri"/>
                          <a:ea typeface="Calibri"/>
                          <a:cs typeface="Calibri"/>
                        </a:rPr>
                        <a:t>Leaderboard UI exists; full rules engine and verified 150-user classroom test remain future work</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9EB097D-73CB-4686-BDF3-6D81E0E04A39}"/>
              </a:ext>
            </a:extLst>
          </p:cNvPr>
          <p:cNvSpPr>
            <a:spLocks xmlns:a="http://schemas.openxmlformats.org/drawingml/2006/main" noGrp="1"/>
          </p:cNvSpPr>
          <p:nvPr/>
        </p:nvSpPr>
        <p:spPr>
          <a:xfrm xmlns:a="http://schemas.openxmlformats.org/drawingml/2006/main">
            <a:off x="781050" y="5619750"/>
            <a:ext cx="7581900" cy="552450"/>
          </a:xfrm>
          <a:prstGeom xmlns:a="http://schemas.openxmlformats.org/drawingml/2006/main" prst="roundRect">
            <a:avLst>
              <a:gd name="adj" fmla="val 13793"/>
            </a:avLst>
          </a:prstGeom>
          <a:solidFill xmlns:a="http://schemas.openxmlformats.org/drawingml/2006/main">
            <a:srgbClr val="EEF6EB"/>
          </a:solidFill>
          <a:ln xmlns:a="http://schemas.openxmlformats.org/drawingml/2006/main" w="10478">
            <a:solidFill>
              <a:srgbClr val="3F922F"/>
            </a:solidFill>
            <a:prstDash val="solid"/>
          </a:ln>
        </p:spPr>
      </p:sp>
      <p:sp>
        <p:nvSpPr>
          <p:cNvPr id="5" name="">
            <a:extLst xmlns:a="http://schemas.openxmlformats.org/drawingml/2006/main">
              <a:ext uri="{FF2B5EF4-FFF2-40B4-BE49-F238E27FC236}">
                <a16:creationId xmlns:a16="http://schemas.microsoft.com/office/drawing/2014/main" id="{6CE9E393-40B0-4D78-8B07-B4B6EBA4F803}"/>
              </a:ext>
            </a:extLst>
          </p:cNvPr>
          <p:cNvSpPr>
            <a:spLocks xmlns:a="http://schemas.openxmlformats.org/drawingml/2006/main" noGrp="1"/>
          </p:cNvSpPr>
          <p:nvPr/>
        </p:nvSpPr>
        <p:spPr>
          <a:xfrm xmlns:a="http://schemas.openxmlformats.org/drawingml/2006/main">
            <a:off x="1066800" y="5762625"/>
            <a:ext cx="701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130"/>
          </a:bodyPr>
          <a:lstStyle xmlns:a="http://schemas.openxmlformats.org/drawingml/2006/main"/>
          <a:p xmlns:a="http://schemas.openxmlformats.org/drawingml/2006/main">
            <a:pPr algn="ctr">
              <a:buNone/>
              <a:defRPr sz="1125" b="1">
                <a:solidFill>
                  <a:srgbClr val="17451C"/>
                </a:solidFill>
                <a:latin typeface="Calibri"/>
                <a:ea typeface="Calibri"/>
                <a:cs typeface="Calibri"/>
              </a:defRPr>
            </a:pPr>
            <a:r>
              <a:rPr sz="1125" b="1">
                <a:solidFill>
                  <a:srgbClr val="17451C"/>
                </a:solidFill>
                <a:latin typeface="Calibri"/>
                <a:ea typeface="Calibri"/>
                <a:cs typeface="Calibri"/>
              </a:rPr>
              <a:t>Verification record: 155 backend tests and 92 subtests passed. Built, partial and pending items remain clearly separated; no fabricated academic result is used.</a:t>
            </a:r>
          </a:p>
        </p:txBody>
      </p:sp>
    </p:spTree>
    <p:extLst>
      <p:ext uri="{BB962C8B-B14F-4D97-AF65-F5344CB8AC3E}">
        <p14:creationId xmlns:p14="http://schemas.microsoft.com/office/powerpoint/2010/main" val="111267838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11C4FA3-A24F-470C-938C-8B97693428B9}"/>
              </a:ext>
            </a:extLst>
          </p:cNvPr>
          <p:cNvSpPr>
            <a:spLocks xmlns:a="http://schemas.openxmlformats.org/drawingml/2006/main" noGrp="1"/>
          </p:cNvSpPr>
          <p:nvPr/>
        </p:nvSpPr>
        <p:spPr>
          <a:xfrm xmlns:a="http://schemas.openxmlformats.org/drawingml/2006/main">
            <a:off x="2095500" y="41910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a:solidFill>
                  <a:srgbClr val="FFFFFF"/>
                </a:solidFill>
                <a:latin typeface="Times New Roman"/>
                <a:ea typeface="Times New Roman"/>
                <a:cs typeface="Times New Roman"/>
              </a:defRPr>
            </a:pPr>
            <a:r>
              <a:rPr sz="1875" b="1">
                <a:solidFill>
                  <a:srgbClr val="FFFFFF"/>
                </a:solidFill>
                <a:latin typeface="Times New Roman"/>
                <a:ea typeface="Times New Roman"/>
                <a:cs typeface="Times New Roman"/>
              </a:rPr>
              <a:t>Advantages &amp; Future Scope</a:t>
            </a:r>
          </a:p>
        </p:txBody>
      </p:sp>
      <p:sp>
        <p:nvSpPr>
          <p:cNvPr id="2" name="">
            <a:extLst xmlns:a="http://schemas.openxmlformats.org/drawingml/2006/main">
              <a:ext uri="{FF2B5EF4-FFF2-40B4-BE49-F238E27FC236}">
                <a16:creationId xmlns:a16="http://schemas.microsoft.com/office/drawing/2014/main" id="{4D1E877F-E3A6-4828-93EC-67BCC2614F16}"/>
              </a:ext>
            </a:extLst>
          </p:cNvPr>
          <p:cNvSpPr>
            <a:spLocks xmlns:a="http://schemas.openxmlformats.org/drawingml/2006/main" noGrp="1"/>
          </p:cNvSpPr>
          <p:nvPr/>
        </p:nvSpPr>
        <p:spPr>
          <a:xfrm xmlns:a="http://schemas.openxmlformats.org/drawingml/2006/main">
            <a:off x="552450" y="1314450"/>
            <a:ext cx="3762375" cy="4191000"/>
          </a:xfrm>
          <a:prstGeom xmlns:a="http://schemas.openxmlformats.org/drawingml/2006/main" prst="roundRect">
            <a:avLst>
              <a:gd name="adj" fmla="val 2025"/>
            </a:avLst>
          </a:prstGeom>
          <a:solidFill xmlns:a="http://schemas.openxmlformats.org/drawingml/2006/main">
            <a:srgbClr val="EEF6EB"/>
          </a:solidFill>
          <a:ln xmlns:a="http://schemas.openxmlformats.org/drawingml/2006/main" w="10478">
            <a:solidFill>
              <a:srgbClr val="3F922F"/>
            </a:solidFill>
            <a:prstDash val="solid"/>
          </a:ln>
        </p:spPr>
      </p:sp>
      <p:sp>
        <p:nvSpPr>
          <p:cNvPr id="3" name="">
            <a:extLst xmlns:a="http://schemas.openxmlformats.org/drawingml/2006/main">
              <a:ext uri="{FF2B5EF4-FFF2-40B4-BE49-F238E27FC236}">
                <a16:creationId xmlns:a16="http://schemas.microsoft.com/office/drawing/2014/main" id="{B4EFEF11-F815-4A35-AF94-2419BC666C46}"/>
              </a:ext>
            </a:extLst>
          </p:cNvPr>
          <p:cNvSpPr>
            <a:spLocks xmlns:a="http://schemas.openxmlformats.org/drawingml/2006/main" noGrp="1"/>
          </p:cNvSpPr>
          <p:nvPr/>
        </p:nvSpPr>
        <p:spPr>
          <a:xfrm xmlns:a="http://schemas.openxmlformats.org/drawingml/2006/main">
            <a:off x="876300" y="1504950"/>
            <a:ext cx="3105150" cy="285750"/>
          </a:xfrm>
          <a:prstGeom xmlns:a="http://schemas.openxmlformats.org/drawingml/2006/main" prst="roundRect">
            <a:avLst>
              <a:gd name="adj" fmla="val 26667"/>
            </a:avLst>
          </a:prstGeom>
          <a:solidFill xmlns:a="http://schemas.openxmlformats.org/drawingml/2006/main">
            <a:srgbClr val="3F922F"/>
          </a:solidFill>
          <a:ln xmlns:a="http://schemas.openxmlformats.org/drawingml/2006/main" w="0">
            <a:solidFill>
              <a:srgbClr val="3F922F"/>
            </a:solidFill>
          </a:ln>
        </p:spPr>
        <p:txBody>
          <a:bodyPr xmlns:a="http://schemas.openxmlformats.org/drawingml/2006/main" anchor="ctr">
            <a:normAutofit fontScale="87298"/>
          </a:bodyPr>
          <a:lstStyle xmlns:a="http://schemas.openxmlformats.org/drawingml/2006/main"/>
          <a:p xmlns:a="http://schemas.openxmlformats.org/drawingml/2006/main">
            <a:pPr algn="ctr">
              <a:buNone/>
              <a:defRPr sz="1125" b="1">
                <a:solidFill>
                  <a:srgbClr val="FFFFFF"/>
                </a:solidFill>
                <a:latin typeface="Calibri"/>
                <a:ea typeface="Calibri"/>
                <a:cs typeface="Calibri"/>
              </a:defRPr>
            </a:pPr>
            <a:r>
              <a:rPr sz="1125" b="1">
                <a:solidFill>
                  <a:srgbClr val="FFFFFF"/>
                </a:solidFill>
                <a:latin typeface="Calibri"/>
                <a:ea typeface="Calibri"/>
                <a:cs typeface="Calibri"/>
              </a:rPr>
              <a:t>Advantages</a:t>
            </a:r>
          </a:p>
        </p:txBody>
      </p:sp>
      <p:sp>
        <p:nvSpPr>
          <p:cNvPr id="4" name="">
            <a:extLst xmlns:a="http://schemas.openxmlformats.org/drawingml/2006/main">
              <a:ext uri="{FF2B5EF4-FFF2-40B4-BE49-F238E27FC236}">
                <a16:creationId xmlns:a16="http://schemas.microsoft.com/office/drawing/2014/main" id="{42433A49-A2B4-43C0-A5A6-55AA31EA3019}"/>
              </a:ext>
            </a:extLst>
          </p:cNvPr>
          <p:cNvSpPr>
            <a:spLocks xmlns:a="http://schemas.openxmlformats.org/drawingml/2006/main" noGrp="1"/>
          </p:cNvSpPr>
          <p:nvPr/>
        </p:nvSpPr>
        <p:spPr>
          <a:xfrm xmlns:a="http://schemas.openxmlformats.org/drawingml/2006/main">
            <a:off x="876300" y="2095500"/>
            <a:ext cx="3105150" cy="2990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One portal for institution setup, accounts, academics and course delivery</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Course pages connect materials, schedules, meetings and assessment</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Real-duration attendance stays separate from academic achievement</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Server checks protect institution, department, course and student records</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ERP, dashboards and AI preserve source evidence and review history</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Responsive role dashboards reduce repeated navigation and data entry</a:t>
            </a:r>
          </a:p>
        </p:txBody>
      </p:sp>
      <p:sp>
        <p:nvSpPr>
          <p:cNvPr id="5" name="">
            <a:extLst xmlns:a="http://schemas.openxmlformats.org/drawingml/2006/main">
              <a:ext uri="{FF2B5EF4-FFF2-40B4-BE49-F238E27FC236}">
                <a16:creationId xmlns:a16="http://schemas.microsoft.com/office/drawing/2014/main" id="{58A77F1F-354C-475E-9F86-A655D5C382E2}"/>
              </a:ext>
            </a:extLst>
          </p:cNvPr>
          <p:cNvSpPr>
            <a:spLocks xmlns:a="http://schemas.openxmlformats.org/drawingml/2006/main" noGrp="1"/>
          </p:cNvSpPr>
          <p:nvPr/>
        </p:nvSpPr>
        <p:spPr>
          <a:xfrm xmlns:a="http://schemas.openxmlformats.org/drawingml/2006/main">
            <a:off x="4829175" y="1314450"/>
            <a:ext cx="3762375" cy="4191000"/>
          </a:xfrm>
          <a:prstGeom xmlns:a="http://schemas.openxmlformats.org/drawingml/2006/main" prst="roundRect">
            <a:avLst>
              <a:gd name="adj" fmla="val 2025"/>
            </a:avLst>
          </a:prstGeom>
          <a:solidFill xmlns:a="http://schemas.openxmlformats.org/drawingml/2006/main">
            <a:srgbClr val="F2F6FA"/>
          </a:solidFill>
          <a:ln xmlns:a="http://schemas.openxmlformats.org/drawingml/2006/main" w="10478">
            <a:solidFill>
              <a:srgbClr val="9CB9D0"/>
            </a:solidFill>
            <a:prstDash val="solid"/>
          </a:ln>
        </p:spPr>
      </p:sp>
      <p:sp>
        <p:nvSpPr>
          <p:cNvPr id="6" name="">
            <a:extLst xmlns:a="http://schemas.openxmlformats.org/drawingml/2006/main">
              <a:ext uri="{FF2B5EF4-FFF2-40B4-BE49-F238E27FC236}">
                <a16:creationId xmlns:a16="http://schemas.microsoft.com/office/drawing/2014/main" id="{BC69B178-CC64-4FEA-B4A4-73E9672E0625}"/>
              </a:ext>
            </a:extLst>
          </p:cNvPr>
          <p:cNvSpPr>
            <a:spLocks xmlns:a="http://schemas.openxmlformats.org/drawingml/2006/main" noGrp="1"/>
          </p:cNvSpPr>
          <p:nvPr/>
        </p:nvSpPr>
        <p:spPr>
          <a:xfrm xmlns:a="http://schemas.openxmlformats.org/drawingml/2006/main">
            <a:off x="5153025" y="1504950"/>
            <a:ext cx="3105150" cy="285750"/>
          </a:xfrm>
          <a:prstGeom xmlns:a="http://schemas.openxmlformats.org/drawingml/2006/main" prst="roundRect">
            <a:avLst>
              <a:gd name="adj" fmla="val 26667"/>
            </a:avLst>
          </a:prstGeom>
          <a:solidFill xmlns:a="http://schemas.openxmlformats.org/drawingml/2006/main">
            <a:srgbClr val="24649A"/>
          </a:solidFill>
          <a:ln xmlns:a="http://schemas.openxmlformats.org/drawingml/2006/main" w="0">
            <a:solidFill>
              <a:srgbClr val="24649A"/>
            </a:solidFill>
          </a:ln>
        </p:spPr>
        <p:txBody>
          <a:bodyPr xmlns:a="http://schemas.openxmlformats.org/drawingml/2006/main" anchor="ctr">
            <a:normAutofit fontScale="87298"/>
          </a:bodyPr>
          <a:lstStyle xmlns:a="http://schemas.openxmlformats.org/drawingml/2006/main"/>
          <a:p xmlns:a="http://schemas.openxmlformats.org/drawingml/2006/main">
            <a:pPr algn="ctr">
              <a:buNone/>
              <a:defRPr sz="1125" b="1">
                <a:solidFill>
                  <a:srgbClr val="FFFFFF"/>
                </a:solidFill>
                <a:latin typeface="Calibri"/>
                <a:ea typeface="Calibri"/>
                <a:cs typeface="Calibri"/>
              </a:defRPr>
            </a:pPr>
            <a:r>
              <a:rPr sz="1125" b="1">
                <a:solidFill>
                  <a:srgbClr val="FFFFFF"/>
                </a:solidFill>
                <a:latin typeface="Calibri"/>
                <a:ea typeface="Calibri"/>
                <a:cs typeface="Calibri"/>
              </a:rPr>
              <a:t>Future scope</a:t>
            </a:r>
          </a:p>
        </p:txBody>
      </p:sp>
      <p:sp>
        <p:nvSpPr>
          <p:cNvPr id="7" name="">
            <a:extLst xmlns:a="http://schemas.openxmlformats.org/drawingml/2006/main">
              <a:ext uri="{FF2B5EF4-FFF2-40B4-BE49-F238E27FC236}">
                <a16:creationId xmlns:a16="http://schemas.microsoft.com/office/drawing/2014/main" id="{58C72B3B-D542-486A-A705-60DF28F3F678}"/>
              </a:ext>
            </a:extLst>
          </p:cNvPr>
          <p:cNvSpPr>
            <a:spLocks xmlns:a="http://schemas.openxmlformats.org/drawingml/2006/main" noGrp="1"/>
          </p:cNvSpPr>
          <p:nvPr/>
        </p:nvSpPr>
        <p:spPr>
          <a:xfrm xmlns:a="http://schemas.openxmlformats.org/drawingml/2006/main">
            <a:off x="5153025" y="2095500"/>
            <a:ext cx="3105150" cy="2990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Evaluate system quality and usability with every university role</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Add deeper programming feedback and browser-based file upload</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Build and test the theory-grounded gamification engine</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Validate Google sign-in, email recovery and a real ERP adapter</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Deploy self-hosted Jitsi/Jibri and run staged capacity tests</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Train private speech, handwriting/OCR and similarity models on approved data</a:t>
            </a:r>
          </a:p>
        </p:txBody>
      </p:sp>
      <p:sp>
        <p:nvSpPr>
          <p:cNvPr id="8" name="">
            <a:extLst xmlns:a="http://schemas.openxmlformats.org/drawingml/2006/main">
              <a:ext uri="{FF2B5EF4-FFF2-40B4-BE49-F238E27FC236}">
                <a16:creationId xmlns:a16="http://schemas.microsoft.com/office/drawing/2014/main" id="{68FB9B27-9656-4C79-9B12-2A59E650B314}"/>
              </a:ext>
            </a:extLst>
          </p:cNvPr>
          <p:cNvSpPr>
            <a:spLocks xmlns:a="http://schemas.openxmlformats.org/drawingml/2006/main" noGrp="1"/>
          </p:cNvSpPr>
          <p:nvPr/>
        </p:nvSpPr>
        <p:spPr>
          <a:xfrm xmlns:a="http://schemas.openxmlformats.org/drawingml/2006/main">
            <a:off x="952500" y="5753100"/>
            <a:ext cx="723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516"/>
          </a:bodyPr>
          <a:lstStyle xmlns:a="http://schemas.openxmlformats.org/drawingml/2006/main"/>
          <a:p xmlns:a="http://schemas.openxmlformats.org/drawingml/2006/main">
            <a:pPr algn="ctr">
              <a:buNone/>
              <a:defRPr sz="1200" b="1">
                <a:solidFill>
                  <a:srgbClr val="17451C"/>
                </a:solidFill>
                <a:latin typeface="Calibri"/>
                <a:ea typeface="Calibri"/>
                <a:cs typeface="Calibri"/>
              </a:defRPr>
            </a:pPr>
            <a:r>
              <a:rPr sz="1200" b="1">
                <a:solidFill>
                  <a:srgbClr val="17451C"/>
                </a:solidFill>
                <a:latin typeface="Calibri"/>
                <a:ea typeface="Calibri"/>
                <a:cs typeface="Calibri"/>
              </a:rPr>
              <a:t>Future evaluation must measure security, task completion, learning support, trust, reliability and capacity across the complete platform.</a:t>
            </a:r>
          </a:p>
        </p:txBody>
      </p:sp>
    </p:spTree>
    <p:extLst>
      <p:ext uri="{BB962C8B-B14F-4D97-AF65-F5344CB8AC3E}">
        <p14:creationId xmlns:p14="http://schemas.microsoft.com/office/powerpoint/2010/main" val="184805141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152DED1-06F5-468C-BB13-3618DEC8951B}"/>
              </a:ext>
            </a:extLst>
          </p:cNvPr>
          <p:cNvSpPr>
            <a:spLocks xmlns:a="http://schemas.openxmlformats.org/drawingml/2006/main" noGrp="1"/>
          </p:cNvSpPr>
          <p:nvPr>
            <p:ph type="title" idx="0"/>
          </p:nvPr>
        </p:nvSpPr>
        <p:spPr>
          <a:xfrm xmlns:a="http://schemas.openxmlformats.org/drawingml/2006/main">
            <a:off x="457200" y="274955"/>
            <a:ext cx="8229600" cy="834390"/>
          </a:xfrm>
        </p:spPr>
        <p:txBody>
          <a:bodyPr xmlns:a="http://schemas.openxmlformats.org/drawingml/2006/main">
            <a:normAutofit fontScale="100000"/>
          </a:bodyPr>
          <a:lstStyle xmlns:a="http://schemas.openxmlformats.org/drawingml/2006/main"/>
          <a:p xmlns:a="http://schemas.openxmlformats.org/drawingml/2006/main">
            <a:pPr algn="ctr">
              <a:buNone/>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Documentation / Project Work Status</a:t>
            </a:r>
            <a:endParaRPr b="1">
              <a:solidFill>
                <a:schemeClr val="bg1"/>
              </a:solidFill>
            </a:endParaRPr>
          </a:p>
        </p:txBody>
      </p:sp>
      <p:graphicFrame>
        <p:nvGraphicFramePr>
          <p:cNvPr id="8" name=""/>
          <p:cNvGraphicFramePr/>
          <p:nvPr/>
        </p:nvGraphicFramePr>
        <p:xfrm>
          <a:off xmlns:a="http://schemas.openxmlformats.org/drawingml/2006/main" x="514350" y="1352550"/>
          <a:ext xmlns:a="http://schemas.openxmlformats.org/drawingml/2006/main" cx="8115300" cy="3943350"/>
        </p:xfrm>
        <a:graphic xmlns:a="http://schemas.openxmlformats.org/drawingml/2006/main">
          <a:graphicData uri="http://schemas.openxmlformats.org/drawingml/2006/table">
            <a:tbl>
              <a:tblPr/>
              <a:tblGrid>
                <a:gridCol w="2476500"/>
                <a:gridCol w="1285875"/>
                <a:gridCol w="4352925"/>
              </a:tblGrid>
              <a:tr h="492919">
                <a:tc>
                  <a:txBody>
                    <a:bodyPr>
                      <a:normAutofit/>
                    </a:bodyPr>
                    <a:lstStyle/>
                    <a:p>
                      <a:r>
                        <a:rPr sz="1050" b="1">
                          <a:solidFill>
                            <a:srgbClr val="FFFFFF"/>
                          </a:solidFill>
                          <a:latin typeface="Calibri"/>
                          <a:ea typeface="Calibri"/>
                          <a:cs typeface="Calibri"/>
                        </a:rPr>
                        <a:t>Documentation artifact</a:t>
                      </a:r>
                    </a:p>
                  </a:txBody>
                  <a:tcPr marL="91440" marR="91440" marT="45720" marB="45720" anchor="ctr">
                    <a:solidFill>
                      <a:srgbClr val="3F922F"/>
                    </a:solidFill>
                  </a:tcPr>
                </a:tc>
                <a:tc>
                  <a:txBody>
                    <a:bodyPr>
                      <a:normAutofit/>
                    </a:bodyPr>
                    <a:lstStyle/>
                    <a:p>
                      <a:r>
                        <a:rPr sz="1050" b="1">
                          <a:solidFill>
                            <a:srgbClr val="FFFFFF"/>
                          </a:solidFill>
                          <a:latin typeface="Calibri"/>
                          <a:ea typeface="Calibri"/>
                          <a:cs typeface="Calibri"/>
                        </a:rPr>
                        <a:t>Status</a:t>
                      </a:r>
                    </a:p>
                  </a:txBody>
                  <a:tcPr marL="91440" marR="91440" marT="45720" marB="45720" anchor="ctr">
                    <a:solidFill>
                      <a:srgbClr val="3F922F"/>
                    </a:solidFill>
                  </a:tcPr>
                </a:tc>
                <a:tc>
                  <a:txBody>
                    <a:bodyPr>
                      <a:normAutofit/>
                    </a:bodyPr>
                    <a:lstStyle/>
                    <a:p>
                      <a:r>
                        <a:rPr sz="1050" b="1">
                          <a:solidFill>
                            <a:srgbClr val="FFFFFF"/>
                          </a:solidFill>
                          <a:latin typeface="Calibri"/>
                          <a:ea typeface="Calibri"/>
                          <a:cs typeface="Calibri"/>
                        </a:rPr>
                        <a:t>Coverage</a:t>
                      </a:r>
                    </a:p>
                  </a:txBody>
                  <a:tcPr marL="91440" marR="91440" marT="45720" marB="45720" anchor="ctr">
                    <a:solidFill>
                      <a:srgbClr val="3F922F"/>
                    </a:solidFill>
                  </a:tcPr>
                </a:tc>
              </a:tr>
              <a:tr h="492919">
                <a:tc>
                  <a:txBody>
                    <a:bodyPr>
                      <a:normAutofit/>
                    </a:bodyPr>
                    <a:lstStyle/>
                    <a:p>
                      <a:r>
                        <a:rPr sz="990" b="0">
                          <a:solidFill>
                            <a:srgbClr val="17311B"/>
                          </a:solidFill>
                          <a:latin typeface="Calibri"/>
                          <a:ea typeface="Calibri"/>
                          <a:cs typeface="Calibri"/>
                        </a:rPr>
                        <a:t>Complete feature literature survey</a:t>
                      </a:r>
                    </a:p>
                  </a:txBody>
                  <a:tcPr marL="91440" marR="91440" marT="45720" marB="45720" anchor="ctr">
                    <a:solidFill>
                      <a:srgbClr val="FFFFFF"/>
                    </a:solidFill>
                  </a:tcPr>
                </a:tc>
                <a:tc>
                  <a:txBody>
                    <a:bodyPr>
                      <a:normAutofit/>
                    </a:bodyPr>
                    <a:lstStyle/>
                    <a:p>
                      <a:r>
                        <a:rPr sz="990" b="0">
                          <a:solidFill>
                            <a:srgbClr val="17311B"/>
                          </a:solidFill>
                          <a:latin typeface="Calibri"/>
                          <a:ea typeface="Calibri"/>
                          <a:cs typeface="Calibri"/>
                        </a:rPr>
                        <a:t>NEW</a:t>
                      </a:r>
                    </a:p>
                  </a:txBody>
                  <a:tcPr marL="91440" marR="91440" marT="45720" marB="45720" anchor="ctr">
                    <a:solidFill>
                      <a:srgbClr val="FFFFFF"/>
                    </a:solidFill>
                  </a:tcPr>
                </a:tc>
                <a:tc>
                  <a:txBody>
                    <a:bodyPr>
                      <a:normAutofit/>
                    </a:bodyPr>
                    <a:lstStyle/>
                    <a:p>
                      <a:r>
                        <a:rPr sz="990" b="0">
                          <a:solidFill>
                            <a:srgbClr val="17311B"/>
                          </a:solidFill>
                          <a:latin typeface="Calibri"/>
                          <a:ea typeface="Calibri"/>
                          <a:cs typeface="Calibri"/>
                        </a:rPr>
                        <a:t>17 research sources; full feature-gap-solution matrix; research questions</a:t>
                      </a:r>
                    </a:p>
                  </a:txBody>
                  <a:tcPr marL="91440" marR="91440" marT="45720" marB="45720" anchor="ctr">
                    <a:solidFill>
                      <a:srgbClr val="FFFFFF"/>
                    </a:solidFill>
                  </a:tcPr>
                </a:tc>
              </a:tr>
              <a:tr h="492919">
                <a:tc>
                  <a:txBody>
                    <a:bodyPr>
                      <a:normAutofit/>
                    </a:bodyPr>
                    <a:lstStyle/>
                    <a:p>
                      <a:r>
                        <a:rPr sz="990" b="0">
                          <a:solidFill>
                            <a:srgbClr val="17311B"/>
                          </a:solidFill>
                          <a:latin typeface="Calibri"/>
                          <a:ea typeface="Calibri"/>
                          <a:cs typeface="Calibri"/>
                        </a:rPr>
                        <a:t>PROJECT_DETAILS.txt</a:t>
                      </a:r>
                    </a:p>
                  </a:txBody>
                  <a:tcPr marL="91440" marR="91440" marT="45720" marB="45720" anchor="ctr">
                    <a:solidFill>
                      <a:srgbClr val="F7FAF6"/>
                    </a:solidFill>
                  </a:tcPr>
                </a:tc>
                <a:tc>
                  <a:txBody>
                    <a:bodyPr>
                      <a:normAutofit/>
                    </a:bodyPr>
                    <a:lstStyle/>
                    <a:p>
                      <a:r>
                        <a:rPr sz="990" b="0">
                          <a:solidFill>
                            <a:srgbClr val="17311B"/>
                          </a:solidFill>
                          <a:latin typeface="Calibri"/>
                          <a:ea typeface="Calibri"/>
                          <a:cs typeface="Calibri"/>
                        </a:rPr>
                        <a:t>CURRENT</a:t>
                      </a:r>
                    </a:p>
                  </a:txBody>
                  <a:tcPr marL="91440" marR="91440" marT="45720" marB="45720" anchor="ctr">
                    <a:solidFill>
                      <a:srgbClr val="F7FAF6"/>
                    </a:solidFill>
                  </a:tcPr>
                </a:tc>
                <a:tc>
                  <a:txBody>
                    <a:bodyPr>
                      <a:normAutofit/>
                    </a:bodyPr>
                    <a:lstStyle/>
                    <a:p>
                      <a:r>
                        <a:rPr sz="990" b="0">
                          <a:solidFill>
                            <a:srgbClr val="17311B"/>
                          </a:solidFill>
                          <a:latin typeface="Calibri"/>
                          <a:ea typeface="Calibri"/>
                          <a:cs typeface="Calibri"/>
                        </a:rPr>
                        <a:t>Chronological build, verification and deployment record</a:t>
                      </a:r>
                    </a:p>
                  </a:txBody>
                  <a:tcPr marL="91440" marR="91440" marT="45720" marB="45720" anchor="ctr">
                    <a:solidFill>
                      <a:srgbClr val="F7FAF6"/>
                    </a:solidFill>
                  </a:tcPr>
                </a:tc>
              </a:tr>
              <a:tr h="492919">
                <a:tc>
                  <a:txBody>
                    <a:bodyPr>
                      <a:normAutofit/>
                    </a:bodyPr>
                    <a:lstStyle/>
                    <a:p>
                      <a:r>
                        <a:rPr sz="990" b="0">
                          <a:solidFill>
                            <a:srgbClr val="17311B"/>
                          </a:solidFill>
                          <a:latin typeface="Calibri"/>
                          <a:ea typeface="Calibri"/>
                          <a:cs typeface="Calibri"/>
                        </a:rPr>
                        <a:t>README / run instructions</a:t>
                      </a:r>
                    </a:p>
                  </a:txBody>
                  <a:tcPr marL="91440" marR="91440" marT="45720" marB="45720" anchor="ctr">
                    <a:solidFill>
                      <a:srgbClr val="FFFFFF"/>
                    </a:solidFill>
                  </a:tcPr>
                </a:tc>
                <a:tc>
                  <a:txBody>
                    <a:bodyPr>
                      <a:normAutofit/>
                    </a:bodyPr>
                    <a:lstStyle/>
                    <a:p>
                      <a:r>
                        <a:rPr sz="990" b="0">
                          <a:solidFill>
                            <a:srgbClr val="17311B"/>
                          </a:solidFill>
                          <a:latin typeface="Calibri"/>
                          <a:ea typeface="Calibri"/>
                          <a:cs typeface="Calibri"/>
                        </a:rPr>
                        <a:t>AVAILABLE</a:t>
                      </a:r>
                    </a:p>
                  </a:txBody>
                  <a:tcPr marL="91440" marR="91440" marT="45720" marB="45720" anchor="ctr">
                    <a:solidFill>
                      <a:srgbClr val="FFFFFF"/>
                    </a:solidFill>
                  </a:tcPr>
                </a:tc>
                <a:tc>
                  <a:txBody>
                    <a:bodyPr>
                      <a:normAutofit/>
                    </a:bodyPr>
                    <a:lstStyle/>
                    <a:p>
                      <a:r>
                        <a:rPr sz="990" b="0">
                          <a:solidFill>
                            <a:srgbClr val="17311B"/>
                          </a:solidFill>
                          <a:latin typeface="Calibri"/>
                          <a:ea typeface="Calibri"/>
                          <a:cs typeface="Calibri"/>
                        </a:rPr>
                        <a:t>Frontend, backend and environment setup</a:t>
                      </a:r>
                    </a:p>
                  </a:txBody>
                  <a:tcPr marL="91440" marR="91440" marT="45720" marB="45720" anchor="ctr">
                    <a:solidFill>
                      <a:srgbClr val="FFFFFF"/>
                    </a:solidFill>
                  </a:tcPr>
                </a:tc>
              </a:tr>
              <a:tr h="492919">
                <a:tc>
                  <a:txBody>
                    <a:bodyPr>
                      <a:normAutofit/>
                    </a:bodyPr>
                    <a:lstStyle/>
                    <a:p>
                      <a:r>
                        <a:rPr sz="990" b="0">
                          <a:solidFill>
                            <a:srgbClr val="17311B"/>
                          </a:solidFill>
                          <a:latin typeface="Calibri"/>
                          <a:ea typeface="Calibri"/>
                          <a:cs typeface="Calibri"/>
                        </a:rPr>
                        <a:t>OpenAPI / Swagger</a:t>
                      </a:r>
                    </a:p>
                  </a:txBody>
                  <a:tcPr marL="91440" marR="91440" marT="45720" marB="45720" anchor="ctr">
                    <a:solidFill>
                      <a:srgbClr val="F7FAF6"/>
                    </a:solidFill>
                  </a:tcPr>
                </a:tc>
                <a:tc>
                  <a:txBody>
                    <a:bodyPr>
                      <a:normAutofit/>
                    </a:bodyPr>
                    <a:lstStyle/>
                    <a:p>
                      <a:r>
                        <a:rPr sz="990" b="0">
                          <a:solidFill>
                            <a:srgbClr val="17311B"/>
                          </a:solidFill>
                          <a:latin typeface="Calibri"/>
                          <a:ea typeface="Calibri"/>
                          <a:cs typeface="Calibri"/>
                        </a:rPr>
                        <a:t>GENERATED</a:t>
                      </a:r>
                    </a:p>
                  </a:txBody>
                  <a:tcPr marL="91440" marR="91440" marT="45720" marB="45720" anchor="ctr">
                    <a:solidFill>
                      <a:srgbClr val="F7FAF6"/>
                    </a:solidFill>
                  </a:tcPr>
                </a:tc>
                <a:tc>
                  <a:txBody>
                    <a:bodyPr>
                      <a:normAutofit/>
                    </a:bodyPr>
                    <a:lstStyle/>
                    <a:p>
                      <a:r>
                        <a:rPr sz="990" b="0">
                          <a:solidFill>
                            <a:srgbClr val="17311B"/>
                          </a:solidFill>
                          <a:latin typeface="Calibri"/>
                          <a:ea typeface="Calibri"/>
                          <a:cs typeface="Calibri"/>
                        </a:rPr>
                        <a:t>Interactive FastAPI endpoint contract</a:t>
                      </a:r>
                    </a:p>
                  </a:txBody>
                  <a:tcPr marL="91440" marR="91440" marT="45720" marB="45720" anchor="ctr">
                    <a:solidFill>
                      <a:srgbClr val="F7FAF6"/>
                    </a:solidFill>
                  </a:tcPr>
                </a:tc>
              </a:tr>
              <a:tr h="492919">
                <a:tc>
                  <a:txBody>
                    <a:bodyPr>
                      <a:normAutofit/>
                    </a:bodyPr>
                    <a:lstStyle/>
                    <a:p>
                      <a:r>
                        <a:rPr sz="990" b="0">
                          <a:solidFill>
                            <a:srgbClr val="17311B"/>
                          </a:solidFill>
                          <a:latin typeface="Calibri"/>
                          <a:ea typeface="Calibri"/>
                          <a:cs typeface="Calibri"/>
                        </a:rPr>
                        <a:t>ERP integration contract</a:t>
                      </a:r>
                    </a:p>
                  </a:txBody>
                  <a:tcPr marL="91440" marR="91440" marT="45720" marB="45720" anchor="ctr">
                    <a:solidFill>
                      <a:srgbClr val="FFFFFF"/>
                    </a:solidFill>
                  </a:tcPr>
                </a:tc>
                <a:tc>
                  <a:txBody>
                    <a:bodyPr>
                      <a:normAutofit/>
                    </a:bodyPr>
                    <a:lstStyle/>
                    <a:p>
                      <a:r>
                        <a:rPr sz="990" b="0">
                          <a:solidFill>
                            <a:srgbClr val="17311B"/>
                          </a:solidFill>
                          <a:latin typeface="Calibri"/>
                          <a:ea typeface="Calibri"/>
                          <a:cs typeface="Calibri"/>
                        </a:rPr>
                        <a:t>AVAILABLE</a:t>
                      </a:r>
                    </a:p>
                  </a:txBody>
                  <a:tcPr marL="91440" marR="91440" marT="45720" marB="45720" anchor="ctr">
                    <a:solidFill>
                      <a:srgbClr val="FFFFFF"/>
                    </a:solidFill>
                  </a:tcPr>
                </a:tc>
                <a:tc>
                  <a:txBody>
                    <a:bodyPr>
                      <a:normAutofit/>
                    </a:bodyPr>
                    <a:lstStyle/>
                    <a:p>
                      <a:r>
                        <a:rPr sz="990" b="0">
                          <a:solidFill>
                            <a:srgbClr val="17311B"/>
                          </a:solidFill>
                          <a:latin typeface="Calibri"/>
                          <a:ea typeface="Calibri"/>
                          <a:cs typeface="Calibri"/>
                        </a:rPr>
                        <a:t>Reviewed identity import, course sync and attendance sync</a:t>
                      </a:r>
                    </a:p>
                  </a:txBody>
                  <a:tcPr marL="91440" marR="91440" marT="45720" marB="45720" anchor="ctr">
                    <a:solidFill>
                      <a:srgbClr val="FFFFFF"/>
                    </a:solidFill>
                  </a:tcPr>
                </a:tc>
              </a:tr>
              <a:tr h="492919">
                <a:tc>
                  <a:txBody>
                    <a:bodyPr>
                      <a:normAutofit/>
                    </a:bodyPr>
                    <a:lstStyle/>
                    <a:p>
                      <a:r>
                        <a:rPr sz="990" b="0">
                          <a:solidFill>
                            <a:srgbClr val="17311B"/>
                          </a:solidFill>
                          <a:latin typeface="Calibri"/>
                          <a:ea typeface="Calibri"/>
                          <a:cs typeface="Calibri"/>
                        </a:rPr>
                        <a:t>AI model / Jitsi guidance</a:t>
                      </a:r>
                    </a:p>
                  </a:txBody>
                  <a:tcPr marL="91440" marR="91440" marT="45720" marB="45720" anchor="ctr">
                    <a:solidFill>
                      <a:srgbClr val="F7FAF6"/>
                    </a:solidFill>
                  </a:tcPr>
                </a:tc>
                <a:tc>
                  <a:txBody>
                    <a:bodyPr>
                      <a:normAutofit/>
                    </a:bodyPr>
                    <a:lstStyle/>
                    <a:p>
                      <a:r>
                        <a:rPr sz="990" b="0">
                          <a:solidFill>
                            <a:srgbClr val="17311B"/>
                          </a:solidFill>
                          <a:latin typeface="Calibri"/>
                          <a:ea typeface="Calibri"/>
                          <a:cs typeface="Calibri"/>
                        </a:rPr>
                        <a:t>AVAILABLE</a:t>
                      </a:r>
                    </a:p>
                  </a:txBody>
                  <a:tcPr marL="91440" marR="91440" marT="45720" marB="45720" anchor="ctr">
                    <a:solidFill>
                      <a:srgbClr val="F7FAF6"/>
                    </a:solidFill>
                  </a:tcPr>
                </a:tc>
                <a:tc>
                  <a:txBody>
                    <a:bodyPr>
                      <a:normAutofit/>
                    </a:bodyPr>
                    <a:lstStyle/>
                    <a:p>
                      <a:r>
                        <a:rPr sz="990" b="0">
                          <a:solidFill>
                            <a:srgbClr val="17311B"/>
                          </a:solidFill>
                          <a:latin typeface="Calibri"/>
                          <a:ea typeface="Calibri"/>
                          <a:cs typeface="Calibri"/>
                        </a:rPr>
                        <a:t>Private model contract, JaaS development and self-hosted setup</a:t>
                      </a:r>
                    </a:p>
                  </a:txBody>
                  <a:tcPr marL="91440" marR="91440" marT="45720" marB="45720" anchor="ctr">
                    <a:solidFill>
                      <a:srgbClr val="F7FAF6"/>
                    </a:solidFill>
                  </a:tcPr>
                </a:tc>
              </a:tr>
              <a:tr h="492919">
                <a:tc>
                  <a:txBody>
                    <a:bodyPr>
                      <a:normAutofit/>
                    </a:bodyPr>
                    <a:lstStyle/>
                    <a:p>
                      <a:r>
                        <a:rPr sz="990" b="0">
                          <a:solidFill>
                            <a:srgbClr val="17311B"/>
                          </a:solidFill>
                          <a:latin typeface="Calibri"/>
                          <a:ea typeface="Calibri"/>
                          <a:cs typeface="Calibri"/>
                        </a:rPr>
                        <a:t>Automated tests</a:t>
                      </a:r>
                    </a:p>
                  </a:txBody>
                  <a:tcPr marL="91440" marR="91440" marT="45720" marB="45720" anchor="ctr">
                    <a:solidFill>
                      <a:srgbClr val="FFFFFF"/>
                    </a:solidFill>
                  </a:tcPr>
                </a:tc>
                <a:tc>
                  <a:txBody>
                    <a:bodyPr>
                      <a:normAutofit/>
                    </a:bodyPr>
                    <a:lstStyle/>
                    <a:p>
                      <a:r>
                        <a:rPr sz="990" b="0">
                          <a:solidFill>
                            <a:srgbClr val="17311B"/>
                          </a:solidFill>
                          <a:latin typeface="Calibri"/>
                          <a:ea typeface="Calibri"/>
                          <a:cs typeface="Calibri"/>
                        </a:rPr>
                        <a:t>PASSED</a:t>
                      </a:r>
                    </a:p>
                  </a:txBody>
                  <a:tcPr marL="91440" marR="91440" marT="45720" marB="45720" anchor="ctr">
                    <a:solidFill>
                      <a:srgbClr val="FFFFFF"/>
                    </a:solidFill>
                  </a:tcPr>
                </a:tc>
                <a:tc>
                  <a:txBody>
                    <a:bodyPr>
                      <a:normAutofit/>
                    </a:bodyPr>
                    <a:lstStyle/>
                    <a:p>
                      <a:r>
                        <a:rPr sz="990" b="0">
                          <a:solidFill>
                            <a:srgbClr val="17311B"/>
                          </a:solidFill>
                          <a:latin typeface="Calibri"/>
                          <a:ea typeface="Calibri"/>
                          <a:cs typeface="Calibri"/>
                        </a:rPr>
                        <a:t>Authentication, scope, courses, assessment, classroom, ERP and AI behavior</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8722055-B024-47F3-BE66-ECD4F7026BF9}"/>
              </a:ext>
            </a:extLst>
          </p:cNvPr>
          <p:cNvSpPr>
            <a:spLocks xmlns:a="http://schemas.openxmlformats.org/drawingml/2006/main" noGrp="1"/>
          </p:cNvSpPr>
          <p:nvPr/>
        </p:nvSpPr>
        <p:spPr>
          <a:xfrm xmlns:a="http://schemas.openxmlformats.org/drawingml/2006/main">
            <a:off x="857250" y="5543550"/>
            <a:ext cx="7429500" cy="590550"/>
          </a:xfrm>
          <a:prstGeom xmlns:a="http://schemas.openxmlformats.org/drawingml/2006/main" prst="roundRect">
            <a:avLst>
              <a:gd name="adj" fmla="val 12903"/>
            </a:avLst>
          </a:prstGeom>
          <a:solidFill xmlns:a="http://schemas.openxmlformats.org/drawingml/2006/main">
            <a:srgbClr val="EEF6EB"/>
          </a:solidFill>
          <a:ln xmlns:a="http://schemas.openxmlformats.org/drawingml/2006/main" w="10478">
            <a:solidFill>
              <a:srgbClr val="3F922F"/>
            </a:solidFill>
            <a:prstDash val="solid"/>
          </a:ln>
        </p:spPr>
      </p:sp>
      <p:sp>
        <p:nvSpPr>
          <p:cNvPr id="5" name="">
            <a:extLst xmlns:a="http://schemas.openxmlformats.org/drawingml/2006/main">
              <a:ext uri="{FF2B5EF4-FFF2-40B4-BE49-F238E27FC236}">
                <a16:creationId xmlns:a16="http://schemas.microsoft.com/office/drawing/2014/main" id="{3B329DFD-AC36-4AF1-BD8E-99BAABD0AFCC}"/>
              </a:ext>
            </a:extLst>
          </p:cNvPr>
          <p:cNvSpPr>
            <a:spLocks xmlns:a="http://schemas.openxmlformats.org/drawingml/2006/main" noGrp="1"/>
          </p:cNvSpPr>
          <p:nvPr/>
        </p:nvSpPr>
        <p:spPr>
          <a:xfrm xmlns:a="http://schemas.openxmlformats.org/drawingml/2006/main">
            <a:off x="1123950" y="5695950"/>
            <a:ext cx="6896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7778"/>
          </a:bodyPr>
          <a:lstStyle xmlns:a="http://schemas.openxmlformats.org/drawingml/2006/main"/>
          <a:p xmlns:a="http://schemas.openxmlformats.org/drawingml/2006/main">
            <a:pPr algn="ctr">
              <a:buNone/>
              <a:defRPr sz="1125" b="1">
                <a:solidFill>
                  <a:srgbClr val="17451C"/>
                </a:solidFill>
                <a:latin typeface="Calibri"/>
                <a:ea typeface="Calibri"/>
                <a:cs typeface="Calibri"/>
              </a:defRPr>
            </a:pPr>
            <a:r>
              <a:rPr sz="1125" b="1">
                <a:solidFill>
                  <a:srgbClr val="17451C"/>
                </a:solidFill>
                <a:latin typeface="Calibri"/>
                <a:ea typeface="Calibri"/>
                <a:cs typeface="Calibri"/>
              </a:rPr>
              <a:t>Documentation policy: every paper has a DOI or publisher link; secrets stay outside source control; planned features remain clearly separated from implemented work.</a:t>
            </a:r>
          </a:p>
        </p:txBody>
      </p:sp>
    </p:spTree>
    <p:extLst>
      <p:ext uri="{BB962C8B-B14F-4D97-AF65-F5344CB8AC3E}">
        <p14:creationId xmlns:p14="http://schemas.microsoft.com/office/powerpoint/2010/main" val="164165007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B2CCC6F-30A3-4AB4-ADA5-07A18D27BCBA}"/>
              </a:ext>
            </a:extLst>
          </p:cNvPr>
          <p:cNvSpPr>
            <a:spLocks xmlns:a="http://schemas.openxmlformats.org/drawingml/2006/main" noGrp="1"/>
          </p:cNvSpPr>
          <p:nvPr>
            <p:ph type="title" idx="0"/>
          </p:nvPr>
        </p:nvSpPr>
        <p:spPr>
          <a:xfrm xmlns:a="http://schemas.openxmlformats.org/drawingml/2006/main">
            <a:off x="2667000" y="419100"/>
            <a:ext cx="3810000" cy="438150"/>
          </a:xfrm>
        </p:spPr>
        <p:txBody>
          <a:bodyPr xmlns:a="http://schemas.openxmlformats.org/drawingml/2006/main">
            <a:normAutofit fontScale="100000"/>
          </a:bodyPr>
          <a:lstStyle xmlns:a="http://schemas.openxmlformats.org/drawingml/2006/main"/>
          <a:p xmlns:a="http://schemas.openxmlformats.org/drawingml/2006/main">
            <a:pPr algn="ctr">
              <a:buNone/>
              <a:defRPr sz="2250" b="1">
                <a:solidFill>
                  <a:srgbClr val="FFFFFF"/>
                </a:solidFill>
                <a:latin typeface="Times New Roman"/>
                <a:ea typeface="Times New Roman"/>
                <a:cs typeface="Times New Roman"/>
              </a:defRPr>
            </a:pPr>
            <a:r>
              <a:rPr sz="2250" b="1">
                <a:solidFill>
                  <a:srgbClr val="FFFFFF"/>
                </a:solidFill>
                <a:latin typeface="Times New Roman"/>
                <a:ea typeface="Times New Roman"/>
                <a:cs typeface="Times New Roman"/>
              </a:rPr>
              <a:t>Publication Details</a:t>
            </a:r>
            <a:endParaRPr sz="4000" b="1">
              <a:solidFill>
                <a:schemeClr val="bg1"/>
              </a:solidFill>
            </a:endParaRPr>
          </a:p>
        </p:txBody>
      </p:sp>
      <p:sp>
        <p:nvSpPr>
          <p:cNvPr id="3" name="">
            <a:extLst xmlns:a="http://schemas.openxmlformats.org/drawingml/2006/main">
              <a:ext uri="{FF2B5EF4-FFF2-40B4-BE49-F238E27FC236}">
                <a16:creationId xmlns:a16="http://schemas.microsoft.com/office/drawing/2014/main" id="{2EF39AAF-89DE-4464-9AED-3E6048BCAFC1}"/>
              </a:ext>
            </a:extLst>
          </p:cNvPr>
          <p:cNvSpPr>
            <a:spLocks xmlns:a="http://schemas.openxmlformats.org/drawingml/2006/main" noGrp="1"/>
          </p:cNvSpPr>
          <p:nvPr/>
        </p:nvSpPr>
        <p:spPr>
          <a:xfrm xmlns:a="http://schemas.openxmlformats.org/drawingml/2006/main">
            <a:off x="666750" y="1276350"/>
            <a:ext cx="7810500" cy="933450"/>
          </a:xfrm>
          <a:prstGeom xmlns:a="http://schemas.openxmlformats.org/drawingml/2006/main" prst="roundRect">
            <a:avLst>
              <a:gd name="adj" fmla="val 8163"/>
            </a:avLst>
          </a:prstGeom>
          <a:solidFill xmlns:a="http://schemas.openxmlformats.org/drawingml/2006/main">
            <a:srgbClr val="EEF6EB"/>
          </a:solidFill>
          <a:ln xmlns:a="http://schemas.openxmlformats.org/drawingml/2006/main" w="10478">
            <a:solidFill>
              <a:srgbClr val="3F922F"/>
            </a:solidFill>
            <a:prstDash val="solid"/>
          </a:ln>
        </p:spPr>
      </p:sp>
      <p:sp>
        <p:nvSpPr>
          <p:cNvPr id="4" name="">
            <a:extLst xmlns:a="http://schemas.openxmlformats.org/drawingml/2006/main">
              <a:ext uri="{FF2B5EF4-FFF2-40B4-BE49-F238E27FC236}">
                <a16:creationId xmlns:a16="http://schemas.microsoft.com/office/drawing/2014/main" id="{843554B8-8FB3-448A-98A4-A58E1C322B87}"/>
              </a:ext>
            </a:extLst>
          </p:cNvPr>
          <p:cNvSpPr>
            <a:spLocks xmlns:a="http://schemas.openxmlformats.org/drawingml/2006/main" noGrp="1"/>
          </p:cNvSpPr>
          <p:nvPr/>
        </p:nvSpPr>
        <p:spPr>
          <a:xfrm xmlns:a="http://schemas.openxmlformats.org/drawingml/2006/main">
            <a:off x="914400" y="14287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3F922F"/>
                </a:solidFill>
                <a:latin typeface="Calibri"/>
                <a:ea typeface="Calibri"/>
                <a:cs typeface="Calibri"/>
              </a:defRPr>
            </a:pPr>
            <a:r>
              <a:rPr sz="1200" b="1">
                <a:solidFill>
                  <a:srgbClr val="3F922F"/>
                </a:solidFill>
                <a:latin typeface="Calibri"/>
                <a:ea typeface="Calibri"/>
                <a:cs typeface="Calibri"/>
              </a:rPr>
              <a:t>Proposed manuscript</a:t>
            </a:r>
          </a:p>
        </p:txBody>
      </p:sp>
      <p:sp>
        <p:nvSpPr>
          <p:cNvPr id="5" name="">
            <a:extLst xmlns:a="http://schemas.openxmlformats.org/drawingml/2006/main">
              <a:ext uri="{FF2B5EF4-FFF2-40B4-BE49-F238E27FC236}">
                <a16:creationId xmlns:a16="http://schemas.microsoft.com/office/drawing/2014/main" id="{A13A9485-F43E-4455-BE92-FC91D2F29135}"/>
              </a:ext>
            </a:extLst>
          </p:cNvPr>
          <p:cNvSpPr>
            <a:spLocks xmlns:a="http://schemas.openxmlformats.org/drawingml/2006/main" noGrp="1"/>
          </p:cNvSpPr>
          <p:nvPr/>
        </p:nvSpPr>
        <p:spPr>
          <a:xfrm xmlns:a="http://schemas.openxmlformats.org/drawingml/2006/main">
            <a:off x="914400" y="1714500"/>
            <a:ext cx="731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2707"/>
          </a:bodyPr>
          <a:lstStyle xmlns:a="http://schemas.openxmlformats.org/drawingml/2006/main"/>
          <a:p xmlns:a="http://schemas.openxmlformats.org/drawingml/2006/main">
            <a:pPr algn="ctr">
              <a:buNone/>
              <a:defRPr sz="1500" b="1">
                <a:solidFill>
                  <a:srgbClr val="17451C"/>
                </a:solidFill>
                <a:latin typeface="Calibri"/>
                <a:ea typeface="Calibri"/>
                <a:cs typeface="Calibri"/>
              </a:defRPr>
            </a:pPr>
            <a:r>
              <a:rPr sz="1500" b="1">
                <a:solidFill>
                  <a:srgbClr val="17451C"/>
                </a:solidFill>
                <a:latin typeface="Calibri"/>
                <a:ea typeface="Calibri"/>
                <a:cs typeface="Calibri"/>
              </a:rPr>
              <a:t>“EKEEKRTA: A Secure Unified University Platform for Learning Management, Virtual Classrooms, Assessment, Analytics and ERP Interoperability”</a:t>
            </a:r>
          </a:p>
        </p:txBody>
      </p:sp>
      <p:sp>
        <p:nvSpPr>
          <p:cNvPr id="6" name="">
            <a:extLst xmlns:a="http://schemas.openxmlformats.org/drawingml/2006/main">
              <a:ext uri="{FF2B5EF4-FFF2-40B4-BE49-F238E27FC236}">
                <a16:creationId xmlns:a16="http://schemas.microsoft.com/office/drawing/2014/main" id="{23678FF5-81B7-4EB7-AE20-595FF7E2D38E}"/>
              </a:ext>
            </a:extLst>
          </p:cNvPr>
          <p:cNvSpPr>
            <a:spLocks xmlns:a="http://schemas.openxmlformats.org/drawingml/2006/main" noGrp="1"/>
          </p:cNvSpPr>
          <p:nvPr/>
        </p:nvSpPr>
        <p:spPr>
          <a:xfrm xmlns:a="http://schemas.openxmlformats.org/drawingml/2006/main">
            <a:off x="666750" y="2400300"/>
            <a:ext cx="3667125" cy="2781300"/>
          </a:xfrm>
          <a:prstGeom xmlns:a="http://schemas.openxmlformats.org/drawingml/2006/main" prst="roundRect">
            <a:avLst>
              <a:gd name="adj" fmla="val 2740"/>
            </a:avLst>
          </a:prstGeom>
          <a:solidFill xmlns:a="http://schemas.openxmlformats.org/drawingml/2006/main">
            <a:srgbClr val="F7FAF6"/>
          </a:solidFill>
          <a:ln xmlns:a="http://schemas.openxmlformats.org/drawingml/2006/main" w="10478">
            <a:solidFill>
              <a:srgbClr val="CFDDCB"/>
            </a:solidFill>
            <a:prstDash val="solid"/>
          </a:ln>
        </p:spPr>
      </p:sp>
      <p:sp>
        <p:nvSpPr>
          <p:cNvPr id="7" name="">
            <a:extLst xmlns:a="http://schemas.openxmlformats.org/drawingml/2006/main">
              <a:ext uri="{FF2B5EF4-FFF2-40B4-BE49-F238E27FC236}">
                <a16:creationId xmlns:a16="http://schemas.microsoft.com/office/drawing/2014/main" id="{9ECE9221-D970-4C90-AFB7-778073B94EF2}"/>
              </a:ext>
            </a:extLst>
          </p:cNvPr>
          <p:cNvSpPr>
            <a:spLocks xmlns:a="http://schemas.openxmlformats.org/drawingml/2006/main" noGrp="1"/>
          </p:cNvSpPr>
          <p:nvPr/>
        </p:nvSpPr>
        <p:spPr>
          <a:xfrm xmlns:a="http://schemas.openxmlformats.org/drawingml/2006/main">
            <a:off x="952500" y="2571750"/>
            <a:ext cx="3095625" cy="285750"/>
          </a:xfrm>
          <a:prstGeom xmlns:a="http://schemas.openxmlformats.org/drawingml/2006/main" prst="roundRect">
            <a:avLst>
              <a:gd name="adj" fmla="val 26667"/>
            </a:avLst>
          </a:prstGeom>
          <a:solidFill xmlns:a="http://schemas.openxmlformats.org/drawingml/2006/main">
            <a:srgbClr val="3F922F"/>
          </a:solidFill>
          <a:ln xmlns:a="http://schemas.openxmlformats.org/drawingml/2006/main" w="0">
            <a:solidFill>
              <a:srgbClr val="3F922F"/>
            </a:solidFill>
          </a:ln>
        </p:spPr>
        <p:txBody>
          <a:bodyPr xmlns:a="http://schemas.openxmlformats.org/drawingml/2006/main" anchor="ctr">
            <a:normAutofit fontScale="87298"/>
          </a:bodyPr>
          <a:lstStyle xmlns:a="http://schemas.openxmlformats.org/drawingml/2006/main"/>
          <a:p xmlns:a="http://schemas.openxmlformats.org/drawingml/2006/main">
            <a:pPr algn="ctr">
              <a:buNone/>
              <a:defRPr sz="1125" b="1">
                <a:solidFill>
                  <a:srgbClr val="FFFFFF"/>
                </a:solidFill>
                <a:latin typeface="Calibri"/>
                <a:ea typeface="Calibri"/>
                <a:cs typeface="Calibri"/>
              </a:defRPr>
            </a:pPr>
            <a:r>
              <a:rPr sz="1125" b="1">
                <a:solidFill>
                  <a:srgbClr val="FFFFFF"/>
                </a:solidFill>
                <a:latin typeface="Calibri"/>
                <a:ea typeface="Calibri"/>
                <a:cs typeface="Calibri"/>
              </a:rPr>
              <a:t>Current status</a:t>
            </a:r>
          </a:p>
        </p:txBody>
      </p:sp>
      <p:sp>
        <p:nvSpPr>
          <p:cNvPr id="8" name="">
            <a:extLst xmlns:a="http://schemas.openxmlformats.org/drawingml/2006/main">
              <a:ext uri="{FF2B5EF4-FFF2-40B4-BE49-F238E27FC236}">
                <a16:creationId xmlns:a16="http://schemas.microsoft.com/office/drawing/2014/main" id="{491EC364-2A16-4867-B01E-E5460F2D9199}"/>
              </a:ext>
            </a:extLst>
          </p:cNvPr>
          <p:cNvSpPr>
            <a:spLocks xmlns:a="http://schemas.openxmlformats.org/drawingml/2006/main" noGrp="1"/>
          </p:cNvSpPr>
          <p:nvPr/>
        </p:nvSpPr>
        <p:spPr>
          <a:xfrm xmlns:a="http://schemas.openxmlformats.org/drawingml/2006/main">
            <a:off x="1009650" y="3124200"/>
            <a:ext cx="29718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Structured literature survey completed</a:t>
            </a:r>
          </a:p>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Research gap and architecture defined</a:t>
            </a:r>
          </a:p>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Functional prototype and automated evidence available</a:t>
            </a:r>
          </a:p>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No publication, acceptance or measured learning gain is claimed</a:t>
            </a:r>
          </a:p>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Manuscript remains in preparation</a:t>
            </a:r>
          </a:p>
        </p:txBody>
      </p:sp>
      <p:sp>
        <p:nvSpPr>
          <p:cNvPr id="9" name="">
            <a:extLst xmlns:a="http://schemas.openxmlformats.org/drawingml/2006/main">
              <a:ext uri="{FF2B5EF4-FFF2-40B4-BE49-F238E27FC236}">
                <a16:creationId xmlns:a16="http://schemas.microsoft.com/office/drawing/2014/main" id="{7DD555D3-B7C0-43BD-9E61-452A6D7DEB7B}"/>
              </a:ext>
            </a:extLst>
          </p:cNvPr>
          <p:cNvSpPr>
            <a:spLocks xmlns:a="http://schemas.openxmlformats.org/drawingml/2006/main" noGrp="1"/>
          </p:cNvSpPr>
          <p:nvPr/>
        </p:nvSpPr>
        <p:spPr>
          <a:xfrm xmlns:a="http://schemas.openxmlformats.org/drawingml/2006/main">
            <a:off x="4810125" y="2400300"/>
            <a:ext cx="3667125" cy="2781300"/>
          </a:xfrm>
          <a:prstGeom xmlns:a="http://schemas.openxmlformats.org/drawingml/2006/main" prst="roundRect">
            <a:avLst>
              <a:gd name="adj" fmla="val 2740"/>
            </a:avLst>
          </a:prstGeom>
          <a:solidFill xmlns:a="http://schemas.openxmlformats.org/drawingml/2006/main">
            <a:srgbClr val="F2F6FA"/>
          </a:solidFill>
          <a:ln xmlns:a="http://schemas.openxmlformats.org/drawingml/2006/main" w="10478">
            <a:solidFill>
              <a:srgbClr val="9CB9D0"/>
            </a:solidFill>
            <a:prstDash val="solid"/>
          </a:ln>
        </p:spPr>
      </p:sp>
      <p:sp>
        <p:nvSpPr>
          <p:cNvPr id="10" name="">
            <a:extLst xmlns:a="http://schemas.openxmlformats.org/drawingml/2006/main">
              <a:ext uri="{FF2B5EF4-FFF2-40B4-BE49-F238E27FC236}">
                <a16:creationId xmlns:a16="http://schemas.microsoft.com/office/drawing/2014/main" id="{EB628B88-D948-4966-B0AF-57EEBDF46348}"/>
              </a:ext>
            </a:extLst>
          </p:cNvPr>
          <p:cNvSpPr>
            <a:spLocks xmlns:a="http://schemas.openxmlformats.org/drawingml/2006/main" noGrp="1"/>
          </p:cNvSpPr>
          <p:nvPr/>
        </p:nvSpPr>
        <p:spPr>
          <a:xfrm xmlns:a="http://schemas.openxmlformats.org/drawingml/2006/main">
            <a:off x="5095875" y="2571750"/>
            <a:ext cx="3095625" cy="285750"/>
          </a:xfrm>
          <a:prstGeom xmlns:a="http://schemas.openxmlformats.org/drawingml/2006/main" prst="roundRect">
            <a:avLst>
              <a:gd name="adj" fmla="val 26667"/>
            </a:avLst>
          </a:prstGeom>
          <a:solidFill xmlns:a="http://schemas.openxmlformats.org/drawingml/2006/main">
            <a:srgbClr val="24649A"/>
          </a:solidFill>
          <a:ln xmlns:a="http://schemas.openxmlformats.org/drawingml/2006/main" w="0">
            <a:solidFill>
              <a:srgbClr val="24649A"/>
            </a:solidFill>
          </a:ln>
        </p:spPr>
        <p:txBody>
          <a:bodyPr xmlns:a="http://schemas.openxmlformats.org/drawingml/2006/main" anchor="ctr">
            <a:normAutofit fontScale="87298"/>
          </a:bodyPr>
          <a:lstStyle xmlns:a="http://schemas.openxmlformats.org/drawingml/2006/main"/>
          <a:p xmlns:a="http://schemas.openxmlformats.org/drawingml/2006/main">
            <a:pPr algn="ctr">
              <a:buNone/>
              <a:defRPr sz="1125" b="1">
                <a:solidFill>
                  <a:srgbClr val="FFFFFF"/>
                </a:solidFill>
                <a:latin typeface="Calibri"/>
                <a:ea typeface="Calibri"/>
                <a:cs typeface="Calibri"/>
              </a:defRPr>
            </a:pPr>
            <a:r>
              <a:rPr sz="1125" b="1">
                <a:solidFill>
                  <a:srgbClr val="FFFFFF"/>
                </a:solidFill>
                <a:latin typeface="Calibri"/>
                <a:ea typeface="Calibri"/>
                <a:cs typeface="Calibri"/>
              </a:rPr>
              <a:t>Evidence required before submission</a:t>
            </a:r>
          </a:p>
        </p:txBody>
      </p:sp>
      <p:sp>
        <p:nvSpPr>
          <p:cNvPr id="11" name="">
            <a:extLst xmlns:a="http://schemas.openxmlformats.org/drawingml/2006/main">
              <a:ext uri="{FF2B5EF4-FFF2-40B4-BE49-F238E27FC236}">
                <a16:creationId xmlns:a16="http://schemas.microsoft.com/office/drawing/2014/main" id="{0E6E8324-8371-4A37-871E-712F716DF96F}"/>
              </a:ext>
            </a:extLst>
          </p:cNvPr>
          <p:cNvSpPr>
            <a:spLocks xmlns:a="http://schemas.openxmlformats.org/drawingml/2006/main" noGrp="1"/>
          </p:cNvSpPr>
          <p:nvPr/>
        </p:nvSpPr>
        <p:spPr>
          <a:xfrm xmlns:a="http://schemas.openxmlformats.org/drawingml/2006/main">
            <a:off x="5153025" y="3124200"/>
            <a:ext cx="29718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916"/>
          </a:bodyPr>
          <a:lstStyle xmlns:a="http://schemas.openxmlformats.org/drawingml/2006/main"/>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Admin/HOD/faculty/student task and usability study</a:t>
            </a:r>
          </a:p>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Institution and role-isolation security evaluation</a:t>
            </a:r>
          </a:p>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Course-workspace and assessment completion analysis</a:t>
            </a:r>
          </a:p>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Attendance-only versus multi-evidence comparison</a:t>
            </a:r>
          </a:p>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ERP reconciliation and reliability study</a:t>
            </a:r>
          </a:p>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AI, gamification and staged classroom-capacity evaluations</a:t>
            </a:r>
          </a:p>
        </p:txBody>
      </p:sp>
      <p:sp>
        <p:nvSpPr>
          <p:cNvPr id="12" name="">
            <a:extLst xmlns:a="http://schemas.openxmlformats.org/drawingml/2006/main">
              <a:ext uri="{FF2B5EF4-FFF2-40B4-BE49-F238E27FC236}">
                <a16:creationId xmlns:a16="http://schemas.microsoft.com/office/drawing/2014/main" id="{127ED56D-CFFB-488D-AD0C-6ECB5573C32D}"/>
              </a:ext>
            </a:extLst>
          </p:cNvPr>
          <p:cNvSpPr>
            <a:spLocks xmlns:a="http://schemas.openxmlformats.org/drawingml/2006/main" noGrp="1"/>
          </p:cNvSpPr>
          <p:nvPr/>
        </p:nvSpPr>
        <p:spPr>
          <a:xfrm xmlns:a="http://schemas.openxmlformats.org/drawingml/2006/main">
            <a:off x="933450" y="5581650"/>
            <a:ext cx="7277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ctr">
              <a:buNone/>
              <a:defRPr sz="1200" b="1">
                <a:solidFill>
                  <a:srgbClr val="A6362C"/>
                </a:solidFill>
                <a:latin typeface="Calibri"/>
                <a:ea typeface="Calibri"/>
                <a:cs typeface="Calibri"/>
              </a:defRPr>
            </a:pPr>
            <a:r>
              <a:rPr sz="1200" b="1">
                <a:solidFill>
                  <a:srgbClr val="A6362C"/>
                </a:solidFill>
                <a:latin typeface="Calibri"/>
                <a:ea typeface="Calibri"/>
                <a:cs typeface="Calibri"/>
              </a:rPr>
              <a:t>Publication principle: report measured outcomes only after consent, anonymization, institutional approval and reproducible evaluation.</a:t>
            </a:r>
          </a:p>
        </p:txBody>
      </p:sp>
    </p:spTree>
    <p:extLst>
      <p:ext uri="{BB962C8B-B14F-4D97-AF65-F5344CB8AC3E}">
        <p14:creationId xmlns:p14="http://schemas.microsoft.com/office/powerpoint/2010/main" val="40825220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4D1DA2D-A7D1-42B0-A7E6-17F120A27CA8}"/>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pPr algn="ctr">
              <a:buNone/>
              <a:defRPr sz="2250" b="1">
                <a:solidFill>
                  <a:srgbClr val="FFFFFF"/>
                </a:solidFill>
                <a:latin typeface="Times New Roman"/>
                <a:ea typeface="Times New Roman"/>
                <a:cs typeface="Times New Roman"/>
              </a:defRPr>
            </a:pPr>
            <a:r>
              <a:rPr sz="2250" b="1">
                <a:solidFill>
                  <a:srgbClr val="FFFFFF"/>
                </a:solidFill>
                <a:latin typeface="Times New Roman"/>
                <a:ea typeface="Times New Roman"/>
                <a:cs typeface="Times New Roman"/>
              </a:rPr>
              <a:t>Base Paper &amp; Research Library</a:t>
            </a:r>
            <a:endParaRPr sz="4000" b="1">
              <a:solidFill>
                <a:schemeClr val="bg1"/>
              </a:solidFill>
            </a:endParaRPr>
          </a:p>
        </p:txBody>
      </p:sp>
      <p:sp>
        <p:nvSpPr>
          <p:cNvPr id="3" name="">
            <a:extLst xmlns:a="http://schemas.openxmlformats.org/drawingml/2006/main">
              <a:ext uri="{FF2B5EF4-FFF2-40B4-BE49-F238E27FC236}">
                <a16:creationId xmlns:a16="http://schemas.microsoft.com/office/drawing/2014/main" id="{57CCA968-DEE5-47D8-A43B-FFEE12D3257B}"/>
              </a:ext>
            </a:extLst>
          </p:cNvPr>
          <p:cNvSpPr>
            <a:spLocks xmlns:a="http://schemas.openxmlformats.org/drawingml/2006/main" noGrp="1"/>
          </p:cNvSpPr>
          <p:nvPr/>
        </p:nvSpPr>
        <p:spPr>
          <a:xfrm xmlns:a="http://schemas.openxmlformats.org/drawingml/2006/main">
            <a:off x="666750" y="1428750"/>
            <a:ext cx="7810500" cy="1524000"/>
          </a:xfrm>
          <a:prstGeom xmlns:a="http://schemas.openxmlformats.org/drawingml/2006/main" prst="roundRect">
            <a:avLst>
              <a:gd name="adj" fmla="val 5000"/>
            </a:avLst>
          </a:prstGeom>
          <a:solidFill xmlns:a="http://schemas.openxmlformats.org/drawingml/2006/main">
            <a:srgbClr val="EEF6EB"/>
          </a:solidFill>
          <a:ln xmlns:a="http://schemas.openxmlformats.org/drawingml/2006/main" w="10478">
            <a:solidFill>
              <a:srgbClr val="3F922F"/>
            </a:solidFill>
            <a:prstDash val="solid"/>
          </a:ln>
        </p:spPr>
      </p:sp>
      <p:sp>
        <p:nvSpPr>
          <p:cNvPr id="4" name="">
            <a:extLst xmlns:a="http://schemas.openxmlformats.org/drawingml/2006/main">
              <a:ext uri="{FF2B5EF4-FFF2-40B4-BE49-F238E27FC236}">
                <a16:creationId xmlns:a16="http://schemas.microsoft.com/office/drawing/2014/main" id="{CE2C56A1-BC97-4542-A554-292DB6BD9760}"/>
              </a:ext>
            </a:extLst>
          </p:cNvPr>
          <p:cNvSpPr>
            <a:spLocks xmlns:a="http://schemas.openxmlformats.org/drawingml/2006/main" noGrp="1"/>
          </p:cNvSpPr>
          <p:nvPr/>
        </p:nvSpPr>
        <p:spPr>
          <a:xfrm xmlns:a="http://schemas.openxmlformats.org/drawingml/2006/main">
            <a:off x="1000125" y="1657350"/>
            <a:ext cx="714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246"/>
          </a:bodyPr>
          <a:lstStyle xmlns:a="http://schemas.openxmlformats.org/drawingml/2006/main"/>
          <a:p xmlns:a="http://schemas.openxmlformats.org/drawingml/2006/main">
            <a:pPr algn="ctr">
              <a:buNone/>
              <a:defRPr sz="1425" b="1">
                <a:solidFill>
                  <a:srgbClr val="17451C"/>
                </a:solidFill>
                <a:latin typeface="Calibri"/>
                <a:ea typeface="Calibri"/>
                <a:cs typeface="Calibri"/>
              </a:defRPr>
            </a:pPr>
            <a:r>
              <a:rPr sz="1425" b="1">
                <a:solidFill>
                  <a:srgbClr val="17451C"/>
                </a:solidFill>
                <a:latin typeface="Calibri"/>
                <a:ea typeface="Calibri"/>
                <a:cs typeface="Calibri"/>
              </a:rPr>
              <a:t>Primary base paper: Al-Fraihat et al. (2020)</a:t>
            </a:r>
          </a:p>
        </p:txBody>
      </p:sp>
      <p:sp>
        <p:nvSpPr>
          <p:cNvPr id="5" name="">
            <a:extLst xmlns:a="http://schemas.openxmlformats.org/drawingml/2006/main">
              <a:ext uri="{FF2B5EF4-FFF2-40B4-BE49-F238E27FC236}">
                <a16:creationId xmlns:a16="http://schemas.microsoft.com/office/drawing/2014/main" id="{33C7D799-6BE8-4245-8AEA-F13DD4879E17}"/>
              </a:ext>
            </a:extLst>
          </p:cNvPr>
          <p:cNvSpPr>
            <a:spLocks xmlns:a="http://schemas.openxmlformats.org/drawingml/2006/main" noGrp="1"/>
          </p:cNvSpPr>
          <p:nvPr/>
        </p:nvSpPr>
        <p:spPr>
          <a:xfrm xmlns:a="http://schemas.openxmlformats.org/drawingml/2006/main">
            <a:off x="1000125" y="2057400"/>
            <a:ext cx="714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1">
                <a:solidFill>
                  <a:srgbClr val="17311B"/>
                </a:solidFill>
                <a:latin typeface="Calibri"/>
                <a:ea typeface="Calibri"/>
                <a:cs typeface="Calibri"/>
              </a:defRPr>
            </a:pPr>
            <a:r>
              <a:rPr sz="1500" b="1">
                <a:solidFill>
                  <a:srgbClr val="17311B"/>
                </a:solidFill>
                <a:latin typeface="Calibri"/>
                <a:ea typeface="Calibri"/>
                <a:cs typeface="Calibri"/>
              </a:rPr>
              <a:t>Evaluating e-learning systems success: an empirical study</a:t>
            </a:r>
          </a:p>
        </p:txBody>
      </p:sp>
      <p:sp>
        <p:nvSpPr>
          <p:cNvPr id="6" name="">
            <a:extLst xmlns:a="http://schemas.openxmlformats.org/drawingml/2006/main">
              <a:ext uri="{FF2B5EF4-FFF2-40B4-BE49-F238E27FC236}">
                <a16:creationId xmlns:a16="http://schemas.microsoft.com/office/drawing/2014/main" id="{89052BB1-D962-4E6D-AD1C-36B3CA8D4802}"/>
              </a:ext>
            </a:extLst>
          </p:cNvPr>
          <p:cNvSpPr>
            <a:spLocks xmlns:a="http://schemas.openxmlformats.org/drawingml/2006/main" noGrp="1"/>
          </p:cNvSpPr>
          <p:nvPr/>
        </p:nvSpPr>
        <p:spPr>
          <a:xfrm xmlns:a="http://schemas.openxmlformats.org/drawingml/2006/main">
            <a:off x="1123950" y="3257550"/>
            <a:ext cx="6896100" cy="800100"/>
          </a:xfrm>
          <a:prstGeom xmlns:a="http://schemas.openxmlformats.org/drawingml/2006/main" prst="roundRect">
            <a:avLst>
              <a:gd name="adj" fmla="val 9524"/>
            </a:avLst>
          </a:prstGeom>
          <a:solidFill xmlns:a="http://schemas.openxmlformats.org/drawingml/2006/main">
            <a:srgbClr val="E8F1F7"/>
          </a:solidFill>
          <a:ln xmlns:a="http://schemas.openxmlformats.org/drawingml/2006/main" w="10478">
            <a:solidFill>
              <a:srgbClr val="78A6C5"/>
            </a:solidFill>
            <a:prstDash val="solid"/>
          </a:ln>
        </p:spPr>
      </p:sp>
      <p:sp>
        <p:nvSpPr>
          <p:cNvPr id="7" name="">
            <a:extLst xmlns:a="http://schemas.openxmlformats.org/drawingml/2006/main">
              <a:ext uri="{FF2B5EF4-FFF2-40B4-BE49-F238E27FC236}">
                <a16:creationId xmlns:a16="http://schemas.microsoft.com/office/drawing/2014/main" id="{0DF385B0-D3E9-4D1A-8E2C-00FAB5E52D86}"/>
              </a:ext>
            </a:extLst>
          </p:cNvPr>
          <p:cNvSpPr>
            <a:spLocks xmlns:a="http://schemas.openxmlformats.org/drawingml/2006/main" noGrp="1"/>
          </p:cNvSpPr>
          <p:nvPr/>
        </p:nvSpPr>
        <p:spPr>
          <a:xfrm xmlns:a="http://schemas.openxmlformats.org/drawingml/2006/main">
            <a:off x="1333500" y="346710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1">
                <a:solidFill>
                  <a:srgbClr val="24649A"/>
                </a:solidFill>
                <a:latin typeface="Calibri"/>
                <a:ea typeface="Calibri"/>
                <a:cs typeface="Calibri"/>
              </a:defRPr>
            </a:pPr>
            <a:r>
              <a:rPr sz="1575" b="1">
                <a:solidFill>
                  <a:srgbClr val="24649A"/>
                </a:solidFill>
                <a:latin typeface="Calibri"/>
                <a:ea typeface="Calibri"/>
                <a:cs typeface="Calibri"/>
              </a:rPr>
              <a:t>https://doi.org/10.1016/j.chb.2019.08.004</a:t>
            </a:r>
          </a:p>
        </p:txBody>
      </p:sp>
      <p:sp>
        <p:nvSpPr>
          <p:cNvPr id="8" name="">
            <a:extLst xmlns:a="http://schemas.openxmlformats.org/drawingml/2006/main">
              <a:ext uri="{FF2B5EF4-FFF2-40B4-BE49-F238E27FC236}">
                <a16:creationId xmlns:a16="http://schemas.microsoft.com/office/drawing/2014/main" id="{C27E21A1-8018-4B04-8963-66580812CE9E}"/>
              </a:ext>
            </a:extLst>
          </p:cNvPr>
          <p:cNvSpPr>
            <a:spLocks xmlns:a="http://schemas.openxmlformats.org/drawingml/2006/main" noGrp="1"/>
          </p:cNvSpPr>
          <p:nvPr/>
        </p:nvSpPr>
        <p:spPr>
          <a:xfrm xmlns:a="http://schemas.openxmlformats.org/drawingml/2006/main">
            <a:off x="1428750" y="4476750"/>
            <a:ext cx="6286500" cy="1104900"/>
          </a:xfrm>
          <a:prstGeom xmlns:a="http://schemas.openxmlformats.org/drawingml/2006/main" prst="roundRect">
            <a:avLst>
              <a:gd name="adj" fmla="val 6897"/>
            </a:avLst>
          </a:prstGeom>
          <a:solidFill xmlns:a="http://schemas.openxmlformats.org/drawingml/2006/main">
            <a:srgbClr val="F7FAF6"/>
          </a:solidFill>
          <a:ln xmlns:a="http://schemas.openxmlformats.org/drawingml/2006/main" w="10478">
            <a:solidFill>
              <a:srgbClr val="CFDDCB"/>
            </a:solidFill>
            <a:prstDash val="solid"/>
          </a:ln>
        </p:spPr>
      </p:sp>
      <p:sp>
        <p:nvSpPr>
          <p:cNvPr id="9" name="">
            <a:extLst xmlns:a="http://schemas.openxmlformats.org/drawingml/2006/main">
              <a:ext uri="{FF2B5EF4-FFF2-40B4-BE49-F238E27FC236}">
                <a16:creationId xmlns:a16="http://schemas.microsoft.com/office/drawing/2014/main" id="{C033D520-BE3B-4FFE-99F8-77B480F6AFAA}"/>
              </a:ext>
            </a:extLst>
          </p:cNvPr>
          <p:cNvSpPr>
            <a:spLocks xmlns:a="http://schemas.openxmlformats.org/drawingml/2006/main" noGrp="1"/>
          </p:cNvSpPr>
          <p:nvPr/>
        </p:nvSpPr>
        <p:spPr>
          <a:xfrm xmlns:a="http://schemas.openxmlformats.org/drawingml/2006/main">
            <a:off x="1695450" y="4686300"/>
            <a:ext cx="5753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250"/>
          </a:bodyPr>
          <a:lstStyle xmlns:a="http://schemas.openxmlformats.org/drawingml/2006/main"/>
          <a:p xmlns:a="http://schemas.openxmlformats.org/drawingml/2006/main">
            <a:pPr algn="ctr">
              <a:buNone/>
              <a:defRPr sz="1275" b="1">
                <a:solidFill>
                  <a:srgbClr val="17451C"/>
                </a:solidFill>
                <a:latin typeface="Calibri"/>
                <a:ea typeface="Calibri"/>
                <a:cs typeface="Calibri"/>
              </a:defRPr>
            </a:pPr>
            <a:r>
              <a:rPr sz="1275" b="1">
                <a:solidFill>
                  <a:srgbClr val="17451C"/>
                </a:solidFill>
                <a:latin typeface="Calibri"/>
                <a:ea typeface="Calibri"/>
                <a:cs typeface="Calibri"/>
              </a:rPr>
              <a:t>Supporting evidence library</a:t>
            </a:r>
          </a:p>
          <a:p xmlns:a="http://schemas.openxmlformats.org/drawingml/2006/main">
            <a:pPr algn="ctr">
              <a:buNone/>
              <a:defRPr sz="1275" b="1">
                <a:solidFill>
                  <a:srgbClr val="17451C"/>
                </a:solidFill>
                <a:latin typeface="Calibri"/>
                <a:ea typeface="Calibri"/>
                <a:cs typeface="Calibri"/>
              </a:defRPr>
            </a:pPr>
            <a:r>
              <a:rPr sz="1275" b="1">
                <a:solidFill>
                  <a:srgbClr val="17451C"/>
                </a:solidFill>
                <a:latin typeface="Calibri"/>
                <a:ea typeface="Calibri"/>
                <a:cs typeface="Calibri"/>
              </a:rPr>
              <a:t>RBAC, programming feedback, synchronous learning, attendance, learning resources, dashboards, ERP, AI, gamification and advanced assessment are mapped to Ekeekrta features in the companion survey.</a:t>
            </a:r>
          </a:p>
        </p:txBody>
      </p:sp>
    </p:spTree>
    <p:extLst>
      <p:ext uri="{BB962C8B-B14F-4D97-AF65-F5344CB8AC3E}">
        <p14:creationId xmlns:p14="http://schemas.microsoft.com/office/powerpoint/2010/main" val="84875406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1" name="TextBox 10">
            <a:extLst xmlns:a="http://schemas.openxmlformats.org/drawingml/2006/main">
              <a:ext uri="{FF2B5EF4-FFF2-40B4-BE49-F238E27FC236}">
                <a16:creationId xmlns:a16="http://schemas.microsoft.com/office/drawing/2014/main" id="{F63A5CAE-5CCB-46ED-9C59-B0D23DB75930}"/>
              </a:ext>
            </a:extLst>
          </p:cNvPr>
          <p:cNvSpPr>
            <a:spLocks xmlns:a="http://schemas.openxmlformats.org/drawingml/2006/main" noGrp="1"/>
          </p:cNvSpPr>
          <p:nvPr/>
        </p:nvSpPr>
        <p:spPr>
          <a:xfrm xmlns:a="http://schemas.openxmlformats.org/drawingml/2006/main">
            <a:off x="827584" y="2937743"/>
            <a:ext cx="7376002" cy="112014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algn="ctr">
              <a:lnSpc>
                <a:spcPct val="150000"/>
              </a:lnSpc>
              <a:buNone/>
              <a:defRPr sz="2250" b="1">
                <a:solidFill>
                  <a:srgbClr val="FFFFFF"/>
                </a:solidFill>
                <a:latin typeface="Calibri"/>
                <a:ea typeface="Calibri"/>
                <a:cs typeface="Calibri"/>
              </a:defRPr>
            </a:pPr>
            <a:r>
              <a:rPr sz="2250" b="1">
                <a:solidFill>
                  <a:srgbClr val="FFFFFF"/>
                </a:solidFill>
                <a:latin typeface="Calibri"/>
                <a:ea typeface="Calibri"/>
                <a:cs typeface="Calibri"/>
              </a:rPr>
              <a:t>THANK YOU!</a:t>
            </a:r>
            <a:endParaRPr sz="6000" b="1"/>
          </a:p>
          <a:p xmlns:a="http://schemas.openxmlformats.org/drawingml/2006/main">
            <a:pPr algn="ctr">
              <a:lnSpc>
                <a:spcPct val="150000"/>
              </a:lnSpc>
              <a:buNone/>
              <a:defRPr sz="2250" b="1">
                <a:solidFill>
                  <a:srgbClr val="FFFFFF"/>
                </a:solidFill>
                <a:latin typeface="Calibri"/>
                <a:ea typeface="Calibri"/>
                <a:cs typeface="Calibri"/>
              </a:defRPr>
            </a:pPr>
            <a:r>
              <a:rPr sz="2250" b="1">
                <a:solidFill>
                  <a:srgbClr val="FFFFFF"/>
                </a:solidFill>
                <a:latin typeface="Calibri"/>
                <a:ea typeface="Calibri"/>
                <a:cs typeface="Calibri"/>
              </a:rPr>
              <a:t>Questions &amp; Discussion</a:t>
            </a:r>
            <a:endParaRPr sz="6000" b="1"/>
          </a:p>
        </p:txBody>
      </p:sp>
      <p:pic>
        <p:nvPicPr>
          <p:cNvPr id="14" name="Picture 1"/>
          <p:cNvPicPr>
            <a:picLocks xmlns:a="http://schemas.openxmlformats.org/drawingml/2006/main" noChangeAspect="1"/>
          </p:cNvPicPr>
          <p:nvPr/>
        </p:nvPicPr>
        <p:blipFill>
          <a:blip xmlns:r="http://schemas.openxmlformats.org/officeDocument/2006/relationships" xmlns:a="http://schemas.openxmlformats.org/drawingml/2006/main" r:embed="Ra863847b1c6a49b5"/>
          <a:stretch xmlns:a="http://schemas.openxmlformats.org/drawingml/2006/main">
            <a:fillRect l="0" t="0" r="0" b="0"/>
          </a:stretch>
        </p:blipFill>
        <p:spPr>
          <a:xfrm xmlns:a="http://schemas.openxmlformats.org/drawingml/2006/main">
            <a:off x="0" y="44624"/>
            <a:ext cx="9144000" cy="6813376"/>
          </a:xfrm>
          <a:prstGeom xmlns:a="http://schemas.openxmlformats.org/drawingml/2006/main" prst="rect">
            <a:avLst/>
          </a:prstGeom>
        </p:spPr>
      </p:pic>
    </p:spTree>
    <p:extLst>
      <p:ext uri="{BB962C8B-B14F-4D97-AF65-F5344CB8AC3E}">
        <p14:creationId xmlns:p14="http://schemas.microsoft.com/office/powerpoint/2010/main" val="68301107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2026-09-25T11:34:23.7480000Z</dcterms:created>
  <dcterms:modified xsi:type="dcterms:W3CDTF">2026-09-25T11:34:23.7480000Z</dcterms:modified>
</coreProperties>
</file>